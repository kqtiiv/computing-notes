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6" r:id="rId1"/>
  </p:sldMasterIdLst>
  <p:notesMasterIdLst>
    <p:notesMasterId r:id="rId4"/>
  </p:notesMasterIdLst>
  <p:sldIdLst>
    <p:sldId id="263" r:id="rId2"/>
    <p:sldId id="264" r:id="rId3"/>
  </p:sldIdLst>
  <p:sldSz cx="50399950" cy="35121850"/>
  <p:notesSz cx="7104063" cy="10234613"/>
  <p:embeddedFontLst>
    <p:embeddedFont>
      <p:font typeface="Cambria Math" panose="02040503050406030204" pitchFamily="18" charset="0"/>
      <p:regular r:id="rId5"/>
    </p:embeddedFont>
    <p:embeddedFont>
      <p:font typeface="Cascadia Code" panose="020B0609020000020004" pitchFamily="49" charset="0"/>
      <p:regular r:id="rId6"/>
      <p:bold r:id="rId7"/>
      <p:italic r:id="rId8"/>
      <p:boldItalic r:id="rId9"/>
    </p:embeddedFont>
    <p:embeddedFont>
      <p:font typeface="Consolas" panose="020B0609020204030204" pitchFamily="49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" d="100"/>
          <a:sy n="17" d="100"/>
        </p:scale>
        <p:origin x="118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ie Wan" userId="ab00429ec93b9de3" providerId="LiveId" clId="{918A006B-DC25-4D35-88ED-F1CE02641482}"/>
    <pc:docChg chg="undo custSel modSld">
      <pc:chgData name="Katie Wan" userId="ab00429ec93b9de3" providerId="LiveId" clId="{918A006B-DC25-4D35-88ED-F1CE02641482}" dt="2026-05-08T10:20:46.228" v="47" actId="1076"/>
      <pc:docMkLst>
        <pc:docMk/>
      </pc:docMkLst>
      <pc:sldChg chg="addSp delSp modSp mod">
        <pc:chgData name="Katie Wan" userId="ab00429ec93b9de3" providerId="LiveId" clId="{918A006B-DC25-4D35-88ED-F1CE02641482}" dt="2026-05-08T10:20:46.228" v="47" actId="1076"/>
        <pc:sldMkLst>
          <pc:docMk/>
          <pc:sldMk cId="2480773015" sldId="264"/>
        </pc:sldMkLst>
        <pc:spChg chg="del mod">
          <ac:chgData name="Katie Wan" userId="ab00429ec93b9de3" providerId="LiveId" clId="{918A006B-DC25-4D35-88ED-F1CE02641482}" dt="2026-05-08T08:04:03.149" v="29" actId="478"/>
          <ac:spMkLst>
            <pc:docMk/>
            <pc:sldMk cId="2480773015" sldId="264"/>
            <ac:spMk id="31" creationId="{83C7D618-D190-9E11-6A07-B434F523C012}"/>
          </ac:spMkLst>
        </pc:spChg>
        <pc:grpChg chg="mod">
          <ac:chgData name="Katie Wan" userId="ab00429ec93b9de3" providerId="LiveId" clId="{918A006B-DC25-4D35-88ED-F1CE02641482}" dt="2026-05-08T07:59:15.507" v="3" actId="1076"/>
          <ac:grpSpMkLst>
            <pc:docMk/>
            <pc:sldMk cId="2480773015" sldId="264"/>
            <ac:grpSpMk id="4" creationId="{2DC6FAE8-4AD0-497D-0640-1AB94AE73217}"/>
          </ac:grpSpMkLst>
        </pc:grpChg>
        <pc:grpChg chg="mod">
          <ac:chgData name="Katie Wan" userId="ab00429ec93b9de3" providerId="LiveId" clId="{918A006B-DC25-4D35-88ED-F1CE02641482}" dt="2026-05-08T08:04:06.420" v="30" actId="1076"/>
          <ac:grpSpMkLst>
            <pc:docMk/>
            <pc:sldMk cId="2480773015" sldId="264"/>
            <ac:grpSpMk id="5" creationId="{4485B8AB-15D1-6E63-6860-5ED78072A439}"/>
          </ac:grpSpMkLst>
        </pc:grpChg>
        <pc:grpChg chg="mod">
          <ac:chgData name="Katie Wan" userId="ab00429ec93b9de3" providerId="LiveId" clId="{918A006B-DC25-4D35-88ED-F1CE02641482}" dt="2026-05-08T10:20:38.963" v="46" actId="1076"/>
          <ac:grpSpMkLst>
            <pc:docMk/>
            <pc:sldMk cId="2480773015" sldId="264"/>
            <ac:grpSpMk id="2242" creationId="{5DFAD79B-A64F-1F6F-763A-B8786CE000A7}"/>
          </ac:grpSpMkLst>
        </pc:grpChg>
        <pc:picChg chg="del mod">
          <ac:chgData name="Katie Wan" userId="ab00429ec93b9de3" providerId="LiveId" clId="{918A006B-DC25-4D35-88ED-F1CE02641482}" dt="2026-05-08T10:20:26.355" v="42" actId="478"/>
          <ac:picMkLst>
            <pc:docMk/>
            <pc:sldMk cId="2480773015" sldId="264"/>
            <ac:picMk id="20" creationId="{0F21EDA8-9F0B-5E64-2C2B-EED9A9EA3A86}"/>
          </ac:picMkLst>
        </pc:picChg>
        <pc:picChg chg="add mod">
          <ac:chgData name="Katie Wan" userId="ab00429ec93b9de3" providerId="LiveId" clId="{918A006B-DC25-4D35-88ED-F1CE02641482}" dt="2026-05-08T08:03:12.917" v="18" actId="1076"/>
          <ac:picMkLst>
            <pc:docMk/>
            <pc:sldMk cId="2480773015" sldId="264"/>
            <ac:picMk id="25" creationId="{7C82408C-FBC9-799E-189C-1321F7AAAA84}"/>
          </ac:picMkLst>
        </pc:picChg>
        <pc:picChg chg="add mod">
          <ac:chgData name="Katie Wan" userId="ab00429ec93b9de3" providerId="LiveId" clId="{918A006B-DC25-4D35-88ED-F1CE02641482}" dt="2026-05-08T10:09:27.893" v="37" actId="1076"/>
          <ac:picMkLst>
            <pc:docMk/>
            <pc:sldMk cId="2480773015" sldId="264"/>
            <ac:picMk id="32" creationId="{CA06D948-D7C9-3CDC-4795-5BD607296F3C}"/>
          </ac:picMkLst>
        </pc:picChg>
        <pc:picChg chg="add del mod">
          <ac:chgData name="Katie Wan" userId="ab00429ec93b9de3" providerId="LiveId" clId="{918A006B-DC25-4D35-88ED-F1CE02641482}" dt="2026-05-08T10:09:37.012" v="39" actId="478"/>
          <ac:picMkLst>
            <pc:docMk/>
            <pc:sldMk cId="2480773015" sldId="264"/>
            <ac:picMk id="34" creationId="{C6387592-D5D6-3D46-A634-7044A4FB33A0}"/>
          </ac:picMkLst>
        </pc:picChg>
        <pc:picChg chg="add mod">
          <ac:chgData name="Katie Wan" userId="ab00429ec93b9de3" providerId="LiveId" clId="{918A006B-DC25-4D35-88ED-F1CE02641482}" dt="2026-05-08T10:20:46.228" v="47" actId="1076"/>
          <ac:picMkLst>
            <pc:docMk/>
            <pc:sldMk cId="2480773015" sldId="264"/>
            <ac:picMk id="36" creationId="{7F349D71-B067-E1C7-0619-6138102DAD7C}"/>
          </ac:picMkLst>
        </pc:picChg>
      </pc:sldChg>
    </pc:docChg>
  </pc:docChgLst>
  <pc:docChgLst>
    <pc:chgData name="Otto Sukpraprut" userId="43a30a041c0d6e71" providerId="LiveId" clId="{41EDCB87-BDC5-48D4-86AD-ED2DE9103E32}"/>
    <pc:docChg chg="custSel modSld modNotesMaster">
      <pc:chgData name="Otto Sukpraprut" userId="43a30a041c0d6e71" providerId="LiveId" clId="{41EDCB87-BDC5-48D4-86AD-ED2DE9103E32}" dt="2026-05-08T11:00:32.119" v="386" actId="1076"/>
      <pc:docMkLst>
        <pc:docMk/>
      </pc:docMkLst>
      <pc:sldChg chg="addSp delSp modSp mod">
        <pc:chgData name="Otto Sukpraprut" userId="43a30a041c0d6e71" providerId="LiveId" clId="{41EDCB87-BDC5-48D4-86AD-ED2DE9103E32}" dt="2026-05-08T11:00:32.119" v="386" actId="1076"/>
        <pc:sldMkLst>
          <pc:docMk/>
          <pc:sldMk cId="2480773015" sldId="264"/>
        </pc:sldMkLst>
        <pc:spChg chg="add del mod">
          <ac:chgData name="Otto Sukpraprut" userId="43a30a041c0d6e71" providerId="LiveId" clId="{41EDCB87-BDC5-48D4-86AD-ED2DE9103E32}" dt="2026-05-07T22:48:27.068" v="70" actId="478"/>
          <ac:spMkLst>
            <pc:docMk/>
            <pc:sldMk cId="2480773015" sldId="264"/>
            <ac:spMk id="12" creationId="{8C4CDC6D-FE93-19D7-9501-77A5B1920645}"/>
          </ac:spMkLst>
        </pc:spChg>
        <pc:spChg chg="add mod">
          <ac:chgData name="Otto Sukpraprut" userId="43a30a041c0d6e71" providerId="LiveId" clId="{41EDCB87-BDC5-48D4-86AD-ED2DE9103E32}" dt="2026-05-07T22:58:56.917" v="367" actId="14100"/>
          <ac:spMkLst>
            <pc:docMk/>
            <pc:sldMk cId="2480773015" sldId="264"/>
            <ac:spMk id="23" creationId="{84EA032C-A3D8-F784-E10F-C0640E54B4B9}"/>
          </ac:spMkLst>
        </pc:spChg>
        <pc:picChg chg="add mod">
          <ac:chgData name="Otto Sukpraprut" userId="43a30a041c0d6e71" providerId="LiveId" clId="{41EDCB87-BDC5-48D4-86AD-ED2DE9103E32}" dt="2026-05-07T22:33:32.868" v="4" actId="1076"/>
          <ac:picMkLst>
            <pc:docMk/>
            <pc:sldMk cId="2480773015" sldId="264"/>
            <ac:picMk id="8" creationId="{8371F5D1-FEE5-3E1F-1737-F0372C242154}"/>
          </ac:picMkLst>
        </pc:picChg>
        <pc:picChg chg="add mod">
          <ac:chgData name="Otto Sukpraprut" userId="43a30a041c0d6e71" providerId="LiveId" clId="{41EDCB87-BDC5-48D4-86AD-ED2DE9103E32}" dt="2026-05-08T10:58:35.335" v="372" actId="1076"/>
          <ac:picMkLst>
            <pc:docMk/>
            <pc:sldMk cId="2480773015" sldId="264"/>
            <ac:picMk id="26" creationId="{32E2F5B3-AF99-4BE0-92ED-55C121F966DC}"/>
          </ac:picMkLst>
        </pc:picChg>
        <pc:picChg chg="add mod">
          <ac:chgData name="Otto Sukpraprut" userId="43a30a041c0d6e71" providerId="LiveId" clId="{41EDCB87-BDC5-48D4-86AD-ED2DE9103E32}" dt="2026-05-08T10:59:39.414" v="376" actId="14100"/>
          <ac:picMkLst>
            <pc:docMk/>
            <pc:sldMk cId="2480773015" sldId="264"/>
            <ac:picMk id="34" creationId="{810D077B-03C3-6C40-FA81-119EAF4571EF}"/>
          </ac:picMkLst>
        </pc:picChg>
        <pc:picChg chg="add mod">
          <ac:chgData name="Otto Sukpraprut" userId="43a30a041c0d6e71" providerId="LiveId" clId="{41EDCB87-BDC5-48D4-86AD-ED2DE9103E32}" dt="2026-05-08T11:00:32.119" v="386" actId="1076"/>
          <ac:picMkLst>
            <pc:docMk/>
            <pc:sldMk cId="2480773015" sldId="264"/>
            <ac:picMk id="39" creationId="{42E39D05-A7D2-7B47-2745-F55DABB1978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9"/>
          </a:xfrm>
          <a:prstGeom prst="rect">
            <a:avLst/>
          </a:prstGeom>
        </p:spPr>
        <p:txBody>
          <a:bodyPr vert="horz" lIns="99070" tIns="49535" rIns="99070" bIns="49535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1" y="0"/>
            <a:ext cx="3078427" cy="513509"/>
          </a:xfrm>
          <a:prstGeom prst="rect">
            <a:avLst/>
          </a:prstGeom>
        </p:spPr>
        <p:txBody>
          <a:bodyPr vert="horz" lIns="99070" tIns="49535" rIns="99070" bIns="49535" rtlCol="0"/>
          <a:lstStyle>
            <a:lvl1pPr algn="r">
              <a:defRPr sz="1300"/>
            </a:lvl1pPr>
          </a:lstStyle>
          <a:p>
            <a:fld id="{CF737B4E-AAD4-44A7-B2B3-919D64E5C873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73150" y="1279525"/>
            <a:ext cx="49577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0" tIns="49535" rIns="99070" bIns="49535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70" tIns="49535" rIns="99070" bIns="4953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6"/>
          </a:xfrm>
          <a:prstGeom prst="rect">
            <a:avLst/>
          </a:prstGeom>
        </p:spPr>
        <p:txBody>
          <a:bodyPr vert="horz" lIns="99070" tIns="49535" rIns="99070" bIns="49535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1" y="9721107"/>
            <a:ext cx="3078427" cy="513506"/>
          </a:xfrm>
          <a:prstGeom prst="rect">
            <a:avLst/>
          </a:prstGeom>
        </p:spPr>
        <p:txBody>
          <a:bodyPr vert="horz" lIns="99070" tIns="49535" rIns="99070" bIns="49535" rtlCol="0" anchor="b"/>
          <a:lstStyle>
            <a:lvl1pPr algn="r">
              <a:defRPr sz="1300"/>
            </a:lvl1pPr>
          </a:lstStyle>
          <a:p>
            <a:fld id="{1C809908-645F-4F69-8EA3-1B3E483CF3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563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05016" rtl="0" eaLnBrk="1" latinLnBrk="0" hangingPunct="1">
      <a:defRPr sz="5387" kern="1200">
        <a:solidFill>
          <a:schemeClr val="tx1"/>
        </a:solidFill>
        <a:latin typeface="+mn-lt"/>
        <a:ea typeface="+mn-ea"/>
        <a:cs typeface="+mn-cs"/>
      </a:defRPr>
    </a:lvl1pPr>
    <a:lvl2pPr marL="2052508" algn="l" defTabSz="4105016" rtl="0" eaLnBrk="1" latinLnBrk="0" hangingPunct="1">
      <a:defRPr sz="5387" kern="1200">
        <a:solidFill>
          <a:schemeClr val="tx1"/>
        </a:solidFill>
        <a:latin typeface="+mn-lt"/>
        <a:ea typeface="+mn-ea"/>
        <a:cs typeface="+mn-cs"/>
      </a:defRPr>
    </a:lvl2pPr>
    <a:lvl3pPr marL="4105016" algn="l" defTabSz="4105016" rtl="0" eaLnBrk="1" latinLnBrk="0" hangingPunct="1">
      <a:defRPr sz="5387" kern="1200">
        <a:solidFill>
          <a:schemeClr val="tx1"/>
        </a:solidFill>
        <a:latin typeface="+mn-lt"/>
        <a:ea typeface="+mn-ea"/>
        <a:cs typeface="+mn-cs"/>
      </a:defRPr>
    </a:lvl3pPr>
    <a:lvl4pPr marL="6157524" algn="l" defTabSz="4105016" rtl="0" eaLnBrk="1" latinLnBrk="0" hangingPunct="1">
      <a:defRPr sz="5387" kern="1200">
        <a:solidFill>
          <a:schemeClr val="tx1"/>
        </a:solidFill>
        <a:latin typeface="+mn-lt"/>
        <a:ea typeface="+mn-ea"/>
        <a:cs typeface="+mn-cs"/>
      </a:defRPr>
    </a:lvl4pPr>
    <a:lvl5pPr marL="8210032" algn="l" defTabSz="4105016" rtl="0" eaLnBrk="1" latinLnBrk="0" hangingPunct="1">
      <a:defRPr sz="5387" kern="1200">
        <a:solidFill>
          <a:schemeClr val="tx1"/>
        </a:solidFill>
        <a:latin typeface="+mn-lt"/>
        <a:ea typeface="+mn-ea"/>
        <a:cs typeface="+mn-cs"/>
      </a:defRPr>
    </a:lvl5pPr>
    <a:lvl6pPr marL="10262540" algn="l" defTabSz="4105016" rtl="0" eaLnBrk="1" latinLnBrk="0" hangingPunct="1">
      <a:defRPr sz="5387" kern="1200">
        <a:solidFill>
          <a:schemeClr val="tx1"/>
        </a:solidFill>
        <a:latin typeface="+mn-lt"/>
        <a:ea typeface="+mn-ea"/>
        <a:cs typeface="+mn-cs"/>
      </a:defRPr>
    </a:lvl6pPr>
    <a:lvl7pPr marL="12315048" algn="l" defTabSz="4105016" rtl="0" eaLnBrk="1" latinLnBrk="0" hangingPunct="1">
      <a:defRPr sz="5387" kern="1200">
        <a:solidFill>
          <a:schemeClr val="tx1"/>
        </a:solidFill>
        <a:latin typeface="+mn-lt"/>
        <a:ea typeface="+mn-ea"/>
        <a:cs typeface="+mn-cs"/>
      </a:defRPr>
    </a:lvl7pPr>
    <a:lvl8pPr marL="14367556" algn="l" defTabSz="4105016" rtl="0" eaLnBrk="1" latinLnBrk="0" hangingPunct="1">
      <a:defRPr sz="5387" kern="1200">
        <a:solidFill>
          <a:schemeClr val="tx1"/>
        </a:solidFill>
        <a:latin typeface="+mn-lt"/>
        <a:ea typeface="+mn-ea"/>
        <a:cs typeface="+mn-cs"/>
      </a:defRPr>
    </a:lvl8pPr>
    <a:lvl9pPr marL="16420064" algn="l" defTabSz="4105016" rtl="0" eaLnBrk="1" latinLnBrk="0" hangingPunct="1">
      <a:defRPr sz="538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9996" y="5747953"/>
            <a:ext cx="42839958" cy="12227607"/>
          </a:xfrm>
        </p:spPr>
        <p:txBody>
          <a:bodyPr anchor="b"/>
          <a:lstStyle>
            <a:lvl1pPr algn="ctr">
              <a:defRPr sz="3072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9994" y="18447104"/>
            <a:ext cx="37799963" cy="8479648"/>
          </a:xfrm>
        </p:spPr>
        <p:txBody>
          <a:bodyPr/>
          <a:lstStyle>
            <a:lvl1pPr marL="0" indent="0" algn="ctr">
              <a:buNone/>
              <a:defRPr sz="12291"/>
            </a:lvl1pPr>
            <a:lvl2pPr marL="2341458" indent="0" algn="ctr">
              <a:buNone/>
              <a:defRPr sz="10243"/>
            </a:lvl2pPr>
            <a:lvl3pPr marL="4682917" indent="0" algn="ctr">
              <a:buNone/>
              <a:defRPr sz="9218"/>
            </a:lvl3pPr>
            <a:lvl4pPr marL="7024375" indent="0" algn="ctr">
              <a:buNone/>
              <a:defRPr sz="8194"/>
            </a:lvl4pPr>
            <a:lvl5pPr marL="9365833" indent="0" algn="ctr">
              <a:buNone/>
              <a:defRPr sz="8194"/>
            </a:lvl5pPr>
            <a:lvl6pPr marL="11707292" indent="0" algn="ctr">
              <a:buNone/>
              <a:defRPr sz="8194"/>
            </a:lvl6pPr>
            <a:lvl7pPr marL="14048750" indent="0" algn="ctr">
              <a:buNone/>
              <a:defRPr sz="8194"/>
            </a:lvl7pPr>
            <a:lvl8pPr marL="16390209" indent="0" algn="ctr">
              <a:buNone/>
              <a:defRPr sz="8194"/>
            </a:lvl8pPr>
            <a:lvl9pPr marL="18731667" indent="0" algn="ctr">
              <a:buNone/>
              <a:defRPr sz="819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8DC77-297D-4D3C-8908-F5F8B5542B18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3C32-0A09-41F0-BCF6-EB6880C952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036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8DC77-297D-4D3C-8908-F5F8B5542B18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3C32-0A09-41F0-BCF6-EB6880C952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6435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749" y="8756083"/>
            <a:ext cx="43469957" cy="14609711"/>
          </a:xfrm>
        </p:spPr>
        <p:txBody>
          <a:bodyPr anchor="b"/>
          <a:lstStyle>
            <a:lvl1pPr>
              <a:defRPr sz="3072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749" y="23504008"/>
            <a:ext cx="43469957" cy="7682902"/>
          </a:xfrm>
        </p:spPr>
        <p:txBody>
          <a:bodyPr/>
          <a:lstStyle>
            <a:lvl1pPr marL="0" indent="0">
              <a:buNone/>
              <a:defRPr sz="12291">
                <a:solidFill>
                  <a:schemeClr val="tx1">
                    <a:tint val="82000"/>
                  </a:schemeClr>
                </a:solidFill>
              </a:defRPr>
            </a:lvl1pPr>
            <a:lvl2pPr marL="2341458" indent="0">
              <a:buNone/>
              <a:defRPr sz="10243">
                <a:solidFill>
                  <a:schemeClr val="tx1">
                    <a:tint val="82000"/>
                  </a:schemeClr>
                </a:solidFill>
              </a:defRPr>
            </a:lvl2pPr>
            <a:lvl3pPr marL="4682917" indent="0">
              <a:buNone/>
              <a:defRPr sz="9218">
                <a:solidFill>
                  <a:schemeClr val="tx1">
                    <a:tint val="82000"/>
                  </a:schemeClr>
                </a:solidFill>
              </a:defRPr>
            </a:lvl3pPr>
            <a:lvl4pPr marL="7024375" indent="0">
              <a:buNone/>
              <a:defRPr sz="8194">
                <a:solidFill>
                  <a:schemeClr val="tx1">
                    <a:tint val="82000"/>
                  </a:schemeClr>
                </a:solidFill>
              </a:defRPr>
            </a:lvl4pPr>
            <a:lvl5pPr marL="9365833" indent="0">
              <a:buNone/>
              <a:defRPr sz="8194">
                <a:solidFill>
                  <a:schemeClr val="tx1">
                    <a:tint val="82000"/>
                  </a:schemeClr>
                </a:solidFill>
              </a:defRPr>
            </a:lvl5pPr>
            <a:lvl6pPr marL="11707292" indent="0">
              <a:buNone/>
              <a:defRPr sz="8194">
                <a:solidFill>
                  <a:schemeClr val="tx1">
                    <a:tint val="82000"/>
                  </a:schemeClr>
                </a:solidFill>
              </a:defRPr>
            </a:lvl6pPr>
            <a:lvl7pPr marL="14048750" indent="0">
              <a:buNone/>
              <a:defRPr sz="8194">
                <a:solidFill>
                  <a:schemeClr val="tx1">
                    <a:tint val="82000"/>
                  </a:schemeClr>
                </a:solidFill>
              </a:defRPr>
            </a:lvl7pPr>
            <a:lvl8pPr marL="16390209" indent="0">
              <a:buNone/>
              <a:defRPr sz="8194">
                <a:solidFill>
                  <a:schemeClr val="tx1">
                    <a:tint val="82000"/>
                  </a:schemeClr>
                </a:solidFill>
              </a:defRPr>
            </a:lvl8pPr>
            <a:lvl9pPr marL="18731667" indent="0">
              <a:buNone/>
              <a:defRPr sz="819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8DC77-297D-4D3C-8908-F5F8B5542B18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3C32-0A09-41F0-BCF6-EB6880C952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117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4996" y="9349567"/>
            <a:ext cx="21419979" cy="2228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4975" y="9349567"/>
            <a:ext cx="21419979" cy="2228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8DC77-297D-4D3C-8908-F5F8B5542B18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3C32-0A09-41F0-BCF6-EB6880C952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969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1" y="1869921"/>
            <a:ext cx="43469957" cy="6788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567" y="8609734"/>
            <a:ext cx="21321538" cy="4219497"/>
          </a:xfrm>
        </p:spPr>
        <p:txBody>
          <a:bodyPr anchor="b"/>
          <a:lstStyle>
            <a:lvl1pPr marL="0" indent="0">
              <a:buNone/>
              <a:defRPr sz="12291" b="1"/>
            </a:lvl1pPr>
            <a:lvl2pPr marL="2341458" indent="0">
              <a:buNone/>
              <a:defRPr sz="10243" b="1"/>
            </a:lvl2pPr>
            <a:lvl3pPr marL="4682917" indent="0">
              <a:buNone/>
              <a:defRPr sz="9218" b="1"/>
            </a:lvl3pPr>
            <a:lvl4pPr marL="7024375" indent="0">
              <a:buNone/>
              <a:defRPr sz="8194" b="1"/>
            </a:lvl4pPr>
            <a:lvl5pPr marL="9365833" indent="0">
              <a:buNone/>
              <a:defRPr sz="8194" b="1"/>
            </a:lvl5pPr>
            <a:lvl6pPr marL="11707292" indent="0">
              <a:buNone/>
              <a:defRPr sz="8194" b="1"/>
            </a:lvl6pPr>
            <a:lvl7pPr marL="14048750" indent="0">
              <a:buNone/>
              <a:defRPr sz="8194" b="1"/>
            </a:lvl7pPr>
            <a:lvl8pPr marL="16390209" indent="0">
              <a:buNone/>
              <a:defRPr sz="8194" b="1"/>
            </a:lvl8pPr>
            <a:lvl9pPr marL="18731667" indent="0">
              <a:buNone/>
              <a:defRPr sz="81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567" y="12829231"/>
            <a:ext cx="21321538" cy="18869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4978" y="8609734"/>
            <a:ext cx="21426543" cy="4219497"/>
          </a:xfrm>
        </p:spPr>
        <p:txBody>
          <a:bodyPr anchor="b"/>
          <a:lstStyle>
            <a:lvl1pPr marL="0" indent="0">
              <a:buNone/>
              <a:defRPr sz="12291" b="1"/>
            </a:lvl1pPr>
            <a:lvl2pPr marL="2341458" indent="0">
              <a:buNone/>
              <a:defRPr sz="10243" b="1"/>
            </a:lvl2pPr>
            <a:lvl3pPr marL="4682917" indent="0">
              <a:buNone/>
              <a:defRPr sz="9218" b="1"/>
            </a:lvl3pPr>
            <a:lvl4pPr marL="7024375" indent="0">
              <a:buNone/>
              <a:defRPr sz="8194" b="1"/>
            </a:lvl4pPr>
            <a:lvl5pPr marL="9365833" indent="0">
              <a:buNone/>
              <a:defRPr sz="8194" b="1"/>
            </a:lvl5pPr>
            <a:lvl6pPr marL="11707292" indent="0">
              <a:buNone/>
              <a:defRPr sz="8194" b="1"/>
            </a:lvl6pPr>
            <a:lvl7pPr marL="14048750" indent="0">
              <a:buNone/>
              <a:defRPr sz="8194" b="1"/>
            </a:lvl7pPr>
            <a:lvl8pPr marL="16390209" indent="0">
              <a:buNone/>
              <a:defRPr sz="8194" b="1"/>
            </a:lvl8pPr>
            <a:lvl9pPr marL="18731667" indent="0">
              <a:buNone/>
              <a:defRPr sz="81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4978" y="12829231"/>
            <a:ext cx="21426543" cy="18869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8DC77-297D-4D3C-8908-F5F8B5542B18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3C32-0A09-41F0-BCF6-EB6880C952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107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8DC77-297D-4D3C-8908-F5F8B5542B18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3C32-0A09-41F0-BCF6-EB6880C952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54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8DC77-297D-4D3C-8908-F5F8B5542B18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3C32-0A09-41F0-BCF6-EB6880C952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76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1" y="2341457"/>
            <a:ext cx="16255296" cy="8195098"/>
          </a:xfrm>
        </p:spPr>
        <p:txBody>
          <a:bodyPr anchor="b"/>
          <a:lstStyle>
            <a:lvl1pPr>
              <a:defRPr sz="1638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6543" y="5056904"/>
            <a:ext cx="25514975" cy="24959278"/>
          </a:xfrm>
        </p:spPr>
        <p:txBody>
          <a:bodyPr/>
          <a:lstStyle>
            <a:lvl1pPr>
              <a:defRPr sz="16388"/>
            </a:lvl1pPr>
            <a:lvl2pPr>
              <a:defRPr sz="14340"/>
            </a:lvl2pPr>
            <a:lvl3pPr>
              <a:defRPr sz="12291"/>
            </a:lvl3pPr>
            <a:lvl4pPr>
              <a:defRPr sz="10243"/>
            </a:lvl4pPr>
            <a:lvl5pPr>
              <a:defRPr sz="10243"/>
            </a:lvl5pPr>
            <a:lvl6pPr>
              <a:defRPr sz="10243"/>
            </a:lvl6pPr>
            <a:lvl7pPr>
              <a:defRPr sz="10243"/>
            </a:lvl7pPr>
            <a:lvl8pPr>
              <a:defRPr sz="10243"/>
            </a:lvl8pPr>
            <a:lvl9pPr>
              <a:defRPr sz="1024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1" y="10536555"/>
            <a:ext cx="16255296" cy="19520272"/>
          </a:xfrm>
        </p:spPr>
        <p:txBody>
          <a:bodyPr/>
          <a:lstStyle>
            <a:lvl1pPr marL="0" indent="0">
              <a:buNone/>
              <a:defRPr sz="8194"/>
            </a:lvl1pPr>
            <a:lvl2pPr marL="2341458" indent="0">
              <a:buNone/>
              <a:defRPr sz="7170"/>
            </a:lvl2pPr>
            <a:lvl3pPr marL="4682917" indent="0">
              <a:buNone/>
              <a:defRPr sz="6146"/>
            </a:lvl3pPr>
            <a:lvl4pPr marL="7024375" indent="0">
              <a:buNone/>
              <a:defRPr sz="5121"/>
            </a:lvl4pPr>
            <a:lvl5pPr marL="9365833" indent="0">
              <a:buNone/>
              <a:defRPr sz="5121"/>
            </a:lvl5pPr>
            <a:lvl6pPr marL="11707292" indent="0">
              <a:buNone/>
              <a:defRPr sz="5121"/>
            </a:lvl6pPr>
            <a:lvl7pPr marL="14048750" indent="0">
              <a:buNone/>
              <a:defRPr sz="5121"/>
            </a:lvl7pPr>
            <a:lvl8pPr marL="16390209" indent="0">
              <a:buNone/>
              <a:defRPr sz="5121"/>
            </a:lvl8pPr>
            <a:lvl9pPr marL="18731667" indent="0">
              <a:buNone/>
              <a:defRPr sz="512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8DC77-297D-4D3C-8908-F5F8B5542B18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3C32-0A09-41F0-BCF6-EB6880C952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60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1" y="2341457"/>
            <a:ext cx="16255296" cy="8195098"/>
          </a:xfrm>
        </p:spPr>
        <p:txBody>
          <a:bodyPr anchor="b"/>
          <a:lstStyle>
            <a:lvl1pPr>
              <a:defRPr sz="1638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6543" y="5056904"/>
            <a:ext cx="25514975" cy="24959278"/>
          </a:xfrm>
        </p:spPr>
        <p:txBody>
          <a:bodyPr anchor="t"/>
          <a:lstStyle>
            <a:lvl1pPr marL="0" indent="0">
              <a:buNone/>
              <a:defRPr sz="16388"/>
            </a:lvl1pPr>
            <a:lvl2pPr marL="2341458" indent="0">
              <a:buNone/>
              <a:defRPr sz="14340"/>
            </a:lvl2pPr>
            <a:lvl3pPr marL="4682917" indent="0">
              <a:buNone/>
              <a:defRPr sz="12291"/>
            </a:lvl3pPr>
            <a:lvl4pPr marL="7024375" indent="0">
              <a:buNone/>
              <a:defRPr sz="10243"/>
            </a:lvl4pPr>
            <a:lvl5pPr marL="9365833" indent="0">
              <a:buNone/>
              <a:defRPr sz="10243"/>
            </a:lvl5pPr>
            <a:lvl6pPr marL="11707292" indent="0">
              <a:buNone/>
              <a:defRPr sz="10243"/>
            </a:lvl6pPr>
            <a:lvl7pPr marL="14048750" indent="0">
              <a:buNone/>
              <a:defRPr sz="10243"/>
            </a:lvl7pPr>
            <a:lvl8pPr marL="16390209" indent="0">
              <a:buNone/>
              <a:defRPr sz="10243"/>
            </a:lvl8pPr>
            <a:lvl9pPr marL="18731667" indent="0">
              <a:buNone/>
              <a:defRPr sz="10243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1" y="10536555"/>
            <a:ext cx="16255296" cy="19520272"/>
          </a:xfrm>
        </p:spPr>
        <p:txBody>
          <a:bodyPr/>
          <a:lstStyle>
            <a:lvl1pPr marL="0" indent="0">
              <a:buNone/>
              <a:defRPr sz="8194"/>
            </a:lvl1pPr>
            <a:lvl2pPr marL="2341458" indent="0">
              <a:buNone/>
              <a:defRPr sz="7170"/>
            </a:lvl2pPr>
            <a:lvl3pPr marL="4682917" indent="0">
              <a:buNone/>
              <a:defRPr sz="6146"/>
            </a:lvl3pPr>
            <a:lvl4pPr marL="7024375" indent="0">
              <a:buNone/>
              <a:defRPr sz="5121"/>
            </a:lvl4pPr>
            <a:lvl5pPr marL="9365833" indent="0">
              <a:buNone/>
              <a:defRPr sz="5121"/>
            </a:lvl5pPr>
            <a:lvl6pPr marL="11707292" indent="0">
              <a:buNone/>
              <a:defRPr sz="5121"/>
            </a:lvl6pPr>
            <a:lvl7pPr marL="14048750" indent="0">
              <a:buNone/>
              <a:defRPr sz="5121"/>
            </a:lvl7pPr>
            <a:lvl8pPr marL="16390209" indent="0">
              <a:buNone/>
              <a:defRPr sz="5121"/>
            </a:lvl8pPr>
            <a:lvl9pPr marL="18731667" indent="0">
              <a:buNone/>
              <a:defRPr sz="512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8DC77-297D-4D3C-8908-F5F8B5542B18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3C32-0A09-41F0-BCF6-EB6880C952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083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8DC77-297D-4D3C-8908-F5F8B5542B18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3C32-0A09-41F0-BCF6-EB6880C952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7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7467" y="1869914"/>
            <a:ext cx="10867489" cy="297641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4999" y="1869914"/>
            <a:ext cx="31972468" cy="297641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8DC77-297D-4D3C-8908-F5F8B5542B18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3C32-0A09-41F0-BCF6-EB6880C952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9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4997" y="1869921"/>
            <a:ext cx="43469957" cy="6788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997" y="9349567"/>
            <a:ext cx="43469957" cy="22284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4996" y="32552760"/>
            <a:ext cx="11339989" cy="18699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78DC77-297D-4D3C-8908-F5F8B5542B18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4984" y="32552760"/>
            <a:ext cx="17009983" cy="18699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4965" y="32552760"/>
            <a:ext cx="11339989" cy="18699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203C32-0A09-41F0-BCF6-EB6880C952C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DFDC60-9B7B-F5D0-96BE-C81A5804E399}"/>
              </a:ext>
            </a:extLst>
          </p:cNvPr>
          <p:cNvSpPr/>
          <p:nvPr/>
        </p:nvSpPr>
        <p:spPr>
          <a:xfrm>
            <a:off x="0" y="-24691964"/>
            <a:ext cx="2121545" cy="836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4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833FB1-D460-F4E0-D19B-CC5B4F5AE9F8}"/>
              </a:ext>
            </a:extLst>
          </p:cNvPr>
          <p:cNvSpPr/>
          <p:nvPr/>
        </p:nvSpPr>
        <p:spPr>
          <a:xfrm>
            <a:off x="0" y="74075893"/>
            <a:ext cx="2121545" cy="836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4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318621-99CA-9A83-92DD-AEA9930FDB2F}"/>
              </a:ext>
            </a:extLst>
          </p:cNvPr>
          <p:cNvSpPr/>
          <p:nvPr userDrawn="1"/>
        </p:nvSpPr>
        <p:spPr>
          <a:xfrm>
            <a:off x="0" y="-24691964"/>
            <a:ext cx="2121545" cy="836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4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EA196A-1A48-A50A-F291-A0FC48674DC1}"/>
              </a:ext>
            </a:extLst>
          </p:cNvPr>
          <p:cNvSpPr/>
          <p:nvPr userDrawn="1"/>
        </p:nvSpPr>
        <p:spPr>
          <a:xfrm>
            <a:off x="0" y="74075893"/>
            <a:ext cx="2121545" cy="836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46"/>
          </a:p>
        </p:txBody>
      </p:sp>
    </p:spTree>
    <p:extLst>
      <p:ext uri="{BB962C8B-B14F-4D97-AF65-F5344CB8AC3E}">
        <p14:creationId xmlns:p14="http://schemas.microsoft.com/office/powerpoint/2010/main" val="405777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682917" rtl="0" eaLnBrk="1" latinLnBrk="0" hangingPunct="1">
        <a:lnSpc>
          <a:spcPct val="90000"/>
        </a:lnSpc>
        <a:spcBef>
          <a:spcPct val="0"/>
        </a:spcBef>
        <a:buNone/>
        <a:defRPr sz="225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70729" indent="-1170729" algn="l" defTabSz="4682917" rtl="0" eaLnBrk="1" latinLnBrk="0" hangingPunct="1">
        <a:lnSpc>
          <a:spcPct val="90000"/>
        </a:lnSpc>
        <a:spcBef>
          <a:spcPts val="5121"/>
        </a:spcBef>
        <a:buFont typeface="Arial" panose="020B0604020202020204" pitchFamily="34" charset="0"/>
        <a:buChar char="•"/>
        <a:defRPr sz="14340" kern="1200">
          <a:solidFill>
            <a:schemeClr val="tx1"/>
          </a:solidFill>
          <a:latin typeface="+mn-lt"/>
          <a:ea typeface="+mn-ea"/>
          <a:cs typeface="+mn-cs"/>
        </a:defRPr>
      </a:lvl1pPr>
      <a:lvl2pPr marL="3512188" indent="-1170729" algn="l" defTabSz="4682917" rtl="0" eaLnBrk="1" latinLnBrk="0" hangingPunct="1">
        <a:lnSpc>
          <a:spcPct val="90000"/>
        </a:lnSpc>
        <a:spcBef>
          <a:spcPts val="2561"/>
        </a:spcBef>
        <a:buFont typeface="Arial" panose="020B0604020202020204" pitchFamily="34" charset="0"/>
        <a:buChar char="•"/>
        <a:defRPr sz="12291" kern="1200">
          <a:solidFill>
            <a:schemeClr val="tx1"/>
          </a:solidFill>
          <a:latin typeface="+mn-lt"/>
          <a:ea typeface="+mn-ea"/>
          <a:cs typeface="+mn-cs"/>
        </a:defRPr>
      </a:lvl2pPr>
      <a:lvl3pPr marL="5853646" indent="-1170729" algn="l" defTabSz="4682917" rtl="0" eaLnBrk="1" latinLnBrk="0" hangingPunct="1">
        <a:lnSpc>
          <a:spcPct val="90000"/>
        </a:lnSpc>
        <a:spcBef>
          <a:spcPts val="2561"/>
        </a:spcBef>
        <a:buFont typeface="Arial" panose="020B0604020202020204" pitchFamily="34" charset="0"/>
        <a:buChar char="•"/>
        <a:defRPr sz="10243" kern="1200">
          <a:solidFill>
            <a:schemeClr val="tx1"/>
          </a:solidFill>
          <a:latin typeface="+mn-lt"/>
          <a:ea typeface="+mn-ea"/>
          <a:cs typeface="+mn-cs"/>
        </a:defRPr>
      </a:lvl3pPr>
      <a:lvl4pPr marL="8195104" indent="-1170729" algn="l" defTabSz="4682917" rtl="0" eaLnBrk="1" latinLnBrk="0" hangingPunct="1">
        <a:lnSpc>
          <a:spcPct val="90000"/>
        </a:lnSpc>
        <a:spcBef>
          <a:spcPts val="2561"/>
        </a:spcBef>
        <a:buFont typeface="Arial" panose="020B0604020202020204" pitchFamily="34" charset="0"/>
        <a:buChar char="•"/>
        <a:defRPr sz="9218" kern="1200">
          <a:solidFill>
            <a:schemeClr val="tx1"/>
          </a:solidFill>
          <a:latin typeface="+mn-lt"/>
          <a:ea typeface="+mn-ea"/>
          <a:cs typeface="+mn-cs"/>
        </a:defRPr>
      </a:lvl4pPr>
      <a:lvl5pPr marL="10536563" indent="-1170729" algn="l" defTabSz="4682917" rtl="0" eaLnBrk="1" latinLnBrk="0" hangingPunct="1">
        <a:lnSpc>
          <a:spcPct val="90000"/>
        </a:lnSpc>
        <a:spcBef>
          <a:spcPts val="2561"/>
        </a:spcBef>
        <a:buFont typeface="Arial" panose="020B0604020202020204" pitchFamily="34" charset="0"/>
        <a:buChar char="•"/>
        <a:defRPr sz="9218" kern="1200">
          <a:solidFill>
            <a:schemeClr val="tx1"/>
          </a:solidFill>
          <a:latin typeface="+mn-lt"/>
          <a:ea typeface="+mn-ea"/>
          <a:cs typeface="+mn-cs"/>
        </a:defRPr>
      </a:lvl5pPr>
      <a:lvl6pPr marL="12878021" indent="-1170729" algn="l" defTabSz="4682917" rtl="0" eaLnBrk="1" latinLnBrk="0" hangingPunct="1">
        <a:lnSpc>
          <a:spcPct val="90000"/>
        </a:lnSpc>
        <a:spcBef>
          <a:spcPts val="2561"/>
        </a:spcBef>
        <a:buFont typeface="Arial" panose="020B0604020202020204" pitchFamily="34" charset="0"/>
        <a:buChar char="•"/>
        <a:defRPr sz="9218" kern="1200">
          <a:solidFill>
            <a:schemeClr val="tx1"/>
          </a:solidFill>
          <a:latin typeface="+mn-lt"/>
          <a:ea typeface="+mn-ea"/>
          <a:cs typeface="+mn-cs"/>
        </a:defRPr>
      </a:lvl6pPr>
      <a:lvl7pPr marL="15219479" indent="-1170729" algn="l" defTabSz="4682917" rtl="0" eaLnBrk="1" latinLnBrk="0" hangingPunct="1">
        <a:lnSpc>
          <a:spcPct val="90000"/>
        </a:lnSpc>
        <a:spcBef>
          <a:spcPts val="2561"/>
        </a:spcBef>
        <a:buFont typeface="Arial" panose="020B0604020202020204" pitchFamily="34" charset="0"/>
        <a:buChar char="•"/>
        <a:defRPr sz="9218" kern="1200">
          <a:solidFill>
            <a:schemeClr val="tx1"/>
          </a:solidFill>
          <a:latin typeface="+mn-lt"/>
          <a:ea typeface="+mn-ea"/>
          <a:cs typeface="+mn-cs"/>
        </a:defRPr>
      </a:lvl7pPr>
      <a:lvl8pPr marL="17560938" indent="-1170729" algn="l" defTabSz="4682917" rtl="0" eaLnBrk="1" latinLnBrk="0" hangingPunct="1">
        <a:lnSpc>
          <a:spcPct val="90000"/>
        </a:lnSpc>
        <a:spcBef>
          <a:spcPts val="2561"/>
        </a:spcBef>
        <a:buFont typeface="Arial" panose="020B0604020202020204" pitchFamily="34" charset="0"/>
        <a:buChar char="•"/>
        <a:defRPr sz="9218" kern="1200">
          <a:solidFill>
            <a:schemeClr val="tx1"/>
          </a:solidFill>
          <a:latin typeface="+mn-lt"/>
          <a:ea typeface="+mn-ea"/>
          <a:cs typeface="+mn-cs"/>
        </a:defRPr>
      </a:lvl8pPr>
      <a:lvl9pPr marL="19902396" indent="-1170729" algn="l" defTabSz="4682917" rtl="0" eaLnBrk="1" latinLnBrk="0" hangingPunct="1">
        <a:lnSpc>
          <a:spcPct val="90000"/>
        </a:lnSpc>
        <a:spcBef>
          <a:spcPts val="2561"/>
        </a:spcBef>
        <a:buFont typeface="Arial" panose="020B0604020202020204" pitchFamily="34" charset="0"/>
        <a:buChar char="•"/>
        <a:defRPr sz="92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82917" rtl="0" eaLnBrk="1" latinLnBrk="0" hangingPunct="1">
        <a:defRPr sz="9218" kern="1200">
          <a:solidFill>
            <a:schemeClr val="tx1"/>
          </a:solidFill>
          <a:latin typeface="+mn-lt"/>
          <a:ea typeface="+mn-ea"/>
          <a:cs typeface="+mn-cs"/>
        </a:defRPr>
      </a:lvl1pPr>
      <a:lvl2pPr marL="2341458" algn="l" defTabSz="4682917" rtl="0" eaLnBrk="1" latinLnBrk="0" hangingPunct="1">
        <a:defRPr sz="9218" kern="1200">
          <a:solidFill>
            <a:schemeClr val="tx1"/>
          </a:solidFill>
          <a:latin typeface="+mn-lt"/>
          <a:ea typeface="+mn-ea"/>
          <a:cs typeface="+mn-cs"/>
        </a:defRPr>
      </a:lvl2pPr>
      <a:lvl3pPr marL="4682917" algn="l" defTabSz="4682917" rtl="0" eaLnBrk="1" latinLnBrk="0" hangingPunct="1">
        <a:defRPr sz="9218" kern="1200">
          <a:solidFill>
            <a:schemeClr val="tx1"/>
          </a:solidFill>
          <a:latin typeface="+mn-lt"/>
          <a:ea typeface="+mn-ea"/>
          <a:cs typeface="+mn-cs"/>
        </a:defRPr>
      </a:lvl3pPr>
      <a:lvl4pPr marL="7024375" algn="l" defTabSz="4682917" rtl="0" eaLnBrk="1" latinLnBrk="0" hangingPunct="1">
        <a:defRPr sz="9218" kern="1200">
          <a:solidFill>
            <a:schemeClr val="tx1"/>
          </a:solidFill>
          <a:latin typeface="+mn-lt"/>
          <a:ea typeface="+mn-ea"/>
          <a:cs typeface="+mn-cs"/>
        </a:defRPr>
      </a:lvl4pPr>
      <a:lvl5pPr marL="9365833" algn="l" defTabSz="4682917" rtl="0" eaLnBrk="1" latinLnBrk="0" hangingPunct="1">
        <a:defRPr sz="9218" kern="1200">
          <a:solidFill>
            <a:schemeClr val="tx1"/>
          </a:solidFill>
          <a:latin typeface="+mn-lt"/>
          <a:ea typeface="+mn-ea"/>
          <a:cs typeface="+mn-cs"/>
        </a:defRPr>
      </a:lvl5pPr>
      <a:lvl6pPr marL="11707292" algn="l" defTabSz="4682917" rtl="0" eaLnBrk="1" latinLnBrk="0" hangingPunct="1">
        <a:defRPr sz="9218" kern="1200">
          <a:solidFill>
            <a:schemeClr val="tx1"/>
          </a:solidFill>
          <a:latin typeface="+mn-lt"/>
          <a:ea typeface="+mn-ea"/>
          <a:cs typeface="+mn-cs"/>
        </a:defRPr>
      </a:lvl6pPr>
      <a:lvl7pPr marL="14048750" algn="l" defTabSz="4682917" rtl="0" eaLnBrk="1" latinLnBrk="0" hangingPunct="1">
        <a:defRPr sz="9218" kern="1200">
          <a:solidFill>
            <a:schemeClr val="tx1"/>
          </a:solidFill>
          <a:latin typeface="+mn-lt"/>
          <a:ea typeface="+mn-ea"/>
          <a:cs typeface="+mn-cs"/>
        </a:defRPr>
      </a:lvl7pPr>
      <a:lvl8pPr marL="16390209" algn="l" defTabSz="4682917" rtl="0" eaLnBrk="1" latinLnBrk="0" hangingPunct="1">
        <a:defRPr sz="9218" kern="1200">
          <a:solidFill>
            <a:schemeClr val="tx1"/>
          </a:solidFill>
          <a:latin typeface="+mn-lt"/>
          <a:ea typeface="+mn-ea"/>
          <a:cs typeface="+mn-cs"/>
        </a:defRPr>
      </a:lvl8pPr>
      <a:lvl9pPr marL="18731667" algn="l" defTabSz="4682917" rtl="0" eaLnBrk="1" latinLnBrk="0" hangingPunct="1">
        <a:defRPr sz="92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emf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63" Type="http://schemas.openxmlformats.org/officeDocument/2006/relationships/image" Target="../media/image62.png"/><Relationship Id="rId68" Type="http://schemas.openxmlformats.org/officeDocument/2006/relationships/image" Target="../media/image67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emf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emf"/><Relationship Id="rId66" Type="http://schemas.openxmlformats.org/officeDocument/2006/relationships/image" Target="../media/image65.png"/><Relationship Id="rId5" Type="http://schemas.openxmlformats.org/officeDocument/2006/relationships/image" Target="../media/image4.emf"/><Relationship Id="rId61" Type="http://schemas.openxmlformats.org/officeDocument/2006/relationships/image" Target="../media/image60.emf"/><Relationship Id="rId19" Type="http://schemas.openxmlformats.org/officeDocument/2006/relationships/image" Target="../media/image18.emf"/><Relationship Id="rId14" Type="http://schemas.openxmlformats.org/officeDocument/2006/relationships/image" Target="../media/image13.emf"/><Relationship Id="rId22" Type="http://schemas.openxmlformats.org/officeDocument/2006/relationships/image" Target="../media/image21.emf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emf"/><Relationship Id="rId64" Type="http://schemas.openxmlformats.org/officeDocument/2006/relationships/image" Target="../media/image63.png"/><Relationship Id="rId69" Type="http://schemas.openxmlformats.org/officeDocument/2006/relationships/image" Target="../media/image68.png"/><Relationship Id="rId8" Type="http://schemas.openxmlformats.org/officeDocument/2006/relationships/image" Target="../media/image7.emf"/><Relationship Id="rId51" Type="http://schemas.openxmlformats.org/officeDocument/2006/relationships/image" Target="../media/image50.png"/><Relationship Id="rId3" Type="http://schemas.openxmlformats.org/officeDocument/2006/relationships/image" Target="../media/image2.emf"/><Relationship Id="rId12" Type="http://schemas.openxmlformats.org/officeDocument/2006/relationships/image" Target="../media/image11.emf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emf"/><Relationship Id="rId67" Type="http://schemas.openxmlformats.org/officeDocument/2006/relationships/image" Target="../media/image66.png"/><Relationship Id="rId20" Type="http://schemas.openxmlformats.org/officeDocument/2006/relationships/image" Target="../media/image19.emf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70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emf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png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3" Type="http://schemas.openxmlformats.org/officeDocument/2006/relationships/image" Target="../media/image12.emf"/><Relationship Id="rId18" Type="http://schemas.openxmlformats.org/officeDocument/2006/relationships/image" Target="../media/image17.png"/><Relationship Id="rId39" Type="http://schemas.openxmlformats.org/officeDocument/2006/relationships/image" Target="../media/image38.png"/><Relationship Id="rId34" Type="http://schemas.openxmlformats.org/officeDocument/2006/relationships/image" Target="../media/image33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3.png"/><Relationship Id="rId39" Type="http://schemas.openxmlformats.org/officeDocument/2006/relationships/image" Target="../media/image106.png"/><Relationship Id="rId21" Type="http://schemas.openxmlformats.org/officeDocument/2006/relationships/image" Target="../media/image88.png"/><Relationship Id="rId34" Type="http://schemas.openxmlformats.org/officeDocument/2006/relationships/image" Target="../media/image101.png"/><Relationship Id="rId42" Type="http://schemas.openxmlformats.org/officeDocument/2006/relationships/image" Target="../media/image109.png"/><Relationship Id="rId47" Type="http://schemas.openxmlformats.org/officeDocument/2006/relationships/image" Target="../media/image114.png"/><Relationship Id="rId50" Type="http://schemas.openxmlformats.org/officeDocument/2006/relationships/image" Target="../media/image117.png"/><Relationship Id="rId55" Type="http://schemas.openxmlformats.org/officeDocument/2006/relationships/image" Target="../media/image122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6" Type="http://schemas.openxmlformats.org/officeDocument/2006/relationships/image" Target="../media/image84.png"/><Relationship Id="rId29" Type="http://schemas.openxmlformats.org/officeDocument/2006/relationships/image" Target="../media/image96.png"/><Relationship Id="rId11" Type="http://schemas.openxmlformats.org/officeDocument/2006/relationships/image" Target="../media/image79.png"/><Relationship Id="rId24" Type="http://schemas.openxmlformats.org/officeDocument/2006/relationships/image" Target="../media/image91.png"/><Relationship Id="rId32" Type="http://schemas.openxmlformats.org/officeDocument/2006/relationships/image" Target="../media/image99.png"/><Relationship Id="rId37" Type="http://schemas.openxmlformats.org/officeDocument/2006/relationships/image" Target="../media/image104.png"/><Relationship Id="rId40" Type="http://schemas.openxmlformats.org/officeDocument/2006/relationships/image" Target="../media/image107.png"/><Relationship Id="rId45" Type="http://schemas.openxmlformats.org/officeDocument/2006/relationships/image" Target="../media/image112.png"/><Relationship Id="rId53" Type="http://schemas.openxmlformats.org/officeDocument/2006/relationships/image" Target="../media/image120.png"/><Relationship Id="rId58" Type="http://schemas.openxmlformats.org/officeDocument/2006/relationships/image" Target="../media/image125.png"/><Relationship Id="rId5" Type="http://schemas.openxmlformats.org/officeDocument/2006/relationships/image" Target="../media/image73.png"/><Relationship Id="rId19" Type="http://schemas.microsoft.com/office/2007/relationships/hdphoto" Target="../media/hdphoto1.wdp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89.png"/><Relationship Id="rId27" Type="http://schemas.openxmlformats.org/officeDocument/2006/relationships/image" Target="../media/image94.png"/><Relationship Id="rId30" Type="http://schemas.openxmlformats.org/officeDocument/2006/relationships/image" Target="../media/image97.png"/><Relationship Id="rId35" Type="http://schemas.openxmlformats.org/officeDocument/2006/relationships/image" Target="../media/image102.png"/><Relationship Id="rId43" Type="http://schemas.openxmlformats.org/officeDocument/2006/relationships/image" Target="../media/image110.png"/><Relationship Id="rId48" Type="http://schemas.openxmlformats.org/officeDocument/2006/relationships/image" Target="../media/image115.png"/><Relationship Id="rId56" Type="http://schemas.openxmlformats.org/officeDocument/2006/relationships/image" Target="../media/image123.png"/><Relationship Id="rId8" Type="http://schemas.openxmlformats.org/officeDocument/2006/relationships/image" Target="../media/image76.png"/><Relationship Id="rId51" Type="http://schemas.openxmlformats.org/officeDocument/2006/relationships/image" Target="../media/image118.png"/><Relationship Id="rId3" Type="http://schemas.openxmlformats.org/officeDocument/2006/relationships/image" Target="../media/image71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2.png"/><Relationship Id="rId33" Type="http://schemas.openxmlformats.org/officeDocument/2006/relationships/image" Target="../media/image100.png"/><Relationship Id="rId38" Type="http://schemas.openxmlformats.org/officeDocument/2006/relationships/image" Target="../media/image105.png"/><Relationship Id="rId46" Type="http://schemas.openxmlformats.org/officeDocument/2006/relationships/image" Target="../media/image113.png"/><Relationship Id="rId20" Type="http://schemas.openxmlformats.org/officeDocument/2006/relationships/image" Target="../media/image87.png"/><Relationship Id="rId41" Type="http://schemas.openxmlformats.org/officeDocument/2006/relationships/image" Target="../media/image108.png"/><Relationship Id="rId54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5" Type="http://schemas.openxmlformats.org/officeDocument/2006/relationships/image" Target="../media/image83.png"/><Relationship Id="rId23" Type="http://schemas.openxmlformats.org/officeDocument/2006/relationships/image" Target="../media/image90.png"/><Relationship Id="rId28" Type="http://schemas.openxmlformats.org/officeDocument/2006/relationships/image" Target="../media/image95.png"/><Relationship Id="rId36" Type="http://schemas.openxmlformats.org/officeDocument/2006/relationships/image" Target="../media/image103.png"/><Relationship Id="rId49" Type="http://schemas.openxmlformats.org/officeDocument/2006/relationships/image" Target="../media/image116.png"/><Relationship Id="rId57" Type="http://schemas.openxmlformats.org/officeDocument/2006/relationships/image" Target="../media/image124.png"/><Relationship Id="rId10" Type="http://schemas.openxmlformats.org/officeDocument/2006/relationships/image" Target="../media/image78.png"/><Relationship Id="rId31" Type="http://schemas.openxmlformats.org/officeDocument/2006/relationships/image" Target="../media/image98.png"/><Relationship Id="rId44" Type="http://schemas.openxmlformats.org/officeDocument/2006/relationships/image" Target="../media/image111.png"/><Relationship Id="rId52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CEAEC-D1F5-DFE2-7333-3426A332D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Freeform: Shape 1252">
            <a:extLst>
              <a:ext uri="{FF2B5EF4-FFF2-40B4-BE49-F238E27FC236}">
                <a16:creationId xmlns:a16="http://schemas.microsoft.com/office/drawing/2014/main" id="{D5EB369F-25D4-D13F-FF44-E5BA44C32959}"/>
              </a:ext>
            </a:extLst>
          </p:cNvPr>
          <p:cNvSpPr/>
          <p:nvPr/>
        </p:nvSpPr>
        <p:spPr>
          <a:xfrm>
            <a:off x="24990428" y="8803165"/>
            <a:ext cx="27399132" cy="27536983"/>
          </a:xfrm>
          <a:custGeom>
            <a:avLst/>
            <a:gdLst>
              <a:gd name="connsiteX0" fmla="*/ 12828700 w 27399132"/>
              <a:gd name="connsiteY0" fmla="*/ 0 h 27536983"/>
              <a:gd name="connsiteX1" fmla="*/ 27399132 w 27399132"/>
              <a:gd name="connsiteY1" fmla="*/ 0 h 27536983"/>
              <a:gd name="connsiteX2" fmla="*/ 27399132 w 27399132"/>
              <a:gd name="connsiteY2" fmla="*/ 2699583 h 27536983"/>
              <a:gd name="connsiteX3" fmla="*/ 27399132 w 27399132"/>
              <a:gd name="connsiteY3" fmla="*/ 10244819 h 27536983"/>
              <a:gd name="connsiteX4" fmla="*/ 27399132 w 27399132"/>
              <a:gd name="connsiteY4" fmla="*/ 15231501 h 27536983"/>
              <a:gd name="connsiteX5" fmla="*/ 27399132 w 27399132"/>
              <a:gd name="connsiteY5" fmla="*/ 27435951 h 27536983"/>
              <a:gd name="connsiteX6" fmla="*/ 27399132 w 27399132"/>
              <a:gd name="connsiteY6" fmla="*/ 27536983 h 27536983"/>
              <a:gd name="connsiteX7" fmla="*/ 979766 w 27399132"/>
              <a:gd name="connsiteY7" fmla="*/ 27536983 h 27536983"/>
              <a:gd name="connsiteX8" fmla="*/ 979766 w 27399132"/>
              <a:gd name="connsiteY8" fmla="*/ 16157611 h 27536983"/>
              <a:gd name="connsiteX9" fmla="*/ 0 w 27399132"/>
              <a:gd name="connsiteY9" fmla="*/ 16157611 h 27536983"/>
              <a:gd name="connsiteX10" fmla="*/ 0 w 27399132"/>
              <a:gd name="connsiteY10" fmla="*/ 10244819 h 27536983"/>
              <a:gd name="connsiteX11" fmla="*/ 12463684 w 27399132"/>
              <a:gd name="connsiteY11" fmla="*/ 10244819 h 27536983"/>
              <a:gd name="connsiteX12" fmla="*/ 12463684 w 27399132"/>
              <a:gd name="connsiteY12" fmla="*/ 2699583 h 27536983"/>
              <a:gd name="connsiteX13" fmla="*/ 12828700 w 27399132"/>
              <a:gd name="connsiteY13" fmla="*/ 2699583 h 2753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399132" h="27536983">
                <a:moveTo>
                  <a:pt x="12828700" y="0"/>
                </a:moveTo>
                <a:lnTo>
                  <a:pt x="27399132" y="0"/>
                </a:lnTo>
                <a:lnTo>
                  <a:pt x="27399132" y="2699583"/>
                </a:lnTo>
                <a:lnTo>
                  <a:pt x="27399132" y="10244819"/>
                </a:lnTo>
                <a:lnTo>
                  <a:pt x="27399132" y="15231501"/>
                </a:lnTo>
                <a:lnTo>
                  <a:pt x="27399132" y="27435951"/>
                </a:lnTo>
                <a:lnTo>
                  <a:pt x="27399132" y="27536983"/>
                </a:lnTo>
                <a:lnTo>
                  <a:pt x="979766" y="27536983"/>
                </a:lnTo>
                <a:lnTo>
                  <a:pt x="979766" y="16157611"/>
                </a:lnTo>
                <a:lnTo>
                  <a:pt x="0" y="16157611"/>
                </a:lnTo>
                <a:lnTo>
                  <a:pt x="0" y="10244819"/>
                </a:lnTo>
                <a:lnTo>
                  <a:pt x="12463684" y="10244819"/>
                </a:lnTo>
                <a:lnTo>
                  <a:pt x="12463684" y="2699583"/>
                </a:lnTo>
                <a:lnTo>
                  <a:pt x="12828700" y="2699583"/>
                </a:lnTo>
                <a:close/>
              </a:path>
            </a:pathLst>
          </a:custGeom>
          <a:noFill/>
          <a:ln w="76200" cap="rnd" cmpd="sng">
            <a:solidFill>
              <a:srgbClr val="FFC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197" name="Straight Connector 1196">
            <a:extLst>
              <a:ext uri="{FF2B5EF4-FFF2-40B4-BE49-F238E27FC236}">
                <a16:creationId xmlns:a16="http://schemas.microsoft.com/office/drawing/2014/main" id="{A2383C05-6C5B-01AE-55BB-DD95F14B77BF}"/>
              </a:ext>
            </a:extLst>
          </p:cNvPr>
          <p:cNvCxnSpPr/>
          <p:nvPr/>
        </p:nvCxnSpPr>
        <p:spPr>
          <a:xfrm>
            <a:off x="25511818" y="22863781"/>
            <a:ext cx="1512000" cy="0"/>
          </a:xfrm>
          <a:prstGeom prst="line">
            <a:avLst/>
          </a:prstGeom>
          <a:ln w="38100">
            <a:solidFill>
              <a:srgbClr val="B01D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70650DF9-8CF7-E39F-6EE7-36F5221B8E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47" r="1762"/>
          <a:stretch/>
        </p:blipFill>
        <p:spPr>
          <a:xfrm>
            <a:off x="12392378" y="25306029"/>
            <a:ext cx="13236851" cy="9887597"/>
          </a:xfrm>
          <a:prstGeom prst="rect">
            <a:avLst/>
          </a:prstGeom>
          <a:ln w="76200">
            <a:solidFill>
              <a:srgbClr val="B2B2B2"/>
            </a:solidFill>
          </a:ln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376FDFEF-AC0D-8044-52EA-74DAA2491CDE}"/>
              </a:ext>
            </a:extLst>
          </p:cNvPr>
          <p:cNvGrpSpPr/>
          <p:nvPr/>
        </p:nvGrpSpPr>
        <p:grpSpPr>
          <a:xfrm>
            <a:off x="20385682" y="119994"/>
            <a:ext cx="15738492" cy="3035971"/>
            <a:chOff x="11684000" y="16338"/>
            <a:chExt cx="15738492" cy="303597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F634299-D93D-E554-54FD-0071A0ECF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477"/>
            <a:stretch/>
          </p:blipFill>
          <p:spPr>
            <a:xfrm>
              <a:off x="11684000" y="16338"/>
              <a:ext cx="15468600" cy="210228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015AFFE-E03F-BD22-4122-1A1AD8A83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87192" y="1947409"/>
              <a:ext cx="15735300" cy="1104900"/>
            </a:xfrm>
            <a:prstGeom prst="rect">
              <a:avLst/>
            </a:prstGeom>
            <a:effectLst/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480CD90-316A-4147-86A4-5BDF484C0A04}"/>
              </a:ext>
            </a:extLst>
          </p:cNvPr>
          <p:cNvGrpSpPr/>
          <p:nvPr/>
        </p:nvGrpSpPr>
        <p:grpSpPr>
          <a:xfrm>
            <a:off x="224881" y="-72386"/>
            <a:ext cx="11684000" cy="10443819"/>
            <a:chOff x="0" y="0"/>
            <a:chExt cx="11684000" cy="1044381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4091968-DA4F-6CB5-BC8C-FE0D83400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497" t="8294" r="1791" b="9236"/>
            <a:stretch/>
          </p:blipFill>
          <p:spPr>
            <a:xfrm>
              <a:off x="0" y="0"/>
              <a:ext cx="11684000" cy="259805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C484364-44D1-1198-8BE0-356CB9389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271" t="21732"/>
            <a:stretch/>
          </p:blipFill>
          <p:spPr>
            <a:xfrm>
              <a:off x="0" y="2581444"/>
              <a:ext cx="9674005" cy="7862375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025C9A5A-839A-70C6-0C01-5A17A11BFA1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66" t="6861" r="1230" b="5216"/>
          <a:stretch/>
        </p:blipFill>
        <p:spPr>
          <a:xfrm>
            <a:off x="36463970" y="51495"/>
            <a:ext cx="13910316" cy="3484795"/>
          </a:xfrm>
          <a:prstGeom prst="rect">
            <a:avLst/>
          </a:prstGeom>
          <a:solidFill>
            <a:schemeClr val="bg1"/>
          </a:solidFill>
          <a:ln w="57150">
            <a:solidFill>
              <a:srgbClr val="0F77C2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DACED53-FBF4-E0CF-9215-688CAC16369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957" b="1761"/>
          <a:stretch/>
        </p:blipFill>
        <p:spPr>
          <a:xfrm>
            <a:off x="33947210" y="3516519"/>
            <a:ext cx="16452740" cy="520263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AA62097-703C-5726-0C9F-747EEF76D49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790" t="-1" b="43931"/>
          <a:stretch/>
        </p:blipFill>
        <p:spPr>
          <a:xfrm>
            <a:off x="0" y="22076105"/>
            <a:ext cx="12073980" cy="2563472"/>
          </a:xfrm>
          <a:prstGeom prst="rect">
            <a:avLst/>
          </a:prstGeom>
          <a:ln w="76200"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E0447DB-D7C4-9E92-256B-A7862088C2ED}"/>
                  </a:ext>
                </a:extLst>
              </p:cNvPr>
              <p:cNvSpPr txBox="1"/>
              <p:nvPr/>
            </p:nvSpPr>
            <p:spPr>
              <a:xfrm>
                <a:off x="-106076" y="25354439"/>
                <a:ext cx="11825097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6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L-signature</a:t>
                </a:r>
                <a:r>
                  <a:rPr kumimoji="0" lang="en-GB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kumimoji="0" lang="en-GB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GB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𝓚</m:t>
                        </m:r>
                        <m:r>
                          <a:rPr kumimoji="0" lang="en-GB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GB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𝓕</m:t>
                        </m:r>
                        <m:r>
                          <a:rPr kumimoji="0" lang="en-GB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GB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𝓟</m:t>
                        </m:r>
                      </m:e>
                    </m:d>
                  </m:oMath>
                </a14:m>
                <a:endParaRPr kumimoji="0" lang="en-GB" sz="3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	(</a:t>
                </a:r>
                <a14:m>
                  <m:oMath xmlns:m="http://schemas.openxmlformats.org/officeDocument/2006/math">
                    <m:r>
                      <a:rPr kumimoji="0" lang="en-GB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𝒦</m:t>
                    </m:r>
                    <m:r>
                      <a:rPr kumimoji="0" lang="en-GB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r>
                      <m:rPr>
                        <m:nor/>
                      </m:rPr>
                      <a:rPr kumimoji="0" lang="en-GB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consts</m:t>
                    </m:r>
                    <m:r>
                      <a:rPr kumimoji="0" lang="en-GB" sz="3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,</m:t>
                    </m:r>
                    <m:r>
                      <a:rPr kumimoji="0" lang="en-GB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ℱ</m:t>
                    </m:r>
                    <m:r>
                      <a:rPr kumimoji="0" lang="en-GB" sz="3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r>
                      <m:rPr>
                        <m:nor/>
                      </m:rPr>
                      <a:rPr kumimoji="0" lang="en-GB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func. symbols</m:t>
                    </m:r>
                    <m:r>
                      <a:rPr kumimoji="0" lang="en-GB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,</m:t>
                    </m:r>
                    <m:r>
                      <a:rPr kumimoji="0" lang="en-GB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𝒫</m:t>
                    </m:r>
                    <m:r>
                      <a:rPr kumimoji="0" lang="en-GB" sz="3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r>
                      <m:rPr>
                        <m:nor/>
                      </m:rPr>
                      <a:rPr kumimoji="0" lang="en-GB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(not </m:t>
                    </m:r>
                    <m:r>
                      <a:rPr kumimoji="0" lang="en-GB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∅</m:t>
                    </m:r>
                    <m:r>
                      <m:rPr>
                        <m:nor/>
                      </m:rPr>
                      <a:rPr kumimoji="0" lang="en-GB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</m:t>
                    </m:r>
                    <m:r>
                      <m:rPr>
                        <m:nor/>
                      </m:rPr>
                      <a:rPr kumimoji="0" lang="en-GB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m:rPr>
                        <m:nor/>
                      </m:rPr>
                      <a:rPr kumimoji="0" lang="en-GB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predicates</m:t>
                    </m:r>
                  </m:oMath>
                </a14:m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600" b="0" i="1" u="none" strike="noStrike" kern="1200" cap="none" spc="0" normalizeH="0" baseline="0" noProof="0">
                    <a:ln>
                      <a:noFill/>
                    </a:ln>
                    <a:solidFill>
                      <a:srgbClr val="B2B2B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	</a:t>
                </a:r>
                <a:r>
                  <a:rPr kumimoji="0" lang="en-GB" sz="3600" b="0" i="1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functions / predicates have arities: e.g. 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mother/1</a:t>
                </a:r>
                <a:endParaRPr kumimoji="0" lang="en-GB" sz="3600" b="0" i="1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E0447DB-D7C4-9E92-256B-A7862088C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6076" y="25354439"/>
                <a:ext cx="11825097" cy="1754326"/>
              </a:xfrm>
              <a:prstGeom prst="rect">
                <a:avLst/>
              </a:prstGeom>
              <a:blipFill>
                <a:blip r:embed="rId10"/>
                <a:stretch>
                  <a:fillRect l="-1599" t="-4861" r="-619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C50D151-2171-47B8-A53A-02963D55D893}"/>
              </a:ext>
            </a:extLst>
          </p:cNvPr>
          <p:cNvCxnSpPr/>
          <p:nvPr/>
        </p:nvCxnSpPr>
        <p:spPr>
          <a:xfrm>
            <a:off x="-520815" y="24997037"/>
            <a:ext cx="12204815" cy="0"/>
          </a:xfrm>
          <a:prstGeom prst="line">
            <a:avLst/>
          </a:prstGeom>
          <a:ln w="38100">
            <a:solidFill>
              <a:srgbClr val="B2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46DA9DC-3149-B42D-7449-92F2CC8DCEA8}"/>
              </a:ext>
            </a:extLst>
          </p:cNvPr>
          <p:cNvCxnSpPr/>
          <p:nvPr/>
        </p:nvCxnSpPr>
        <p:spPr>
          <a:xfrm>
            <a:off x="-295934" y="22008262"/>
            <a:ext cx="12204815" cy="0"/>
          </a:xfrm>
          <a:prstGeom prst="line">
            <a:avLst/>
          </a:prstGeom>
          <a:ln w="38100">
            <a:solidFill>
              <a:srgbClr val="B2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3D4A333-D4DA-0A27-6175-78519DB03AE8}"/>
              </a:ext>
            </a:extLst>
          </p:cNvPr>
          <p:cNvGrpSpPr/>
          <p:nvPr/>
        </p:nvGrpSpPr>
        <p:grpSpPr>
          <a:xfrm>
            <a:off x="-165996" y="11752207"/>
            <a:ext cx="11885014" cy="10031251"/>
            <a:chOff x="-1" y="10486309"/>
            <a:chExt cx="13616259" cy="1149246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CAFCB81-D4D4-C2B9-68ED-7CF8AF784830}"/>
                </a:ext>
              </a:extLst>
            </p:cNvPr>
            <p:cNvGrpSpPr/>
            <p:nvPr/>
          </p:nvGrpSpPr>
          <p:grpSpPr>
            <a:xfrm>
              <a:off x="-1" y="10486309"/>
              <a:ext cx="13616259" cy="11492465"/>
              <a:chOff x="11684000" y="10735708"/>
              <a:chExt cx="12153900" cy="10258197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B686804-0850-00C4-DBAA-BE116655AE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684000" y="10735708"/>
                <a:ext cx="6629400" cy="38481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A1803BF6-5930-20EC-DB6C-36CD97DDFA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684000" y="18784105"/>
                <a:ext cx="12153900" cy="2209800"/>
              </a:xfrm>
              <a:prstGeom prst="rect">
                <a:avLst/>
              </a:prstGeom>
            </p:spPr>
          </p:pic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9F01DD36-ED21-A775-79AB-5D4485C40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14647021"/>
              <a:ext cx="7723194" cy="5077680"/>
            </a:xfrm>
            <a:prstGeom prst="rect">
              <a:avLst/>
            </a:prstGeom>
          </p:spPr>
        </p:pic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3FEE3A02-7A5A-D62A-91DE-3922691D3B25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43873" b="-1"/>
          <a:stretch/>
        </p:blipFill>
        <p:spPr>
          <a:xfrm>
            <a:off x="-135130" y="29070618"/>
            <a:ext cx="12377618" cy="904250"/>
          </a:xfrm>
          <a:prstGeom prst="rect">
            <a:avLst/>
          </a:prstGeom>
        </p:spPr>
      </p:pic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AA1F0A16-6D69-4B87-F6A8-8599B95A74F1}"/>
              </a:ext>
            </a:extLst>
          </p:cNvPr>
          <p:cNvGrpSpPr/>
          <p:nvPr/>
        </p:nvGrpSpPr>
        <p:grpSpPr>
          <a:xfrm>
            <a:off x="-151819" y="27210352"/>
            <a:ext cx="12470984" cy="1608125"/>
            <a:chOff x="-151819" y="26465322"/>
            <a:chExt cx="12470984" cy="1608125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1D6D549-229F-8B24-3D93-8A9930264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b="56733"/>
            <a:stretch/>
          </p:blipFill>
          <p:spPr>
            <a:xfrm>
              <a:off x="-151819" y="26465322"/>
              <a:ext cx="12377618" cy="69705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640B3321-10EA-5A63-DC9E-495498ADB48C}"/>
                    </a:ext>
                  </a:extLst>
                </p:cNvPr>
                <p:cNvSpPr txBox="1"/>
                <p:nvPr/>
              </p:nvSpPr>
              <p:spPr>
                <a:xfrm>
                  <a:off x="-52721" y="27266688"/>
                  <a:ext cx="4485372" cy="8067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domain of discourse (the objects): </a:t>
                  </a:r>
                  <a14:m>
                    <m:oMath xmlns:m="http://schemas.openxmlformats.org/officeDocument/2006/math"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𝑑𝑜𝑚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a14:m>
                  <a:endPara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640B3321-10EA-5A63-DC9E-495498ADB4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2721" y="27266688"/>
                  <a:ext cx="4485372" cy="806759"/>
                </a:xfrm>
                <a:prstGeom prst="rect">
                  <a:avLst/>
                </a:prstGeom>
                <a:blipFill>
                  <a:blip r:embed="rId15"/>
                  <a:stretch>
                    <a:fillRect l="-3397" t="-24242" b="-2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4" name="TextBox 1023">
                  <a:extLst>
                    <a:ext uri="{FF2B5EF4-FFF2-40B4-BE49-F238E27FC236}">
                      <a16:creationId xmlns:a16="http://schemas.microsoft.com/office/drawing/2014/main" id="{DCEE3566-BC85-F0BC-C643-B39B6B64092C}"/>
                    </a:ext>
                  </a:extLst>
                </p:cNvPr>
                <p:cNvSpPr txBox="1"/>
                <p:nvPr/>
              </p:nvSpPr>
              <p:spPr>
                <a:xfrm>
                  <a:off x="4375500" y="27264031"/>
                  <a:ext cx="7943665" cy="8067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interpretation: specifies meanings: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GB" sz="3200" b="0" i="1" u="none" strike="noStrike" kern="1200" cap="none" spc="-30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  <m:r>
                        <a:rPr kumimoji="0" lang="en-GB" sz="3200" b="0" i="1" u="none" strike="noStrike" kern="1200" cap="none" spc="-30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↦</m:t>
                      </m:r>
                      <m:sSub>
                        <m:sSubPr>
                          <m:ctrlPr>
                            <a:rPr kumimoji="0" lang="en-GB" sz="3200" b="0" i="1" u="none" strike="noStrike" kern="1200" cap="none" spc="-30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-30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e>
                        <m:sub>
                          <m:r>
                            <a:rPr kumimoji="0" lang="en-GB" sz="3200" b="0" i="1" u="none" strike="noStrike" kern="1200" cap="none" spc="-30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sub>
                      </m:sSub>
                      <m:r>
                        <a:rPr kumimoji="0" lang="en-GB" sz="3200" b="0" i="1" u="none" strike="noStrike" kern="1200" cap="none" spc="-30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r>
                        <a:rPr kumimoji="0" lang="en-GB" sz="3200" b="0" i="1" u="none" strike="noStrike" kern="1200" cap="none" spc="-30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𝔻</m:t>
                      </m:r>
                      <m:r>
                        <a:rPr kumimoji="0" lang="en-GB" sz="3200" b="0" i="1" u="none" strike="noStrike" kern="1200" cap="none" spc="-30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</m:oMath>
                  </a14:m>
                  <a:r>
                    <a:rPr kumimoji="0" lang="en-GB" sz="3200" b="0" i="0" u="none" strike="noStrike" kern="1200" cap="none" spc="-30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     </a:t>
                  </a:r>
                  <a14:m>
                    <m:oMath xmlns:m="http://schemas.openxmlformats.org/officeDocument/2006/math">
                      <m:r>
                        <a:rPr kumimoji="0" lang="en-GB" sz="3200" b="0" i="1" u="none" strike="noStrike" kern="1200" cap="none" spc="-30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r>
                        <a:rPr kumimoji="0" lang="en-GB" sz="3200" b="0" i="1" u="none" strike="noStrike" kern="1200" cap="none" spc="-30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↦</m:t>
                      </m:r>
                      <m:sSub>
                        <m:sSubPr>
                          <m:ctrlPr>
                            <a:rPr kumimoji="0" lang="en-GB" sz="3200" b="0" i="1" u="none" strike="noStrike" kern="1200" cap="none" spc="-30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-30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0" lang="en-GB" sz="3200" b="0" i="1" u="none" strike="noStrike" kern="1200" cap="none" spc="-30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sub>
                      </m:sSub>
                      <m:r>
                        <a:rPr kumimoji="0" lang="en-GB" sz="3200" b="0" i="1" u="none" strike="noStrike" kern="1200" cap="none" spc="-30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:</m:t>
                      </m:r>
                      <m:d>
                        <m:dPr>
                          <m:ctrlPr>
                            <a:rPr kumimoji="0" lang="en-GB" sz="3200" b="0" i="1" u="none" strike="noStrike" kern="1200" cap="none" spc="-30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GB" sz="3200" b="0" i="1" u="none" strike="noStrike" kern="1200" cap="none" spc="-30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GB" sz="3200" b="0" i="1" u="none" strike="noStrike" kern="1200" cap="none" spc="-30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𝔻</m:t>
                              </m:r>
                            </m:e>
                            <m:sup>
                              <m:r>
                                <a:rPr kumimoji="0" lang="en-GB" sz="3200" b="0" i="1" u="none" strike="noStrike" kern="1200" cap="none" spc="-30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  <m:r>
                            <a:rPr kumimoji="0" lang="en-GB" sz="3200" b="0" i="1" u="none" strike="noStrike" kern="1200" cap="none" spc="-30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→</m:t>
                          </m:r>
                          <m:r>
                            <a:rPr kumimoji="0" lang="en-GB" sz="3200" b="0" i="1" u="none" strike="noStrike" kern="1200" cap="none" spc="-30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𝔻</m:t>
                          </m:r>
                        </m:e>
                      </m:d>
                      <m:r>
                        <a:rPr kumimoji="0" lang="en-GB" sz="3200" b="0" i="1" u="none" strike="noStrike" kern="1200" cap="none" spc="-30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</m:oMath>
                  </a14:m>
                  <a:r>
                    <a:rPr kumimoji="0" lang="en-GB" sz="3200" b="0" i="0" u="none" strike="noStrike" kern="1200" cap="none" spc="-30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     </a:t>
                  </a:r>
                  <a14:m>
                    <m:oMath xmlns:m="http://schemas.openxmlformats.org/officeDocument/2006/math">
                      <m:r>
                        <a:rPr kumimoji="0" lang="en-GB" sz="3200" b="0" i="1" u="none" strike="noStrike" kern="1200" cap="none" spc="-30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r>
                        <a:rPr kumimoji="0" lang="en-GB" sz="3200" b="0" i="1" u="none" strike="noStrike" kern="1200" cap="none" spc="-30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↦</m:t>
                      </m:r>
                      <m:sSub>
                        <m:sSubPr>
                          <m:ctrlPr>
                            <a:rPr kumimoji="0" lang="en-GB" sz="3200" b="0" i="1" u="none" strike="noStrike" kern="1200" cap="none" spc="-30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-30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kumimoji="0" lang="en-GB" sz="3200" b="0" i="1" u="none" strike="noStrike" kern="1200" cap="none" spc="-30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sub>
                      </m:sSub>
                      <m:r>
                        <a:rPr kumimoji="0" lang="en-GB" sz="3200" b="0" i="1" u="none" strike="noStrike" kern="1200" cap="none" spc="-30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⊆</m:t>
                      </m:r>
                      <m:sSup>
                        <m:sSupPr>
                          <m:ctrlPr>
                            <a:rPr kumimoji="0" lang="en-GB" sz="3200" b="0" i="1" u="none" strike="noStrike" kern="1200" cap="none" spc="-30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GB" sz="3200" b="0" i="1" u="none" strike="noStrike" kern="1200" cap="none" spc="-30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𝔻</m:t>
                          </m:r>
                        </m:e>
                        <m:sup>
                          <m:r>
                            <a:rPr kumimoji="0" lang="en-GB" sz="3200" b="0" i="1" u="none" strike="noStrike" kern="1200" cap="none" spc="-30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p>
                      </m:sSup>
                    </m:oMath>
                  </a14:m>
                  <a:endParaRPr kumimoji="0" lang="en-GB" sz="3200" b="0" i="0" u="none" strike="noStrike" kern="1200" cap="none" spc="-30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1024" name="TextBox 1023">
                  <a:extLst>
                    <a:ext uri="{FF2B5EF4-FFF2-40B4-BE49-F238E27FC236}">
                      <a16:creationId xmlns:a16="http://schemas.microsoft.com/office/drawing/2014/main" id="{DCEE3566-BC85-F0BC-C643-B39B6B6409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5500" y="27264031"/>
                  <a:ext cx="7943665" cy="806759"/>
                </a:xfrm>
                <a:prstGeom prst="rect">
                  <a:avLst/>
                </a:prstGeom>
                <a:blipFill>
                  <a:blip r:embed="rId16"/>
                  <a:stretch>
                    <a:fillRect l="-1995" t="-2424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5C01B376-B9F3-0BDB-62E4-D1031FF6A7BA}"/>
              </a:ext>
            </a:extLst>
          </p:cNvPr>
          <p:cNvGrpSpPr/>
          <p:nvPr/>
        </p:nvGrpSpPr>
        <p:grpSpPr>
          <a:xfrm>
            <a:off x="6667261" y="13794026"/>
            <a:ext cx="6371464" cy="5497942"/>
            <a:chOff x="13820375" y="19332243"/>
            <a:chExt cx="6371464" cy="5497942"/>
          </a:xfrm>
        </p:grpSpPr>
        <p:sp>
          <p:nvSpPr>
            <p:cNvPr id="1077" name="TextBox 1076">
              <a:extLst>
                <a:ext uri="{FF2B5EF4-FFF2-40B4-BE49-F238E27FC236}">
                  <a16:creationId xmlns:a16="http://schemas.microsoft.com/office/drawing/2014/main" id="{18A3AA41-120F-584D-A147-2D3DFCED2A17}"/>
                </a:ext>
              </a:extLst>
            </p:cNvPr>
            <p:cNvSpPr txBox="1"/>
            <p:nvPr/>
          </p:nvSpPr>
          <p:spPr>
            <a:xfrm>
              <a:off x="13820375" y="19332243"/>
              <a:ext cx="6242718" cy="5497942"/>
            </a:xfrm>
            <a:prstGeom prst="rect">
              <a:avLst/>
            </a:prstGeom>
            <a:noFill/>
            <a:ln w="76200">
              <a:solidFill>
                <a:srgbClr val="B2B2B2"/>
              </a:solidFill>
            </a:ln>
          </p:spPr>
          <p:txBody>
            <a:bodyPr wrap="square" rtlCol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2" name="TextBox 1041">
                  <a:extLst>
                    <a:ext uri="{FF2B5EF4-FFF2-40B4-BE49-F238E27FC236}">
                      <a16:creationId xmlns:a16="http://schemas.microsoft.com/office/drawing/2014/main" id="{F233DA32-6599-E8AA-2073-A64822C5B242}"/>
                    </a:ext>
                  </a:extLst>
                </p:cNvPr>
                <p:cNvSpPr txBox="1"/>
                <p:nvPr/>
              </p:nvSpPr>
              <p:spPr>
                <a:xfrm>
                  <a:off x="13892283" y="19343535"/>
                  <a:ext cx="6299556" cy="5463803"/>
                </a:xfrm>
                <a:prstGeom prst="rect">
                  <a:avLst/>
                </a:prstGeom>
                <a:noFill/>
                <a:ln w="762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1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Show that </a:t>
                  </a:r>
                  <a14:m>
                    <m:oMath xmlns:m="http://schemas.openxmlformats.org/officeDocument/2006/math">
                      <m:r>
                        <a:rPr kumimoji="0" lang="en-GB" sz="3200" b="1" i="1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𝑴</m:t>
                      </m:r>
                      <m:r>
                        <a:rPr kumimoji="0" lang="en-GB" sz="3200" b="1" i="1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en-GB" sz="3200" b="1" i="1" u="sng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77C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1" i="1" u="sng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77C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𝒉</m:t>
                          </m:r>
                        </m:e>
                        <m:sub>
                          <m:r>
                            <a:rPr kumimoji="0" lang="en-GB" sz="3200" b="1" i="1" u="sng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77C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</m:t>
                          </m:r>
                        </m:sub>
                      </m:sSub>
                      <m:r>
                        <a:rPr kumimoji="0" lang="en-GB" sz="3200" b="1" i="1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⊨∀</m:t>
                      </m:r>
                      <m:r>
                        <a:rPr kumimoji="0" lang="en-GB" sz="3200" b="1" i="1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𝒙</m:t>
                      </m:r>
                      <m:r>
                        <a:rPr kumimoji="0" lang="en-GB" sz="3200" b="1" i="1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∃</m:t>
                      </m:r>
                      <m:r>
                        <a:rPr kumimoji="0" lang="en-GB" sz="3200" b="1" i="1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𝒚</m:t>
                      </m:r>
                      <m:r>
                        <a:rPr kumimoji="0" lang="en-GB" sz="3200" b="1" i="1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GB" sz="3200" b="1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𝐑</m:t>
                      </m:r>
                      <m:r>
                        <a:rPr kumimoji="0" lang="en-GB" sz="3200" b="1" i="1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GB" sz="3200" b="1" i="1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𝒙</m:t>
                      </m:r>
                      <m:r>
                        <a:rPr kumimoji="0" lang="en-GB" sz="3200" b="1" i="1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a:rPr kumimoji="0" lang="en-GB" sz="3200" b="1" i="1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𝒚</m:t>
                      </m:r>
                      <m:r>
                        <a:rPr kumimoji="0" lang="en-GB" sz="3200" b="1" i="1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endParaRPr kumimoji="0" lang="en-GB" sz="3200" b="1" i="0" u="sng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For this to be true, we require </a:t>
                  </a:r>
                  <a14:m>
                    <m:oMath xmlns:m="http://schemas.openxmlformats.org/officeDocument/2006/math"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𝑔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⊨∃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GB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R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for every assignment </a:t>
                  </a:r>
                  <a14:m>
                    <m:oMath xmlns:m="http://schemas.openxmlformats.org/officeDocument/2006/math"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𝑔</m:t>
                      </m:r>
                    </m:oMath>
                  </a14:m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over </a:t>
                  </a:r>
                  <a14:m>
                    <m:oMath xmlns:m="http://schemas.openxmlformats.org/officeDocument/2006/math"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</m:oMath>
                  </a14:m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with </a:t>
                  </a:r>
                  <a14:m>
                    <m:oMath xmlns:m="http://schemas.openxmlformats.org/officeDocument/2006/math"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𝑔</m:t>
                      </m:r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</m:e>
                        <m: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ℎ</m:t>
                          </m:r>
                        </m:e>
                        <m: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a14:m>
                  <a:endPara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These are: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ℎ</m:t>
                          </m:r>
                        </m:e>
                        <m: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sub>
                      </m:sSub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ℎ</m:t>
                          </m:r>
                        </m:e>
                        <m: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</m:t>
                          </m:r>
                        </m:sub>
                      </m:sSub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ℎ</m:t>
                          </m:r>
                        </m:e>
                        <m: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a14:m>
                  <a:endPara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  <a:p>
                  <a:pPr marL="285750" marR="0" lvl="0" indent="-28575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77C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77C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ℎ</m:t>
                          </m:r>
                        </m:e>
                        <m: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77C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sub>
                      </m:sSub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⊨∃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GB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R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a14:m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, because</a:t>
                  </a:r>
                </a:p>
                <a:p>
                  <a:pPr marL="457200" marR="0" lvl="1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ℎ</m:t>
                          </m:r>
                        </m:e>
                        <m: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</m:e>
                        <m: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ℎ</m:t>
                          </m:r>
                        </m:e>
                        <m: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and </a:t>
                  </a:r>
                  <a14:m>
                    <m:oMath xmlns:m="http://schemas.openxmlformats.org/officeDocument/2006/math"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ℎ</m:t>
                          </m:r>
                        </m:e>
                        <m: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sub>
                      </m:sSub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⊨</m:t>
                      </m:r>
                      <m:r>
                        <m:rPr>
                          <m:sty m:val="p"/>
                        </m:rPr>
                        <a:rPr kumimoji="0" lang="en-GB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R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a14:m>
                  <a:endPara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  <a:p>
                  <a:pPr marL="285750" marR="0" lvl="0" indent="-28575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77C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77C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ℎ</m:t>
                          </m:r>
                        </m:e>
                        <m: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77C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</m:t>
                          </m:r>
                        </m:sub>
                      </m:sSub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⊨∃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GB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R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a14:m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F77C2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, </a:t>
                  </a: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because</a:t>
                  </a:r>
                </a:p>
                <a:p>
                  <a:pPr marL="457200" marR="0" lvl="1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ℎ</m:t>
                          </m:r>
                        </m:e>
                        <m: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</m:t>
                          </m:r>
                        </m:sub>
                      </m:sSub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</m:e>
                        <m: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ℎ</m:t>
                          </m:r>
                        </m:e>
                        <m: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a14:m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and </a:t>
                  </a:r>
                  <a14:m>
                    <m:oMath xmlns:m="http://schemas.openxmlformats.org/officeDocument/2006/math"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ℎ</m:t>
                          </m:r>
                        </m:e>
                        <m: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</m:t>
                          </m:r>
                        </m:sub>
                      </m:sSub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⊨</m:t>
                      </m:r>
                      <m:r>
                        <m:rPr>
                          <m:sty m:val="p"/>
                        </m:rPr>
                        <a:rPr kumimoji="0" lang="en-GB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R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a14:m>
                  <a:endPara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  <a:p>
                  <a:pPr marL="285750" marR="0" lvl="0" indent="-28575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F77C2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(…)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So indeed, </a:t>
                  </a:r>
                  <a14:m>
                    <m:oMath xmlns:m="http://schemas.openxmlformats.org/officeDocument/2006/math"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77C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77C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ℎ</m:t>
                          </m:r>
                        </m:e>
                        <m:sub>
                          <m:r>
                            <a:rPr kumimoji="0" lang="en-GB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77C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sub>
                      </m:sSub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⊨∀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∃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GB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R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endPara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1042" name="TextBox 1041">
                  <a:extLst>
                    <a:ext uri="{FF2B5EF4-FFF2-40B4-BE49-F238E27FC236}">
                      <a16:creationId xmlns:a16="http://schemas.microsoft.com/office/drawing/2014/main" id="{F233DA32-6599-E8AA-2073-A64822C5B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92283" y="19343535"/>
                  <a:ext cx="6299556" cy="5463803"/>
                </a:xfrm>
                <a:prstGeom prst="rect">
                  <a:avLst/>
                </a:prstGeom>
                <a:blipFill>
                  <a:blip r:embed="rId17"/>
                  <a:stretch>
                    <a:fillRect l="-2517" t="-1339" b="-2902"/>
                  </a:stretch>
                </a:blipFill>
                <a:ln w="76200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50" name="TextBox 1049">
                <a:extLst>
                  <a:ext uri="{FF2B5EF4-FFF2-40B4-BE49-F238E27FC236}">
                    <a16:creationId xmlns:a16="http://schemas.microsoft.com/office/drawing/2014/main" id="{0C5E37F6-B626-9291-9411-C71EEE25CD59}"/>
                  </a:ext>
                </a:extLst>
              </p:cNvPr>
              <p:cNvSpPr txBox="1"/>
              <p:nvPr/>
            </p:nvSpPr>
            <p:spPr>
              <a:xfrm>
                <a:off x="28132344" y="14741079"/>
                <a:ext cx="9284477" cy="4158703"/>
              </a:xfrm>
              <a:prstGeom prst="rect">
                <a:avLst/>
              </a:prstGeom>
              <a:ln w="76200">
                <a:solidFill>
                  <a:srgbClr val="B2B2B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Direct </a:t>
                </a:r>
                <a:r>
                  <a:rPr kumimoji="0" lang="en-GB" sz="3200" b="0" i="0" u="none" strike="noStrike" kern="1200" cap="none" spc="0" normalizeH="0" baseline="0" noProof="0" err="1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arg</a:t>
                </a: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: satisfiability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show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F77C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  <m:d>
                          <m:dPr>
                            <m:ctrlPr>
                              <a:rPr kumimoji="0" lang="en-GB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GB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  <m:r>
                              <a:rPr kumimoji="0" lang="en-GB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a:rPr kumimoji="0" lang="en-GB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F77C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F77C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  <m:d>
                          <m:dPr>
                            <m:ctrlPr>
                              <a:rPr kumimoji="0" lang="en-GB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GB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  <m:r>
                              <a:rPr kumimoji="0" lang="en-GB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a:rPr kumimoji="0" lang="en-GB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d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satisfiable</a:t>
                </a:r>
              </a:p>
              <a:p>
                <a:pPr marL="442913" marR="0" lvl="1" indent="-354013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Find structure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and assignment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ℎ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over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in which the formula is true</a:t>
                </a:r>
              </a:p>
              <a:p>
                <a:pPr marL="442913" marR="0" lvl="1" indent="-354013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Take an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where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𝑑𝑜𝑚</m:t>
                    </m:r>
                    <m:d>
                      <m:dPr>
                        <m:ctrlP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e>
                    </m:d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is natural numbers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ℕ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and the value of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in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is addition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.</a:t>
                </a:r>
              </a:p>
              <a:p>
                <a:pPr marL="442913" marR="0" lvl="1" indent="-354013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Let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ℎ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be </a:t>
                </a:r>
                <a:r>
                  <a:rPr kumimoji="0" lang="en-GB" sz="32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assgnmt</a:t>
                </a: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. in which </a:t>
                </a:r>
                <a:r>
                  <a:rPr kumimoji="0" lang="en-GB" sz="32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vals</a:t>
                </a: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of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are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2,4,9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</a:t>
                </a:r>
              </a:p>
              <a:p>
                <a:pPr marL="442913" marR="0" lvl="1" indent="-354013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Then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ℎ</m:t>
                    </m:r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⊨</m:t>
                    </m:r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𝑥𝑓</m:t>
                        </m:r>
                        <m:d>
                          <m:dPr>
                            <m:ctrlPr>
                              <a:rPr kumimoji="0" lang="en-GB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GB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  <m:r>
                              <a:rPr kumimoji="0" lang="en-GB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a:rPr kumimoji="0" lang="en-GB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  <m:d>
                          <m:dPr>
                            <m:ctrlPr>
                              <a:rPr kumimoji="0" lang="en-GB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GB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  <m:r>
                              <a:rPr kumimoji="0" lang="en-GB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a:rPr kumimoji="0" lang="en-GB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d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</m:oMath>
                </a14:m>
                <a:endParaRPr kumimoji="0" lang="en-GB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050" name="TextBox 1049">
                <a:extLst>
                  <a:ext uri="{FF2B5EF4-FFF2-40B4-BE49-F238E27FC236}">
                    <a16:creationId xmlns:a16="http://schemas.microsoft.com/office/drawing/2014/main" id="{0C5E37F6-B626-9291-9411-C71EEE25C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2344" y="14741079"/>
                <a:ext cx="9284477" cy="4158703"/>
              </a:xfrm>
              <a:prstGeom prst="rect">
                <a:avLst/>
              </a:prstGeom>
              <a:blipFill>
                <a:blip r:embed="rId18"/>
                <a:stretch>
                  <a:fillRect l="-1302" t="-863" b="-2446"/>
                </a:stretch>
              </a:blipFill>
              <a:ln w="76200">
                <a:solidFill>
                  <a:srgbClr val="B2B2B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68" name="Group 1067">
            <a:extLst>
              <a:ext uri="{FF2B5EF4-FFF2-40B4-BE49-F238E27FC236}">
                <a16:creationId xmlns:a16="http://schemas.microsoft.com/office/drawing/2014/main" id="{0A7D6D0F-6225-8B3B-CA4B-AC95429B521F}"/>
              </a:ext>
            </a:extLst>
          </p:cNvPr>
          <p:cNvGrpSpPr/>
          <p:nvPr/>
        </p:nvGrpSpPr>
        <p:grpSpPr>
          <a:xfrm>
            <a:off x="25624887" y="3667316"/>
            <a:ext cx="11829225" cy="7080182"/>
            <a:chOff x="25624887" y="3859820"/>
            <a:chExt cx="11829225" cy="7080182"/>
          </a:xfrm>
        </p:grpSpPr>
        <p:grpSp>
          <p:nvGrpSpPr>
            <p:cNvPr id="1056" name="Group 1055">
              <a:extLst>
                <a:ext uri="{FF2B5EF4-FFF2-40B4-BE49-F238E27FC236}">
                  <a16:creationId xmlns:a16="http://schemas.microsoft.com/office/drawing/2014/main" id="{C4DC31D0-DCB3-D7F0-BFE6-D27DE29C56A5}"/>
                </a:ext>
              </a:extLst>
            </p:cNvPr>
            <p:cNvGrpSpPr/>
            <p:nvPr/>
          </p:nvGrpSpPr>
          <p:grpSpPr>
            <a:xfrm>
              <a:off x="25803931" y="4125540"/>
              <a:ext cx="6859213" cy="5088475"/>
              <a:chOff x="25927711" y="3536290"/>
              <a:chExt cx="6859213" cy="5088475"/>
            </a:xfrm>
          </p:grpSpPr>
          <p:pic>
            <p:nvPicPr>
              <p:cNvPr id="1054" name="Picture 1053">
                <a:extLst>
                  <a:ext uri="{FF2B5EF4-FFF2-40B4-BE49-F238E27FC236}">
                    <a16:creationId xmlns:a16="http://schemas.microsoft.com/office/drawing/2014/main" id="{69B61DA0-AA2F-CE68-E8F0-34F420CE67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927711" y="3536290"/>
                <a:ext cx="6859213" cy="1646211"/>
              </a:xfrm>
              <a:prstGeom prst="rect">
                <a:avLst/>
              </a:prstGeom>
            </p:spPr>
          </p:pic>
          <p:pic>
            <p:nvPicPr>
              <p:cNvPr id="1055" name="Picture 1054">
                <a:extLst>
                  <a:ext uri="{FF2B5EF4-FFF2-40B4-BE49-F238E27FC236}">
                    <a16:creationId xmlns:a16="http://schemas.microsoft.com/office/drawing/2014/main" id="{FB70CBB4-49B6-CC40-13E4-690E7CDFBD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6907556" y="4929477"/>
                <a:ext cx="5785552" cy="3695288"/>
              </a:xfrm>
              <a:prstGeom prst="rect">
                <a:avLst/>
              </a:prstGeom>
            </p:spPr>
          </p:pic>
        </p:grpSp>
        <p:pic>
          <p:nvPicPr>
            <p:cNvPr id="1057" name="Picture 1056">
              <a:extLst>
                <a:ext uri="{FF2B5EF4-FFF2-40B4-BE49-F238E27FC236}">
                  <a16:creationId xmlns:a16="http://schemas.microsoft.com/office/drawing/2014/main" id="{6638641B-3F33-030D-D0DD-9519C300E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5796858" y="9214015"/>
              <a:ext cx="11247459" cy="1606781"/>
            </a:xfrm>
            <a:prstGeom prst="rect">
              <a:avLst/>
            </a:prstGeom>
          </p:spPr>
        </p:pic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C92DAB5D-08A1-528A-5319-B494701DD154}"/>
                </a:ext>
              </a:extLst>
            </p:cNvPr>
            <p:cNvSpPr/>
            <p:nvPr/>
          </p:nvSpPr>
          <p:spPr>
            <a:xfrm>
              <a:off x="25624887" y="3859820"/>
              <a:ext cx="11829225" cy="7080182"/>
            </a:xfrm>
            <a:custGeom>
              <a:avLst/>
              <a:gdLst>
                <a:gd name="connsiteX0" fmla="*/ 0 w 11580274"/>
                <a:gd name="connsiteY0" fmla="*/ 0 h 6750134"/>
                <a:gd name="connsiteX1" fmla="*/ 7255020 w 11580274"/>
                <a:gd name="connsiteY1" fmla="*/ 0 h 6750134"/>
                <a:gd name="connsiteX2" fmla="*/ 7255020 w 11580274"/>
                <a:gd name="connsiteY2" fmla="*/ 5103923 h 6750134"/>
                <a:gd name="connsiteX3" fmla="*/ 11580274 w 11580274"/>
                <a:gd name="connsiteY3" fmla="*/ 5103923 h 6750134"/>
                <a:gd name="connsiteX4" fmla="*/ 11580274 w 11580274"/>
                <a:gd name="connsiteY4" fmla="*/ 6750134 h 6750134"/>
                <a:gd name="connsiteX5" fmla="*/ 1516 w 11580274"/>
                <a:gd name="connsiteY5" fmla="*/ 6750134 h 6750134"/>
                <a:gd name="connsiteX6" fmla="*/ 1516 w 11580274"/>
                <a:gd name="connsiteY6" fmla="*/ 5288622 h 6750134"/>
                <a:gd name="connsiteX7" fmla="*/ 0 w 11580274"/>
                <a:gd name="connsiteY7" fmla="*/ 5288622 h 6750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580274" h="6750134">
                  <a:moveTo>
                    <a:pt x="0" y="0"/>
                  </a:moveTo>
                  <a:lnTo>
                    <a:pt x="7255020" y="0"/>
                  </a:lnTo>
                  <a:lnTo>
                    <a:pt x="7255020" y="5103923"/>
                  </a:lnTo>
                  <a:lnTo>
                    <a:pt x="11580274" y="5103923"/>
                  </a:lnTo>
                  <a:lnTo>
                    <a:pt x="11580274" y="6750134"/>
                  </a:lnTo>
                  <a:lnTo>
                    <a:pt x="1516" y="6750134"/>
                  </a:lnTo>
                  <a:lnTo>
                    <a:pt x="1516" y="5288622"/>
                  </a:lnTo>
                  <a:lnTo>
                    <a:pt x="0" y="5288622"/>
                  </a:lnTo>
                  <a:close/>
                </a:path>
              </a:pathLst>
            </a:cu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FB049E92-9307-8C05-64AB-6189E332BA28}"/>
              </a:ext>
            </a:extLst>
          </p:cNvPr>
          <p:cNvGrpSpPr/>
          <p:nvPr/>
        </p:nvGrpSpPr>
        <p:grpSpPr>
          <a:xfrm>
            <a:off x="67505" y="30248716"/>
            <a:ext cx="11761423" cy="4867640"/>
            <a:chOff x="564483" y="29882061"/>
            <a:chExt cx="11761423" cy="4867640"/>
          </a:xfrm>
        </p:grpSpPr>
        <p:grpSp>
          <p:nvGrpSpPr>
            <p:cNvPr id="1074" name="Group 1073">
              <a:extLst>
                <a:ext uri="{FF2B5EF4-FFF2-40B4-BE49-F238E27FC236}">
                  <a16:creationId xmlns:a16="http://schemas.microsoft.com/office/drawing/2014/main" id="{C442C255-9E3F-4D3C-B001-402FC62AA846}"/>
                </a:ext>
              </a:extLst>
            </p:cNvPr>
            <p:cNvGrpSpPr/>
            <p:nvPr/>
          </p:nvGrpSpPr>
          <p:grpSpPr>
            <a:xfrm>
              <a:off x="564483" y="29882061"/>
              <a:ext cx="11761423" cy="4867640"/>
              <a:chOff x="543121" y="29739906"/>
              <a:chExt cx="11761423" cy="4867640"/>
            </a:xfrm>
          </p:grpSpPr>
          <p:pic>
            <p:nvPicPr>
              <p:cNvPr id="1072" name="Picture 1071">
                <a:extLst>
                  <a:ext uri="{FF2B5EF4-FFF2-40B4-BE49-F238E27FC236}">
                    <a16:creationId xmlns:a16="http://schemas.microsoft.com/office/drawing/2014/main" id="{7231B61E-D6B0-0DD1-BEF6-D48FE274EA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43121" y="29739906"/>
                <a:ext cx="11661316" cy="2858166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73" name="TextBox 1072">
                    <a:extLst>
                      <a:ext uri="{FF2B5EF4-FFF2-40B4-BE49-F238E27FC236}">
                        <a16:creationId xmlns:a16="http://schemas.microsoft.com/office/drawing/2014/main" id="{2C25CCE7-D7F0-830A-3576-40D81602ECDC}"/>
                      </a:ext>
                    </a:extLst>
                  </p:cNvPr>
                  <p:cNvSpPr txBox="1"/>
                  <p:nvPr/>
                </p:nvSpPr>
                <p:spPr>
                  <a:xfrm>
                    <a:off x="808171" y="32520436"/>
                    <a:ext cx="11496373" cy="2087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IF </a:t>
                    </a:r>
                    <a14:m>
                      <m:oMath xmlns:m="http://schemas.openxmlformats.org/officeDocument/2006/math">
                        <m:r>
                          <a:rPr kumimoji="0" lang="en-GB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  <m:r>
                          <a:rPr kumimoji="0" lang="en-GB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⊨(…)</m:t>
                        </m:r>
                      </m:oMath>
                    </a14:m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 then </a:t>
                    </a:r>
                    <a:r>
                      <a:rPr kumimoji="0" lang="en-GB" sz="3600" b="0" i="0" u="none" strike="noStrike" kern="1200" cap="none" spc="0" normalizeH="0" baseline="0" noProof="0" err="1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a,b</a:t>
                    </a: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 name the same object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So </a:t>
                    </a:r>
                    <a14:m>
                      <m:oMath xmlns:m="http://schemas.openxmlformats.org/officeDocument/2006/math">
                        <m:r>
                          <a:rPr kumimoji="0" lang="en-GB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  <m:r>
                          <a:rPr kumimoji="0" lang="en-GB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⊨(…)</m:t>
                        </m:r>
                      </m:oMath>
                    </a14:m>
                    <a:endPara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So there is an object </a:t>
                    </a:r>
                    <a14:m>
                      <m:oMath xmlns:m="http://schemas.openxmlformats.org/officeDocument/2006/math">
                        <m:r>
                          <a:rPr kumimoji="0" lang="en-GB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oMath>
                    </a14:m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 in </a:t>
                    </a:r>
                    <a14:m>
                      <m:oMath xmlns:m="http://schemas.openxmlformats.org/officeDocument/2006/math">
                        <m:r>
                          <a:rPr kumimoji="0" lang="en-GB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𝑑𝑜𝑚</m:t>
                        </m:r>
                        <m:r>
                          <a:rPr kumimoji="0" lang="en-GB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GB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  <m:r>
                          <a:rPr kumimoji="0" lang="en-GB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oMath>
                    </a14:m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 such that … </a:t>
                    </a:r>
                    <a14:m>
                      <m:oMath xmlns:m="http://schemas.openxmlformats.org/officeDocument/2006/math">
                        <m:r>
                          <a:rPr kumimoji="0" lang="en-GB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  <m:r>
                          <a:rPr kumimoji="0" lang="en-GB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⊨(…)</m:t>
                        </m:r>
                      </m:oMath>
                    </a14:m>
                    <a:endPara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Therefore </a:t>
                    </a:r>
                    <a14:m>
                      <m:oMath xmlns:m="http://schemas.openxmlformats.org/officeDocument/2006/math">
                        <m:r>
                          <a:rPr kumimoji="0" lang="en-GB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  <m:r>
                          <a:rPr kumimoji="0" lang="en-GB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⊨(…)</m:t>
                        </m:r>
                      </m:oMath>
                    </a14:m>
                    <a:endPara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1073" name="TextBox 1072">
                    <a:extLst>
                      <a:ext uri="{FF2B5EF4-FFF2-40B4-BE49-F238E27FC236}">
                        <a16:creationId xmlns:a16="http://schemas.microsoft.com/office/drawing/2014/main" id="{2C25CCE7-D7F0-830A-3576-40D81602EC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8171" y="32520436"/>
                    <a:ext cx="11496373" cy="208711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1645" t="-6706" b="-10204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75" name="Rectangle 1074">
              <a:extLst>
                <a:ext uri="{FF2B5EF4-FFF2-40B4-BE49-F238E27FC236}">
                  <a16:creationId xmlns:a16="http://schemas.microsoft.com/office/drawing/2014/main" id="{1386491B-3486-98C1-2F88-E236A10EB473}"/>
                </a:ext>
              </a:extLst>
            </p:cNvPr>
            <p:cNvSpPr/>
            <p:nvPr/>
          </p:nvSpPr>
          <p:spPr>
            <a:xfrm>
              <a:off x="564483" y="29882061"/>
              <a:ext cx="11688210" cy="4867640"/>
            </a:xfrm>
            <a:prstGeom prst="rect">
              <a:avLst/>
            </a:prstGeom>
            <a:noFill/>
            <a:ln w="76200">
              <a:solidFill>
                <a:srgbClr val="B2B2B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65" name="Table 1164">
                <a:extLst>
                  <a:ext uri="{FF2B5EF4-FFF2-40B4-BE49-F238E27FC236}">
                    <a16:creationId xmlns:a16="http://schemas.microsoft.com/office/drawing/2014/main" id="{6BB11808-6460-41A7-C7FC-522EA0ADAC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505597" y="33138629"/>
              <a:ext cx="23868689" cy="1950720"/>
            </p:xfrm>
            <a:graphic>
              <a:graphicData uri="http://schemas.openxmlformats.org/drawingml/2006/table">
                <a:tbl>
                  <a:tblPr/>
                  <a:tblGrid>
                    <a:gridCol w="4060363">
                      <a:extLst>
                        <a:ext uri="{9D8B030D-6E8A-4147-A177-3AD203B41FA5}">
                          <a16:colId xmlns:a16="http://schemas.microsoft.com/office/drawing/2014/main" val="3091774129"/>
                        </a:ext>
                      </a:extLst>
                    </a:gridCol>
                    <a:gridCol w="9715500">
                      <a:extLst>
                        <a:ext uri="{9D8B030D-6E8A-4147-A177-3AD203B41FA5}">
                          <a16:colId xmlns:a16="http://schemas.microsoft.com/office/drawing/2014/main" val="3783056075"/>
                        </a:ext>
                      </a:extLst>
                    </a:gridCol>
                    <a:gridCol w="10092826">
                      <a:extLst>
                        <a:ext uri="{9D8B030D-6E8A-4147-A177-3AD203B41FA5}">
                          <a16:colId xmlns:a16="http://schemas.microsoft.com/office/drawing/2014/main" val="131362301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/>
                          <a14:m>
                            <m:oMath xmlns:m="http://schemas.openxmlformats.org/officeDocument/2006/math">
                              <m:r>
                                <a:rPr lang="en-GB" sz="3600" smtClean="0">
                                  <a:effectLst/>
                                  <a:latin typeface="Cambria Math" panose="02040503050406030204" pitchFamily="18" charset="0"/>
                                </a:rPr>
                                <m:t>𝑁𝑟𝑂𝑐𝑐𝑢𝑟𝑠</m:t>
                              </m:r>
                              <m:r>
                                <a:rPr lang="en-GB" sz="3600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GB" sz="3600" i="0">
                                  <a:effectLst/>
                                  <a:latin typeface="Calibri" panose="020F0502020204030204" pitchFamily="34" charset="0"/>
                                </a:rPr>
                                <m:t>a</m:t>
                              </m:r>
                              <m:r>
                                <a:rPr lang="en-GB" sz="3600">
                                  <a:effectLst/>
                                  <a:latin typeface="Cambria Math" panose="02040503050406030204" pitchFamily="18" charset="0"/>
                                </a:rPr>
                                <m:t>[..),</m:t>
                              </m:r>
                              <m:r>
                                <a:rPr lang="en-GB" sz="3600">
                                  <a:effectLst/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GB" sz="36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GB" sz="3600"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fontAlgn="t">
                            <a:buNone/>
                          </a:pPr>
                          <a:r>
                            <a:rPr lang="en-GB" sz="3600">
                              <a:solidFill>
                                <a:srgbClr val="004F8B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# occurrences</a:t>
                          </a:r>
                          <a:r>
                            <a:rPr lang="en-GB" sz="3600">
                              <a:effectLst/>
                              <a:latin typeface="Calibri" panose="020F0502020204030204" pitchFamily="34" charset="0"/>
                            </a:rPr>
                            <a:t> of </a:t>
                          </a:r>
                          <a14:m>
                            <m:oMath xmlns:m="http://schemas.openxmlformats.org/officeDocument/2006/math">
                              <m:r>
                                <a:rPr lang="en-GB" sz="3600">
                                  <a:effectLst/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GB" sz="3600">
                              <a:effectLst/>
                              <a:latin typeface="Calibri" panose="020F0502020204030204" pitchFamily="34" charset="0"/>
                            </a:rPr>
                            <a:t> in </a:t>
                          </a:r>
                          <a:r>
                            <a:rPr lang="en-GB" sz="3600">
                              <a:solidFill>
                                <a:srgbClr val="008C3A"/>
                              </a:solidFill>
                              <a:effectLst/>
                              <a:latin typeface="Consolas" panose="020B0609020204030204" pitchFamily="49" charset="0"/>
                            </a:rPr>
                            <a:t>a</a:t>
                          </a:r>
                          <a:endParaRPr lang="en-GB" sz="3600">
                            <a:effectLst/>
                          </a:endParaRPr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0" lang="x-IV_mathan" sz="3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x-IV_mathan" sz="3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kumimoji="0" lang="x-IV_mathan" sz="3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x-IV_mathan" sz="3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0" lang="x-IV_mathan" sz="36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𝑘</m:t>
                                      </m:r>
                                      <m:r>
                                        <a:rPr kumimoji="0" lang="x-IV_mathan" sz="3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0" lang="x-IV_mathan" sz="36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|</m:t>
                                      </m:r>
                                      <m:r>
                                        <a:rPr kumimoji="0" lang="x-IV_mathan" sz="3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kumimoji="0" lang="x-IV_mathan" sz="36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a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kumimoji="0" lang="x-IV_mathan" sz="36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x-IV_mathan" sz="36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  <m:r>
                                        <a:rPr kumimoji="0" lang="x-IV_mathan" sz="36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=</m:t>
                                      </m:r>
                                      <m:r>
                                        <a:rPr kumimoji="0" lang="x-IV_mathan" sz="36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𝑣</m:t>
                                      </m:r>
                                      <m:r>
                                        <a:rPr kumimoji="0" lang="x-IV_mathan" sz="3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</m:e>
                                  </m:d>
                                  <m:r>
                                    <a:rPr kumimoji="0" lang="x-IV_mathan" sz="3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</m:e>
                              </m:d>
                            </m:oMath>
                          </a14:m>
                          <a:r>
                            <a:rPr kumimoji="0" lang="en-GB" sz="3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0524738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kumimoji="0" lang="x-IV_mathan" sz="36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a</m:t>
                                </m:r>
                                <m:d>
                                  <m:dPr>
                                    <m:begChr m:val="["/>
                                    <m:ctrlPr>
                                      <a:rPr kumimoji="0" lang="x-IV_mathan" sz="3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x-IV_mathan" sz="3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..</m:t>
                                    </m:r>
                                  </m:e>
                                </m:d>
                                <m:r>
                                  <a:rPr kumimoji="0" lang="x-IV_mathan" sz="36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F77C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∼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b</m:t>
                                </m:r>
                                <m:d>
                                  <m:dPr>
                                    <m:begChr m:val="["/>
                                    <m:ctrlPr>
                                      <a:rPr kumimoji="0" lang="x-IV_mathan" sz="3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x-IV_mathan" sz="3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..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fontAlgn="t">
                            <a:buNone/>
                          </a:pPr>
                          <a:r>
                            <a:rPr lang="en-GB" sz="3600">
                              <a:solidFill>
                                <a:schemeClr val="bg2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(contents of)</a:t>
                          </a:r>
                          <a:r>
                            <a:rPr lang="en-GB" sz="3600">
                              <a:solidFill>
                                <a:srgbClr val="B2B2B2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:r>
                            <a:rPr lang="en-GB" sz="3600">
                              <a:solidFill>
                                <a:srgbClr val="008C3A"/>
                              </a:solidFill>
                              <a:effectLst/>
                              <a:latin typeface="Consolas" panose="020B0609020204030204" pitchFamily="49" charset="0"/>
                            </a:rPr>
                            <a:t>a</a:t>
                          </a:r>
                          <a:r>
                            <a:rPr lang="en-GB" sz="3600">
                              <a:effectLst/>
                              <a:latin typeface="Calibri" panose="020F0502020204030204" pitchFamily="34" charset="0"/>
                            </a:rPr>
                            <a:t> are '</a:t>
                          </a:r>
                          <a:r>
                            <a:rPr lang="en-GB" sz="3600">
                              <a:solidFill>
                                <a:srgbClr val="004F8B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permutation</a:t>
                          </a:r>
                          <a:r>
                            <a:rPr lang="en-GB" sz="3600">
                              <a:effectLst/>
                              <a:latin typeface="Calibri" panose="020F0502020204030204" pitchFamily="34" charset="0"/>
                            </a:rPr>
                            <a:t> of' </a:t>
                          </a:r>
                          <a:r>
                            <a:rPr lang="en-GB" sz="3600">
                              <a:solidFill>
                                <a:schemeClr val="bg2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(contents of)</a:t>
                          </a:r>
                          <a:r>
                            <a:rPr lang="en-GB" sz="3600">
                              <a:solidFill>
                                <a:srgbClr val="B2B2B2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:r>
                            <a:rPr lang="en-GB" sz="3600">
                              <a:solidFill>
                                <a:srgbClr val="008C3A"/>
                              </a:solidFill>
                              <a:effectLst/>
                              <a:latin typeface="Consolas" panose="020B0609020204030204" pitchFamily="49" charset="0"/>
                            </a:rPr>
                            <a:t>b</a:t>
                          </a:r>
                          <a:endParaRPr lang="en-GB" sz="3600">
                            <a:effectLst/>
                          </a:endParaRPr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fontAlgn="t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x-IV_mathan" sz="3600" smtClean="0">
                                  <a:effectLst/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x-IV_mathan" sz="3600" smtClean="0">
                                  <a:effectLst/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x-IV_mathan" sz="3600" smtClean="0">
                                  <a:effectLst/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x-IV_mathan" sz="36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x-IV_mathan" sz="36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x-IV_mathan" sz="3600">
                                      <a:effectLst/>
                                      <a:latin typeface="Cambria Math" panose="02040503050406030204" pitchFamily="18" charset="0"/>
                                    </a:rPr>
                                    <m:t>𝑁𝑟𝑂𝑐𝑐𝑢𝑟𝑠</m:t>
                                  </m:r>
                                  <m:d>
                                    <m:dPr>
                                      <m:ctrlPr>
                                        <a:rPr lang="x-IV_mathan" sz="36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x-IV_mathan" sz="36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d>
                                        <m:dPr>
                                          <m:begChr m:val="["/>
                                          <m:ctrlPr>
                                            <a:rPr lang="x-IV_mathan" sz="36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x-IV_mathan" sz="36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..</m:t>
                                          </m:r>
                                        </m:e>
                                      </m:d>
                                      <m:r>
                                        <a:rPr lang="x-IV_mathan" sz="36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x-IV_mathan" sz="36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  <m:r>
                                    <a:rPr lang="x-IV_mathan" sz="3600">
                                      <a:effectLst/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x-IV_mathan" sz="3600">
                                      <a:effectLst/>
                                      <a:latin typeface="Cambria Math" panose="02040503050406030204" pitchFamily="18" charset="0"/>
                                    </a:rPr>
                                    <m:t>𝑁𝑟𝑂𝑐𝑐𝑢𝑟𝑠</m:t>
                                  </m:r>
                                  <m:d>
                                    <m:dPr>
                                      <m:ctrlPr>
                                        <a:rPr lang="x-IV_mathan" sz="36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x-IV_mathan" sz="36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d>
                                        <m:dPr>
                                          <m:begChr m:val="["/>
                                          <m:ctrlPr>
                                            <a:rPr lang="x-IV_mathan" sz="36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x-IV_mathan" sz="36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..</m:t>
                                          </m:r>
                                        </m:e>
                                      </m:d>
                                      <m:r>
                                        <a:rPr lang="x-IV_mathan" sz="36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x-IV_mathan" sz="36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  <m:r>
                                    <a:rPr lang="x-IV_mathan" sz="36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oMath>
                          </a14:m>
                          <a:r>
                            <a:rPr lang="x-IV_mathan" sz="3600">
                              <a:effectLst/>
                              <a:latin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95198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kumimoji="0" lang="x-IV_mathan" sz="36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a</m:t>
                                </m:r>
                                <m:d>
                                  <m:dPr>
                                    <m:begChr m:val="["/>
                                    <m:ctrlPr>
                                      <a:rPr kumimoji="0" lang="x-IV_mathan" sz="3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x-IV_mathan" sz="3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..</m:t>
                                    </m:r>
                                  </m:e>
                                </m:d>
                                <m:r>
                                  <a:rPr kumimoji="0" lang="x-IV_mathan" sz="36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F77C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≈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b</m:t>
                                </m:r>
                                <m:d>
                                  <m:dPr>
                                    <m:begChr m:val="["/>
                                    <m:ctrlPr>
                                      <a:rPr kumimoji="0" lang="x-IV_mathan" sz="3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x-IV_mathan" sz="3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..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fontAlgn="t">
                            <a:buNone/>
                          </a:pPr>
                          <a:r>
                            <a:rPr lang="en-GB" sz="3600">
                              <a:effectLst/>
                              <a:latin typeface="Calibri" panose="020F0502020204030204" pitchFamily="34" charset="0"/>
                            </a:rPr>
                            <a:t>contents of </a:t>
                          </a:r>
                          <a:r>
                            <a:rPr lang="en-GB" sz="3600">
                              <a:solidFill>
                                <a:srgbClr val="008C3A"/>
                              </a:solidFill>
                              <a:effectLst/>
                              <a:latin typeface="Consolas" panose="020B0609020204030204" pitchFamily="49" charset="0"/>
                            </a:rPr>
                            <a:t>a</a:t>
                          </a:r>
                          <a:r>
                            <a:rPr lang="en-GB" sz="3600">
                              <a:effectLst/>
                              <a:latin typeface="Calibri" panose="020F0502020204030204" pitchFamily="34" charset="0"/>
                            </a:rPr>
                            <a:t> and </a:t>
                          </a:r>
                          <a:r>
                            <a:rPr lang="en-GB" sz="3600">
                              <a:solidFill>
                                <a:srgbClr val="008C3A"/>
                              </a:solidFill>
                              <a:effectLst/>
                              <a:latin typeface="Consolas" panose="020B0609020204030204" pitchFamily="49" charset="0"/>
                            </a:rPr>
                            <a:t>b</a:t>
                          </a:r>
                          <a:r>
                            <a:rPr lang="en-GB" sz="3600">
                              <a:effectLst/>
                              <a:latin typeface="Calibri" panose="020F0502020204030204" pitchFamily="34" charset="0"/>
                            </a:rPr>
                            <a:t> identical       '</a:t>
                          </a:r>
                          <a:r>
                            <a:rPr lang="en-GB" sz="3600" b="1">
                              <a:solidFill>
                                <a:srgbClr val="004F8B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deep equality</a:t>
                          </a:r>
                          <a:r>
                            <a:rPr lang="en-GB" sz="3600">
                              <a:effectLst/>
                              <a:latin typeface="Calibri" panose="020F0502020204030204" pitchFamily="34" charset="0"/>
                            </a:rPr>
                            <a:t>'</a:t>
                          </a:r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x-IV_mathan" sz="3600" i="0" smtClean="0">
                                  <a:effectLst/>
                                  <a:latin typeface="Cambria Math" panose="02040503050406030204" pitchFamily="18" charset="0"/>
                                </a:rPr>
                                <m:t>a.size</m:t>
                              </m:r>
                              <m:r>
                                <a:rPr lang="x-IV_mathan" sz="3600" i="1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x-IV_mathan" sz="36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x-IV_mathan" sz="3600" i="0">
                                  <a:effectLst/>
                                  <a:latin typeface="Cambria Math" panose="02040503050406030204" pitchFamily="18" charset="0"/>
                                </a:rPr>
                                <m:t>b.size</m:t>
                              </m:r>
                            </m:oMath>
                          </a14:m>
                          <a:r>
                            <a:rPr lang="x-IV_mathan" sz="3600">
                              <a:effectLst/>
                              <a:latin typeface="Cambria Math" panose="02040503050406030204" pitchFamily="18" charset="0"/>
                            </a:rPr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x-IV_mathan" sz="3600" smtClean="0">
                                  <a:effectLst/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</m:oMath>
                          </a14:m>
                          <a:r>
                            <a:rPr lang="x-IV_mathan" sz="3600">
                              <a:effectLst/>
                            </a:rPr>
                            <a:t> </a:t>
                          </a:r>
                          <a:r>
                            <a:rPr lang="x-IV_mathan" sz="3600">
                              <a:effectLst/>
                              <a:latin typeface="Cambria Math" panose="02040503050406030204" pitchFamily="18" charset="0"/>
                            </a:rPr>
                            <a:t>   </a:t>
                          </a:r>
                          <a:r>
                            <a:rPr lang="x-IV_mathan" sz="3600">
                              <a:effectLst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x-IV_mathan" sz="3600">
                                  <a:effectLst/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x-IV_mathan" sz="3600"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x-IV_mathan" sz="3600">
                                  <a:effectLst/>
                                  <a:latin typeface="Cambria Math" panose="02040503050406030204" pitchFamily="18" charset="0"/>
                                </a:rPr>
                                <m:t>∈[0..</m:t>
                              </m:r>
                              <m:r>
                                <m:rPr>
                                  <m:nor/>
                                </m:rPr>
                                <a:rPr lang="x-IV_mathan" sz="3600" i="0">
                                  <a:effectLst/>
                                  <a:latin typeface="Cambria Math" panose="02040503050406030204" pitchFamily="18" charset="0"/>
                                </a:rPr>
                                <m:t>a.size</m:t>
                              </m:r>
                              <m:r>
                                <a:rPr lang="x-IV_mathan" sz="3600">
                                  <a:effectLst/>
                                  <a:latin typeface="Cambria Math" panose="02040503050406030204" pitchFamily="18" charset="0"/>
                                </a:rPr>
                                <m:t>).[</m:t>
                              </m:r>
                              <m:r>
                                <a:rPr lang="x-IV_mathan" sz="3600" i="1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x-IV_mathan" sz="3600" i="0">
                                  <a:effectLst/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x-IV_mathan" sz="36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x-IV_mathan" sz="3600">
                                      <a:effectLst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x-IV_mathan" sz="36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x-IV_mathan" sz="3600" i="0">
                                  <a:effectLst/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x-IV_mathan" sz="36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x-IV_mathan" sz="3600">
                                      <a:effectLst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x-IV_mathan" sz="3600" i="1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x-IV_mathan" sz="3600"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x-IV_mathan" sz="3600">
                              <a:effectLst/>
                              <a:latin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408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65" name="Table 1164">
                <a:extLst>
                  <a:ext uri="{FF2B5EF4-FFF2-40B4-BE49-F238E27FC236}">
                    <a16:creationId xmlns:a16="http://schemas.microsoft.com/office/drawing/2014/main" id="{6BB11808-6460-41A7-C7FC-522EA0ADAC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505597" y="33138629"/>
              <a:ext cx="23868689" cy="1950720"/>
            </p:xfrm>
            <a:graphic>
              <a:graphicData uri="http://schemas.openxmlformats.org/drawingml/2006/table">
                <a:tbl>
                  <a:tblPr/>
                  <a:tblGrid>
                    <a:gridCol w="4060363">
                      <a:extLst>
                        <a:ext uri="{9D8B030D-6E8A-4147-A177-3AD203B41FA5}">
                          <a16:colId xmlns:a16="http://schemas.microsoft.com/office/drawing/2014/main" val="3091774129"/>
                        </a:ext>
                      </a:extLst>
                    </a:gridCol>
                    <a:gridCol w="9715500">
                      <a:extLst>
                        <a:ext uri="{9D8B030D-6E8A-4147-A177-3AD203B41FA5}">
                          <a16:colId xmlns:a16="http://schemas.microsoft.com/office/drawing/2014/main" val="3783056075"/>
                        </a:ext>
                      </a:extLst>
                    </a:gridCol>
                    <a:gridCol w="10092826">
                      <a:extLst>
                        <a:ext uri="{9D8B030D-6E8A-4147-A177-3AD203B41FA5}">
                          <a16:colId xmlns:a16="http://schemas.microsoft.com/office/drawing/2014/main" val="1313623019"/>
                        </a:ext>
                      </a:extLst>
                    </a:gridCol>
                  </a:tblGrid>
                  <a:tr h="650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4"/>
                          <a:stretch>
                            <a:fillRect l="-300" t="-14019" r="-488288" b="-2336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4"/>
                          <a:stretch>
                            <a:fillRect l="-41907" t="-14019" r="-104015" b="-2336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4"/>
                          <a:stretch>
                            <a:fillRect l="-136594" t="-14019" r="-121" b="-2336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5247386"/>
                      </a:ext>
                    </a:extLst>
                  </a:tr>
                  <a:tr h="650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4"/>
                          <a:stretch>
                            <a:fillRect l="-300" t="-114019" r="-488288" b="-1336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fontAlgn="t">
                            <a:buNone/>
                          </a:pPr>
                          <a:r>
                            <a:rPr lang="en-GB" sz="3600">
                              <a:solidFill>
                                <a:schemeClr val="bg2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(contents of)</a:t>
                          </a:r>
                          <a:r>
                            <a:rPr lang="en-GB" sz="3600">
                              <a:solidFill>
                                <a:srgbClr val="B2B2B2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:r>
                            <a:rPr lang="en-GB" sz="3600">
                              <a:solidFill>
                                <a:srgbClr val="008C3A"/>
                              </a:solidFill>
                              <a:effectLst/>
                              <a:latin typeface="Consolas" panose="020B0609020204030204" pitchFamily="49" charset="0"/>
                            </a:rPr>
                            <a:t>a</a:t>
                          </a:r>
                          <a:r>
                            <a:rPr lang="en-GB" sz="3600">
                              <a:effectLst/>
                              <a:latin typeface="Calibri" panose="020F0502020204030204" pitchFamily="34" charset="0"/>
                            </a:rPr>
                            <a:t> are '</a:t>
                          </a:r>
                          <a:r>
                            <a:rPr lang="en-GB" sz="3600">
                              <a:solidFill>
                                <a:srgbClr val="004F8B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permutation</a:t>
                          </a:r>
                          <a:r>
                            <a:rPr lang="en-GB" sz="3600">
                              <a:effectLst/>
                              <a:latin typeface="Calibri" panose="020F0502020204030204" pitchFamily="34" charset="0"/>
                            </a:rPr>
                            <a:t> of' </a:t>
                          </a:r>
                          <a:r>
                            <a:rPr lang="en-GB" sz="3600">
                              <a:solidFill>
                                <a:schemeClr val="bg2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(contents of)</a:t>
                          </a:r>
                          <a:r>
                            <a:rPr lang="en-GB" sz="3600">
                              <a:solidFill>
                                <a:srgbClr val="B2B2B2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:r>
                            <a:rPr lang="en-GB" sz="3600">
                              <a:solidFill>
                                <a:srgbClr val="008C3A"/>
                              </a:solidFill>
                              <a:effectLst/>
                              <a:latin typeface="Consolas" panose="020B0609020204030204" pitchFamily="49" charset="0"/>
                            </a:rPr>
                            <a:t>b</a:t>
                          </a:r>
                          <a:endParaRPr lang="en-GB" sz="3600">
                            <a:effectLst/>
                          </a:endParaRPr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4"/>
                          <a:stretch>
                            <a:fillRect l="-136594" t="-114019" r="-121" b="-1336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9519880"/>
                      </a:ext>
                    </a:extLst>
                  </a:tr>
                  <a:tr h="650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4"/>
                          <a:stretch>
                            <a:fillRect l="-300" t="-214019" r="-488288" b="-336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fontAlgn="t">
                            <a:buNone/>
                          </a:pPr>
                          <a:r>
                            <a:rPr lang="en-GB" sz="3600">
                              <a:effectLst/>
                              <a:latin typeface="Calibri" panose="020F0502020204030204" pitchFamily="34" charset="0"/>
                            </a:rPr>
                            <a:t>contents of </a:t>
                          </a:r>
                          <a:r>
                            <a:rPr lang="en-GB" sz="3600">
                              <a:solidFill>
                                <a:srgbClr val="008C3A"/>
                              </a:solidFill>
                              <a:effectLst/>
                              <a:latin typeface="Consolas" panose="020B0609020204030204" pitchFamily="49" charset="0"/>
                            </a:rPr>
                            <a:t>a</a:t>
                          </a:r>
                          <a:r>
                            <a:rPr lang="en-GB" sz="3600">
                              <a:effectLst/>
                              <a:latin typeface="Calibri" panose="020F0502020204030204" pitchFamily="34" charset="0"/>
                            </a:rPr>
                            <a:t> and </a:t>
                          </a:r>
                          <a:r>
                            <a:rPr lang="en-GB" sz="3600">
                              <a:solidFill>
                                <a:srgbClr val="008C3A"/>
                              </a:solidFill>
                              <a:effectLst/>
                              <a:latin typeface="Consolas" panose="020B0609020204030204" pitchFamily="49" charset="0"/>
                            </a:rPr>
                            <a:t>b</a:t>
                          </a:r>
                          <a:r>
                            <a:rPr lang="en-GB" sz="3600">
                              <a:effectLst/>
                              <a:latin typeface="Calibri" panose="020F0502020204030204" pitchFamily="34" charset="0"/>
                            </a:rPr>
                            <a:t> identical       '</a:t>
                          </a:r>
                          <a:r>
                            <a:rPr lang="en-GB" sz="3600" b="1">
                              <a:solidFill>
                                <a:srgbClr val="004F8B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deep equality</a:t>
                          </a:r>
                          <a:r>
                            <a:rPr lang="en-GB" sz="3600">
                              <a:effectLst/>
                              <a:latin typeface="Calibri" panose="020F0502020204030204" pitchFamily="34" charset="0"/>
                            </a:rPr>
                            <a:t>'</a:t>
                          </a:r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800" marR="50800" marT="50800" marB="50800">
                        <a:lnL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3A3A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4"/>
                          <a:stretch>
                            <a:fillRect l="-136594" t="-214019" r="-121" b="-336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408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167" name="Group 1166">
            <a:extLst>
              <a:ext uri="{FF2B5EF4-FFF2-40B4-BE49-F238E27FC236}">
                <a16:creationId xmlns:a16="http://schemas.microsoft.com/office/drawing/2014/main" id="{2E0552D5-799D-B3BE-3F98-D8EF094CAE8C}"/>
              </a:ext>
            </a:extLst>
          </p:cNvPr>
          <p:cNvGrpSpPr/>
          <p:nvPr/>
        </p:nvGrpSpPr>
        <p:grpSpPr>
          <a:xfrm>
            <a:off x="38067982" y="9485173"/>
            <a:ext cx="12213976" cy="2527558"/>
            <a:chOff x="16781060" y="6792652"/>
            <a:chExt cx="12213976" cy="2527558"/>
          </a:xfrm>
        </p:grpSpPr>
        <p:pic>
          <p:nvPicPr>
            <p:cNvPr id="1222" name="Picture 1221">
              <a:extLst>
                <a:ext uri="{FF2B5EF4-FFF2-40B4-BE49-F238E27FC236}">
                  <a16:creationId xmlns:a16="http://schemas.microsoft.com/office/drawing/2014/main" id="{35814BC3-34DC-E42E-9EF5-FFDE63075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9170056" y="6822740"/>
              <a:ext cx="9824980" cy="612509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3" name="TextBox 1222">
                  <a:extLst>
                    <a:ext uri="{FF2B5EF4-FFF2-40B4-BE49-F238E27FC236}">
                      <a16:creationId xmlns:a16="http://schemas.microsoft.com/office/drawing/2014/main" id="{176F3577-71F6-2559-1F14-3B0440E7F761}"/>
                    </a:ext>
                  </a:extLst>
                </p:cNvPr>
                <p:cNvSpPr txBox="1"/>
                <p:nvPr/>
              </p:nvSpPr>
              <p:spPr>
                <a:xfrm>
                  <a:off x="16781060" y="6792652"/>
                  <a:ext cx="2194512" cy="17543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6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array </a:t>
                  </a:r>
                  <a:r>
                    <a:rPr kumimoji="0" lang="en-GB" sz="3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8C3A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+mn-cs"/>
                    </a:rPr>
                    <a:t>a</a:t>
                  </a:r>
                  <a:endParaRPr kumimoji="0" lang="en-GB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6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values </a:t>
                  </a:r>
                  <a14:m>
                    <m:oMath xmlns:m="http://schemas.openxmlformats.org/officeDocument/2006/math">
                      <m:r>
                        <a:rPr kumimoji="0" lang="en-GB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𝒗</m:t>
                      </m:r>
                      <m:r>
                        <a:rPr kumimoji="0" lang="en-GB" sz="3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GB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GB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𝒛</m:t>
                      </m:r>
                    </m:oMath>
                  </a14:m>
                  <a:endParaRPr kumimoji="0" lang="en-GB" sz="36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GB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x-IV_mathan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GB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𝒚</m:t>
                      </m:r>
                      <m:r>
                        <a:rPr kumimoji="0" lang="x-IV_mathan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r>
                        <a:rPr kumimoji="0" lang="x-IV_mathan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ℕ</m:t>
                      </m:r>
                    </m:oMath>
                  </a14:m>
                  <a:r>
                    <a:rPr kumimoji="0" lang="x-IV_mathan" sz="36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+mn-ea"/>
                      <a:cs typeface="+mn-cs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1223" name="TextBox 1222">
                  <a:extLst>
                    <a:ext uri="{FF2B5EF4-FFF2-40B4-BE49-F238E27FC236}">
                      <a16:creationId xmlns:a16="http://schemas.microsoft.com/office/drawing/2014/main" id="{176F3577-71F6-2559-1F14-3B0440E7F7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81060" y="6792652"/>
                  <a:ext cx="2194512" cy="1754326"/>
                </a:xfrm>
                <a:prstGeom prst="rect">
                  <a:avLst/>
                </a:prstGeom>
                <a:blipFill>
                  <a:blip r:embed="rId26"/>
                  <a:stretch>
                    <a:fillRect l="-8611" t="-590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24" name="Group 1223">
              <a:extLst>
                <a:ext uri="{FF2B5EF4-FFF2-40B4-BE49-F238E27FC236}">
                  <a16:creationId xmlns:a16="http://schemas.microsoft.com/office/drawing/2014/main" id="{1CBF8B30-5362-B1D7-62F9-BF96C81EDD26}"/>
                </a:ext>
              </a:extLst>
            </p:cNvPr>
            <p:cNvGrpSpPr/>
            <p:nvPr/>
          </p:nvGrpSpPr>
          <p:grpSpPr>
            <a:xfrm>
              <a:off x="20176317" y="7577482"/>
              <a:ext cx="6454669" cy="1742728"/>
              <a:chOff x="20016444" y="8235283"/>
              <a:chExt cx="7625106" cy="2058740"/>
            </a:xfrm>
          </p:grpSpPr>
          <p:pic>
            <p:nvPicPr>
              <p:cNvPr id="1225" name="Picture 1224">
                <a:extLst>
                  <a:ext uri="{FF2B5EF4-FFF2-40B4-BE49-F238E27FC236}">
                    <a16:creationId xmlns:a16="http://schemas.microsoft.com/office/drawing/2014/main" id="{EE0E2AE9-FE1C-B6BF-596E-A796B22D53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016444" y="8235283"/>
                <a:ext cx="7548906" cy="658110"/>
              </a:xfrm>
              <a:prstGeom prst="rect">
                <a:avLst/>
              </a:prstGeom>
            </p:spPr>
          </p:pic>
          <p:grpSp>
            <p:nvGrpSpPr>
              <p:cNvPr id="1226" name="Group 1225">
                <a:extLst>
                  <a:ext uri="{FF2B5EF4-FFF2-40B4-BE49-F238E27FC236}">
                    <a16:creationId xmlns:a16="http://schemas.microsoft.com/office/drawing/2014/main" id="{87D77DD9-F872-9C7E-AFD2-827FE25B42FA}"/>
                  </a:ext>
                </a:extLst>
              </p:cNvPr>
              <p:cNvGrpSpPr/>
              <p:nvPr/>
            </p:nvGrpSpPr>
            <p:grpSpPr>
              <a:xfrm>
                <a:off x="20054544" y="8988482"/>
                <a:ext cx="7587006" cy="1305541"/>
                <a:chOff x="20016444" y="9782413"/>
                <a:chExt cx="7587006" cy="1305541"/>
              </a:xfrm>
            </p:grpSpPr>
            <p:pic>
              <p:nvPicPr>
                <p:cNvPr id="1227" name="Picture 1226">
                  <a:extLst>
                    <a:ext uri="{FF2B5EF4-FFF2-40B4-BE49-F238E27FC236}">
                      <a16:creationId xmlns:a16="http://schemas.microsoft.com/office/drawing/2014/main" id="{2665121B-8ED0-9096-E871-417F1091E1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rcRect b="58895"/>
                <a:stretch/>
              </p:blipFill>
              <p:spPr>
                <a:xfrm>
                  <a:off x="20016444" y="9782413"/>
                  <a:ext cx="7548906" cy="658111"/>
                </a:xfrm>
                <a:prstGeom prst="rect">
                  <a:avLst/>
                </a:prstGeom>
              </p:spPr>
            </p:pic>
            <p:pic>
              <p:nvPicPr>
                <p:cNvPr id="1228" name="Picture 1227">
                  <a:extLst>
                    <a:ext uri="{FF2B5EF4-FFF2-40B4-BE49-F238E27FC236}">
                      <a16:creationId xmlns:a16="http://schemas.microsoft.com/office/drawing/2014/main" id="{D55E05ED-1351-5F32-9961-92C6EF766C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rcRect t="57693"/>
                <a:stretch/>
              </p:blipFill>
              <p:spPr>
                <a:xfrm>
                  <a:off x="20054544" y="10410600"/>
                  <a:ext cx="7548906" cy="677354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168" name="Group 1167">
            <a:extLst>
              <a:ext uri="{FF2B5EF4-FFF2-40B4-BE49-F238E27FC236}">
                <a16:creationId xmlns:a16="http://schemas.microsoft.com/office/drawing/2014/main" id="{4F47352E-6AC3-0A5A-C3C6-263A1C104E83}"/>
              </a:ext>
            </a:extLst>
          </p:cNvPr>
          <p:cNvGrpSpPr/>
          <p:nvPr/>
        </p:nvGrpSpPr>
        <p:grpSpPr>
          <a:xfrm>
            <a:off x="37669590" y="11978850"/>
            <a:ext cx="12704696" cy="4738973"/>
            <a:chOff x="16781060" y="9575574"/>
            <a:chExt cx="12704696" cy="4738973"/>
          </a:xfrm>
        </p:grpSpPr>
        <p:sp>
          <p:nvSpPr>
            <p:cNvPr id="1213" name="TextBox 1212">
              <a:extLst>
                <a:ext uri="{FF2B5EF4-FFF2-40B4-BE49-F238E27FC236}">
                  <a16:creationId xmlns:a16="http://schemas.microsoft.com/office/drawing/2014/main" id="{1D60E196-D1A9-F017-3A14-DBB3C1EC754B}"/>
                </a:ext>
              </a:extLst>
            </p:cNvPr>
            <p:cNvSpPr txBox="1"/>
            <p:nvPr/>
          </p:nvSpPr>
          <p:spPr>
            <a:xfrm>
              <a:off x="16781060" y="9575574"/>
              <a:ext cx="122650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1" i="0" u="none" strike="noStrike" kern="1200" cap="none" spc="0" normalizeH="0" baseline="0" noProof="0">
                  <a:ln>
                    <a:noFill/>
                  </a:ln>
                  <a:solidFill>
                    <a:srgbClr val="0F77C2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array slice</a:t>
              </a: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0F77C2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 </a:t>
              </a:r>
              <a:r>
                <a:rPr kumimoji="0" lang="x-IV_mathan" sz="3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rPr>
                <a:t>≜</a:t>
              </a: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  </a:t>
              </a: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008C3A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a[</a:t>
              </a:r>
              <a:r>
                <a:rPr kumimoji="0" lang="en-GB" sz="3600" b="0" i="1" u="none" strike="noStrike" kern="1200" cap="none" spc="0" normalizeH="0" baseline="0" noProof="0" err="1">
                  <a:ln>
                    <a:noFill/>
                  </a:ln>
                  <a:solidFill>
                    <a:srgbClr val="008C3A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x..y</a:t>
              </a: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008C3A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)</a:t>
              </a: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   (closed-open interval)  </a:t>
              </a: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(NB: </a:t>
              </a:r>
              <a:r>
                <a:rPr kumimoji="0" lang="en-GB" sz="3600" b="0" i="0" u="sng" strike="noStrike" kern="1200" cap="none" spc="0" normalizeH="0" baseline="0" noProof="0" err="1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prefered</a:t>
              </a: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)</a:t>
              </a:r>
              <a:endParaRPr kumimoji="0" lang="en-GB" sz="36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1214" name="Group 1213">
              <a:extLst>
                <a:ext uri="{FF2B5EF4-FFF2-40B4-BE49-F238E27FC236}">
                  <a16:creationId xmlns:a16="http://schemas.microsoft.com/office/drawing/2014/main" id="{2EC55A66-EF73-D095-6133-973A96D5F138}"/>
                </a:ext>
              </a:extLst>
            </p:cNvPr>
            <p:cNvGrpSpPr/>
            <p:nvPr/>
          </p:nvGrpSpPr>
          <p:grpSpPr>
            <a:xfrm>
              <a:off x="18381261" y="10306535"/>
              <a:ext cx="9849926" cy="3102857"/>
              <a:chOff x="18427550" y="11032276"/>
              <a:chExt cx="9849926" cy="3102857"/>
            </a:xfrm>
          </p:grpSpPr>
          <p:pic>
            <p:nvPicPr>
              <p:cNvPr id="1220" name="Picture 1219">
                <a:extLst>
                  <a:ext uri="{FF2B5EF4-FFF2-40B4-BE49-F238E27FC236}">
                    <a16:creationId xmlns:a16="http://schemas.microsoft.com/office/drawing/2014/main" id="{DC2C0A88-AB5C-D1D4-E3B4-35BC2811E1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427550" y="11032276"/>
                <a:ext cx="9849926" cy="1579498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21" name="TextBox 1220">
                    <a:extLst>
                      <a:ext uri="{FF2B5EF4-FFF2-40B4-BE49-F238E27FC236}">
                        <a16:creationId xmlns:a16="http://schemas.microsoft.com/office/drawing/2014/main" id="{359388DC-4CD5-D139-F307-42DB7D495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9201054" y="12565473"/>
                    <a:ext cx="3860950" cy="156966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kumimoji="0" lang="x-IV_matha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a</m:t>
                        </m:r>
                        <m:d>
                          <m:dPr>
                            <m:begChr m:val="["/>
                            <m:ctrlP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..</m:t>
                            </m:r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e>
                        </m:d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≜</m:t>
                        </m:r>
                        <m:r>
                          <m:rPr>
                            <m:nor/>
                          </m:rP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a</m:t>
                        </m:r>
                        <m:d>
                          <m:dPr>
                            <m:begChr m:val="["/>
                            <m:ctrlP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0..</m:t>
                            </m:r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e>
                        </m:d>
                      </m:oMath>
                    </a14:m>
                    <a:r>
                      <a:rPr kumimoji="0" lang="x-IV_mathan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a</m:t>
                        </m:r>
                        <m:d>
                          <m:dPr>
                            <m:begChr m:val="["/>
                            <m:ctrlP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..</m:t>
                            </m:r>
                          </m:e>
                        </m:d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≜</m:t>
                        </m:r>
                        <m:r>
                          <m:rPr>
                            <m:nor/>
                          </m:rP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a</m:t>
                        </m:r>
                        <m:d>
                          <m:dPr>
                            <m:begChr m:val="["/>
                            <m:ctrlP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..</m:t>
                            </m:r>
                            <m:r>
                              <m:rPr>
                                <m:nor/>
                              </m:rP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a.size</m:t>
                            </m:r>
                          </m:e>
                        </m:d>
                      </m:oMath>
                    </a14:m>
                    <a:r>
                      <a:rPr kumimoji="0" lang="x-IV_mathan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a</m:t>
                        </m:r>
                        <m:d>
                          <m:dPr>
                            <m:begChr m:val="["/>
                            <m:ctrlP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..</m:t>
                            </m:r>
                          </m:e>
                        </m:d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≜</m:t>
                        </m:r>
                        <m:r>
                          <m:rPr>
                            <m:sty m:val="p"/>
                          </m:rP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whole</m:t>
                        </m:r>
                        <m:r>
                          <a:rPr kumimoji="0" lang="x-IV_mathan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array</m:t>
                        </m:r>
                      </m:oMath>
                    </a14:m>
                    <a:r>
                      <a:rPr kumimoji="0" lang="x-IV_mathan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</a:p>
                </p:txBody>
              </p:sp>
            </mc:Choice>
            <mc:Fallback>
              <p:sp>
                <p:nvSpPr>
                  <p:cNvPr id="1221" name="TextBox 1220">
                    <a:extLst>
                      <a:ext uri="{FF2B5EF4-FFF2-40B4-BE49-F238E27FC236}">
                        <a16:creationId xmlns:a16="http://schemas.microsoft.com/office/drawing/2014/main" id="{359388DC-4CD5-D139-F307-42DB7D495D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01054" y="12565473"/>
                    <a:ext cx="3860950" cy="1569660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215" name="Picture 1214">
              <a:extLst>
                <a:ext uri="{FF2B5EF4-FFF2-40B4-BE49-F238E27FC236}">
                  <a16:creationId xmlns:a16="http://schemas.microsoft.com/office/drawing/2014/main" id="{C052D102-2CD6-5485-4ECC-E31B5B6A5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7822034" y="13617429"/>
              <a:ext cx="11663722" cy="697118"/>
            </a:xfrm>
            <a:prstGeom prst="rect">
              <a:avLst/>
            </a:prstGeom>
          </p:spPr>
        </p:pic>
        <p:grpSp>
          <p:nvGrpSpPr>
            <p:cNvPr id="1216" name="Group 1215">
              <a:extLst>
                <a:ext uri="{FF2B5EF4-FFF2-40B4-BE49-F238E27FC236}">
                  <a16:creationId xmlns:a16="http://schemas.microsoft.com/office/drawing/2014/main" id="{836A8563-A872-5C77-EEE3-F053342ECA38}"/>
                </a:ext>
              </a:extLst>
            </p:cNvPr>
            <p:cNvGrpSpPr/>
            <p:nvPr/>
          </p:nvGrpSpPr>
          <p:grpSpPr>
            <a:xfrm>
              <a:off x="25154668" y="11807140"/>
              <a:ext cx="4331088" cy="1857310"/>
              <a:chOff x="16645580" y="16975981"/>
              <a:chExt cx="7706801" cy="3304924"/>
            </a:xfrm>
          </p:grpSpPr>
          <p:pic>
            <p:nvPicPr>
              <p:cNvPr id="1217" name="Picture 1216">
                <a:extLst>
                  <a:ext uri="{FF2B5EF4-FFF2-40B4-BE49-F238E27FC236}">
                    <a16:creationId xmlns:a16="http://schemas.microsoft.com/office/drawing/2014/main" id="{DDE97DCC-0FB8-DBAE-91E6-8B53F9019F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b="73271"/>
              <a:stretch/>
            </p:blipFill>
            <p:spPr>
              <a:xfrm>
                <a:off x="16645580" y="16975981"/>
                <a:ext cx="7706801" cy="1171287"/>
              </a:xfrm>
              <a:prstGeom prst="rect">
                <a:avLst/>
              </a:prstGeom>
            </p:spPr>
          </p:pic>
          <p:pic>
            <p:nvPicPr>
              <p:cNvPr id="1218" name="Picture 1217">
                <a:extLst>
                  <a:ext uri="{FF2B5EF4-FFF2-40B4-BE49-F238E27FC236}">
                    <a16:creationId xmlns:a16="http://schemas.microsoft.com/office/drawing/2014/main" id="{0BAF5184-5FBB-CB35-B4B6-53F87E6C67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t="36814" b="38392"/>
              <a:stretch/>
            </p:blipFill>
            <p:spPr>
              <a:xfrm>
                <a:off x="16645580" y="18050594"/>
                <a:ext cx="7706801" cy="1086523"/>
              </a:xfrm>
              <a:prstGeom prst="rect">
                <a:avLst/>
              </a:prstGeom>
            </p:spPr>
          </p:pic>
          <p:pic>
            <p:nvPicPr>
              <p:cNvPr id="1219" name="Picture 1218">
                <a:extLst>
                  <a:ext uri="{FF2B5EF4-FFF2-40B4-BE49-F238E27FC236}">
                    <a16:creationId xmlns:a16="http://schemas.microsoft.com/office/drawing/2014/main" id="{B73AD478-F3C6-BAAB-FCBD-032918280A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t="71693"/>
              <a:stretch/>
            </p:blipFill>
            <p:spPr>
              <a:xfrm>
                <a:off x="16645580" y="19040443"/>
                <a:ext cx="7706801" cy="1240462"/>
              </a:xfrm>
              <a:prstGeom prst="rect">
                <a:avLst/>
              </a:prstGeom>
            </p:spPr>
          </p:pic>
        </p:grpSp>
      </p:grpSp>
      <p:sp>
        <p:nvSpPr>
          <p:cNvPr id="1169" name="TextBox 1168">
            <a:extLst>
              <a:ext uri="{FF2B5EF4-FFF2-40B4-BE49-F238E27FC236}">
                <a16:creationId xmlns:a16="http://schemas.microsoft.com/office/drawing/2014/main" id="{B526959C-948E-BA6D-2C29-ED1551EF6F95}"/>
              </a:ext>
            </a:extLst>
          </p:cNvPr>
          <p:cNvSpPr txBox="1"/>
          <p:nvPr/>
        </p:nvSpPr>
        <p:spPr>
          <a:xfrm>
            <a:off x="26333829" y="32346729"/>
            <a:ext cx="28536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err="1">
                <a:ln>
                  <a:noFill/>
                </a:ln>
                <a:solidFill>
                  <a:srgbClr val="0F77C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shorthands</a:t>
            </a:r>
            <a:endParaRPr kumimoji="0" lang="en-GB" sz="4000" b="1" i="0" u="none" strike="noStrike" kern="1200" cap="none" spc="0" normalizeH="0" baseline="0" noProof="0">
              <a:ln>
                <a:noFill/>
              </a:ln>
              <a:solidFill>
                <a:srgbClr val="0F77C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170" name="Group 1169">
            <a:extLst>
              <a:ext uri="{FF2B5EF4-FFF2-40B4-BE49-F238E27FC236}">
                <a16:creationId xmlns:a16="http://schemas.microsoft.com/office/drawing/2014/main" id="{ECAC72F1-C9BA-BB7C-DF59-84A23FAD0977}"/>
              </a:ext>
            </a:extLst>
          </p:cNvPr>
          <p:cNvGrpSpPr/>
          <p:nvPr/>
        </p:nvGrpSpPr>
        <p:grpSpPr>
          <a:xfrm>
            <a:off x="38710564" y="17279451"/>
            <a:ext cx="11595032" cy="3240276"/>
            <a:chOff x="18567026" y="18544366"/>
            <a:chExt cx="11595032" cy="3240276"/>
          </a:xfrm>
        </p:grpSpPr>
        <p:grpSp>
          <p:nvGrpSpPr>
            <p:cNvPr id="1204" name="Group 1203">
              <a:extLst>
                <a:ext uri="{FF2B5EF4-FFF2-40B4-BE49-F238E27FC236}">
                  <a16:creationId xmlns:a16="http://schemas.microsoft.com/office/drawing/2014/main" id="{0F17FBCE-89FE-2CA2-BA0E-BF6D4589D7F7}"/>
                </a:ext>
              </a:extLst>
            </p:cNvPr>
            <p:cNvGrpSpPr/>
            <p:nvPr/>
          </p:nvGrpSpPr>
          <p:grpSpPr>
            <a:xfrm>
              <a:off x="18567026" y="18544366"/>
              <a:ext cx="10485160" cy="3240276"/>
              <a:chOff x="18567026" y="18544366"/>
              <a:chExt cx="10485160" cy="3240276"/>
            </a:xfrm>
          </p:grpSpPr>
          <p:grpSp>
            <p:nvGrpSpPr>
              <p:cNvPr id="1208" name="Group 1207">
                <a:extLst>
                  <a:ext uri="{FF2B5EF4-FFF2-40B4-BE49-F238E27FC236}">
                    <a16:creationId xmlns:a16="http://schemas.microsoft.com/office/drawing/2014/main" id="{6EB57D42-2486-9D36-F2B0-AB5B0CFBF4C9}"/>
                  </a:ext>
                </a:extLst>
              </p:cNvPr>
              <p:cNvGrpSpPr/>
              <p:nvPr/>
            </p:nvGrpSpPr>
            <p:grpSpPr>
              <a:xfrm>
                <a:off x="19428159" y="19250964"/>
                <a:ext cx="6450436" cy="1862476"/>
                <a:chOff x="19939328" y="19083561"/>
                <a:chExt cx="6450436" cy="1862476"/>
              </a:xfrm>
            </p:grpSpPr>
            <p:pic>
              <p:nvPicPr>
                <p:cNvPr id="1211" name="Picture 1210">
                  <a:extLst>
                    <a:ext uri="{FF2B5EF4-FFF2-40B4-BE49-F238E27FC236}">
                      <a16:creationId xmlns:a16="http://schemas.microsoft.com/office/drawing/2014/main" id="{6C1B3784-F6F7-8941-E8D3-37A5807FE3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939329" y="19083561"/>
                  <a:ext cx="6450435" cy="752835"/>
                </a:xfrm>
                <a:prstGeom prst="rect">
                  <a:avLst/>
                </a:prstGeom>
              </p:spPr>
            </p:pic>
            <p:pic>
              <p:nvPicPr>
                <p:cNvPr id="1212" name="Picture 1211">
                  <a:extLst>
                    <a:ext uri="{FF2B5EF4-FFF2-40B4-BE49-F238E27FC236}">
                      <a16:creationId xmlns:a16="http://schemas.microsoft.com/office/drawing/2014/main" id="{0BF1DCD2-2F70-4352-FB68-FAD8305DBA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9939328" y="20107845"/>
                  <a:ext cx="6450436" cy="838192"/>
                </a:xfrm>
                <a:prstGeom prst="rect">
                  <a:avLst/>
                </a:prstGeom>
              </p:spPr>
            </p:pic>
          </p:grpSp>
          <p:sp>
            <p:nvSpPr>
              <p:cNvPr id="1209" name="TextBox 1208">
                <a:extLst>
                  <a:ext uri="{FF2B5EF4-FFF2-40B4-BE49-F238E27FC236}">
                    <a16:creationId xmlns:a16="http://schemas.microsoft.com/office/drawing/2014/main" id="{128C1FF6-FEFA-EBA3-F635-81557425C70D}"/>
                  </a:ext>
                </a:extLst>
              </p:cNvPr>
              <p:cNvSpPr txBox="1"/>
              <p:nvPr/>
            </p:nvSpPr>
            <p:spPr>
              <a:xfrm>
                <a:off x="18567026" y="18544366"/>
                <a:ext cx="398032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4000" b="1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array operations</a:t>
                </a:r>
              </a:p>
            </p:txBody>
          </p:sp>
          <p:sp>
            <p:nvSpPr>
              <p:cNvPr id="1210" name="TextBox 1209">
                <a:extLst>
                  <a:ext uri="{FF2B5EF4-FFF2-40B4-BE49-F238E27FC236}">
                    <a16:creationId xmlns:a16="http://schemas.microsoft.com/office/drawing/2014/main" id="{7C9911A1-5891-FC1B-6C6F-3BC017E869AF}"/>
                  </a:ext>
                </a:extLst>
              </p:cNvPr>
              <p:cNvSpPr txBox="1"/>
              <p:nvPr/>
            </p:nvSpPr>
            <p:spPr>
              <a:xfrm>
                <a:off x="18946534" y="21199867"/>
                <a:ext cx="1010565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only</a:t>
                </a: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well-defined for </a:t>
                </a: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[</a:t>
                </a:r>
                <a:r>
                  <a:rPr kumimoji="0" lang="en-GB" sz="3200" b="0" i="0" u="none" strike="noStrike" kern="1200" cap="none" spc="0" normalizeH="0" baseline="0" noProof="0" err="1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x..y</a:t>
                </a: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)</a:t>
                </a: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that lie </a:t>
                </a:r>
                <a:r>
                  <a:rPr kumimoji="0" lang="en-GB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within</a:t>
                </a: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bounds of </a:t>
                </a: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</a:t>
                </a: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.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5" name="TextBox 1204">
                  <a:extLst>
                    <a:ext uri="{FF2B5EF4-FFF2-40B4-BE49-F238E27FC236}">
                      <a16:creationId xmlns:a16="http://schemas.microsoft.com/office/drawing/2014/main" id="{BFD53195-C291-B5B3-C028-094994327062}"/>
                    </a:ext>
                  </a:extLst>
                </p:cNvPr>
                <p:cNvSpPr txBox="1"/>
                <p:nvPr/>
              </p:nvSpPr>
              <p:spPr>
                <a:xfrm>
                  <a:off x="26260716" y="19079010"/>
                  <a:ext cx="2743700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kumimoji="0" lang="en-GB" sz="3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m:t>a</m:t>
                          </m:r>
                          <m:d>
                            <m:dPr>
                              <m:begChr m:val="["/>
                              <m:ctrlPr>
                                <a:rPr kumimoji="0" lang="en-GB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..0</m:t>
                              </m:r>
                            </m:e>
                          </m:d>
                        </m:e>
                      </m:nary>
                      <m:r>
                        <a:rPr kumimoji="0" lang="en-GB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≜0</m:t>
                      </m:r>
                    </m:oMath>
                  </a14:m>
                  <a:r>
                    <a: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1205" name="TextBox 1204">
                  <a:extLst>
                    <a:ext uri="{FF2B5EF4-FFF2-40B4-BE49-F238E27FC236}">
                      <a16:creationId xmlns:a16="http://schemas.microsoft.com/office/drawing/2014/main" id="{BFD53195-C291-B5B3-C028-0949943270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60716" y="19079010"/>
                  <a:ext cx="2743700" cy="646331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6" name="TextBox 1205">
                  <a:extLst>
                    <a:ext uri="{FF2B5EF4-FFF2-40B4-BE49-F238E27FC236}">
                      <a16:creationId xmlns:a16="http://schemas.microsoft.com/office/drawing/2014/main" id="{090DBF9C-E876-EE25-001A-369729F3C356}"/>
                    </a:ext>
                  </a:extLst>
                </p:cNvPr>
                <p:cNvSpPr txBox="1"/>
                <p:nvPr/>
              </p:nvSpPr>
              <p:spPr>
                <a:xfrm>
                  <a:off x="26260716" y="20512177"/>
                  <a:ext cx="2791470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nary>
                        <m:naryPr>
                          <m:chr m:val="∏"/>
                          <m:subHide m:val="on"/>
                          <m:supHide m:val="on"/>
                          <m:ctrlP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kumimoji="0" lang="en-GB" sz="3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m:t>a</m:t>
                          </m:r>
                          <m:d>
                            <m:dPr>
                              <m:begChr m:val="["/>
                              <m:ctrlPr>
                                <a:rPr kumimoji="0" lang="en-GB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..0</m:t>
                              </m:r>
                            </m:e>
                          </m:d>
                        </m:e>
                      </m:nary>
                      <m:r>
                        <a:rPr kumimoji="0" lang="en-GB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≜1</m:t>
                      </m:r>
                    </m:oMath>
                  </a14:m>
                  <a:r>
                    <a: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1206" name="TextBox 1205">
                  <a:extLst>
                    <a:ext uri="{FF2B5EF4-FFF2-40B4-BE49-F238E27FC236}">
                      <a16:creationId xmlns:a16="http://schemas.microsoft.com/office/drawing/2014/main" id="{090DBF9C-E876-EE25-001A-369729F3C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60716" y="20512177"/>
                  <a:ext cx="2791470" cy="646331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07" name="TextBox 1206">
              <a:extLst>
                <a:ext uri="{FF2B5EF4-FFF2-40B4-BE49-F238E27FC236}">
                  <a16:creationId xmlns:a16="http://schemas.microsoft.com/office/drawing/2014/main" id="{B5366069-6674-834F-BF0F-1E213C81DB90}"/>
                </a:ext>
              </a:extLst>
            </p:cNvPr>
            <p:cNvSpPr txBox="1"/>
            <p:nvPr/>
          </p:nvSpPr>
          <p:spPr>
            <a:xfrm>
              <a:off x="26544145" y="19826372"/>
              <a:ext cx="36179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1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(or any empty slice)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7DB9FF9-8ECE-33E9-BF28-8E4096734297}"/>
              </a:ext>
            </a:extLst>
          </p:cNvPr>
          <p:cNvGrpSpPr/>
          <p:nvPr/>
        </p:nvGrpSpPr>
        <p:grpSpPr>
          <a:xfrm>
            <a:off x="38710564" y="21083291"/>
            <a:ext cx="11658730" cy="2643884"/>
            <a:chOff x="38710564" y="21083291"/>
            <a:chExt cx="11658730" cy="2643884"/>
          </a:xfrm>
        </p:grpSpPr>
        <p:sp>
          <p:nvSpPr>
            <p:cNvPr id="1186" name="TextBox 1185">
              <a:extLst>
                <a:ext uri="{FF2B5EF4-FFF2-40B4-BE49-F238E27FC236}">
                  <a16:creationId xmlns:a16="http://schemas.microsoft.com/office/drawing/2014/main" id="{D653F33C-2227-1B77-8927-DB8AB335C4B7}"/>
                </a:ext>
              </a:extLst>
            </p:cNvPr>
            <p:cNvSpPr txBox="1"/>
            <p:nvPr/>
          </p:nvSpPr>
          <p:spPr>
            <a:xfrm>
              <a:off x="38710564" y="21083291"/>
              <a:ext cx="37632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4000" b="1" i="0" u="none" strike="noStrike" kern="1200" cap="none" spc="0" normalizeH="0" baseline="0" noProof="0">
                  <a:ln>
                    <a:noFill/>
                  </a:ln>
                  <a:solidFill>
                    <a:srgbClr val="0F77C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array min / max</a:t>
              </a:r>
            </a:p>
          </p:txBody>
        </p:sp>
        <p:pic>
          <p:nvPicPr>
            <p:cNvPr id="1187" name="Picture 1186">
              <a:extLst>
                <a:ext uri="{FF2B5EF4-FFF2-40B4-BE49-F238E27FC236}">
                  <a16:creationId xmlns:a16="http://schemas.microsoft.com/office/drawing/2014/main" id="{36F0B254-AC03-B725-6E64-F36271A36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22598" b="112"/>
            <a:stretch/>
          </p:blipFill>
          <p:spPr>
            <a:xfrm>
              <a:off x="42450721" y="21845633"/>
              <a:ext cx="7898963" cy="612496"/>
            </a:xfrm>
            <a:prstGeom prst="rect">
              <a:avLst/>
            </a:prstGeom>
          </p:spPr>
        </p:pic>
        <p:pic>
          <p:nvPicPr>
            <p:cNvPr id="1188" name="Picture 1187">
              <a:extLst>
                <a:ext uri="{FF2B5EF4-FFF2-40B4-BE49-F238E27FC236}">
                  <a16:creationId xmlns:a16="http://schemas.microsoft.com/office/drawing/2014/main" id="{50CC8915-F009-0A73-6C0B-C33EBC964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39834872" y="21791177"/>
              <a:ext cx="2288158" cy="666952"/>
            </a:xfrm>
            <a:prstGeom prst="rect">
              <a:avLst/>
            </a:prstGeom>
          </p:spPr>
        </p:pic>
        <p:pic>
          <p:nvPicPr>
            <p:cNvPr id="1189" name="Picture 1188">
              <a:extLst>
                <a:ext uri="{FF2B5EF4-FFF2-40B4-BE49-F238E27FC236}">
                  <a16:creationId xmlns:a16="http://schemas.microsoft.com/office/drawing/2014/main" id="{1147AEE8-7DDD-10BD-CA81-88DBAE5FE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39819030" y="22534879"/>
              <a:ext cx="2304000" cy="555789"/>
            </a:xfrm>
            <a:prstGeom prst="rect">
              <a:avLst/>
            </a:prstGeom>
          </p:spPr>
        </p:pic>
        <p:pic>
          <p:nvPicPr>
            <p:cNvPr id="1190" name="Picture 1189">
              <a:extLst>
                <a:ext uri="{FF2B5EF4-FFF2-40B4-BE49-F238E27FC236}">
                  <a16:creationId xmlns:a16="http://schemas.microsoft.com/office/drawing/2014/main" id="{B1BBB5C8-36A6-CD16-BD2A-4BD475C8E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2470331" y="22458130"/>
              <a:ext cx="7898963" cy="609054"/>
            </a:xfrm>
            <a:prstGeom prst="rect">
              <a:avLst/>
            </a:prstGeom>
          </p:spPr>
        </p:pic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8F3DF327-1F57-2BB7-D71E-899076C5C368}"/>
                </a:ext>
              </a:extLst>
            </p:cNvPr>
            <p:cNvSpPr txBox="1"/>
            <p:nvPr/>
          </p:nvSpPr>
          <p:spPr>
            <a:xfrm>
              <a:off x="39225487" y="23142400"/>
              <a:ext cx="690746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>
                  <a:ln>
                    <a:noFill/>
                  </a:ln>
                  <a:solidFill>
                    <a:srgbClr val="0F77C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only defined for </a:t>
              </a:r>
              <a:r>
                <a:rPr kumimoji="0" lang="en-GB" sz="3200" b="1" i="0" u="none" strike="noStrike" kern="1200" cap="none" spc="0" normalizeH="0" baseline="0" noProof="0">
                  <a:ln>
                    <a:noFill/>
                  </a:ln>
                  <a:solidFill>
                    <a:srgbClr val="0F77C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comparable</a:t>
              </a:r>
              <a:r>
                <a:rPr kumimoji="0" lang="en-GB" sz="3200" b="0" i="0" u="none" strike="noStrike" kern="1200" cap="none" spc="0" normalizeH="0" baseline="0" noProof="0">
                  <a:ln>
                    <a:noFill/>
                  </a:ln>
                  <a:solidFill>
                    <a:srgbClr val="0F77C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contents</a:t>
              </a:r>
            </a:p>
          </p:txBody>
        </p:sp>
      </p:grpSp>
      <p:grpSp>
        <p:nvGrpSpPr>
          <p:cNvPr id="1173" name="Group 1172">
            <a:extLst>
              <a:ext uri="{FF2B5EF4-FFF2-40B4-BE49-F238E27FC236}">
                <a16:creationId xmlns:a16="http://schemas.microsoft.com/office/drawing/2014/main" id="{D638D278-A82C-13AA-EA4D-BAF1109D1DC4}"/>
              </a:ext>
            </a:extLst>
          </p:cNvPr>
          <p:cNvGrpSpPr/>
          <p:nvPr/>
        </p:nvGrpSpPr>
        <p:grpSpPr>
          <a:xfrm>
            <a:off x="39028064" y="26734250"/>
            <a:ext cx="11371886" cy="6258656"/>
            <a:chOff x="16625251" y="12569862"/>
            <a:chExt cx="10108572" cy="5563376"/>
          </a:xfrm>
        </p:grpSpPr>
        <p:pic>
          <p:nvPicPr>
            <p:cNvPr id="1184" name="Picture 1183">
              <a:extLst>
                <a:ext uri="{FF2B5EF4-FFF2-40B4-BE49-F238E27FC236}">
                  <a16:creationId xmlns:a16="http://schemas.microsoft.com/office/drawing/2014/main" id="{0A7EC287-8204-54C3-06AA-BFFD08EFE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rcRect r="30773"/>
            <a:stretch/>
          </p:blipFill>
          <p:spPr>
            <a:xfrm>
              <a:off x="16625251" y="12569862"/>
              <a:ext cx="8322679" cy="5563376"/>
            </a:xfrm>
            <a:prstGeom prst="rect">
              <a:avLst/>
            </a:prstGeom>
          </p:spPr>
        </p:pic>
        <p:pic>
          <p:nvPicPr>
            <p:cNvPr id="1185" name="Picture 1184">
              <a:extLst>
                <a:ext uri="{FF2B5EF4-FFF2-40B4-BE49-F238E27FC236}">
                  <a16:creationId xmlns:a16="http://schemas.microsoft.com/office/drawing/2014/main" id="{95CE4017-8450-50AD-9BB8-32E7E2397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84334" r="930"/>
            <a:stretch/>
          </p:blipFill>
          <p:spPr>
            <a:xfrm>
              <a:off x="24962208" y="12569862"/>
              <a:ext cx="1771615" cy="5563376"/>
            </a:xfrm>
            <a:prstGeom prst="rect">
              <a:avLst/>
            </a:prstGeom>
          </p:spPr>
        </p:pic>
      </p:grpSp>
      <p:grpSp>
        <p:nvGrpSpPr>
          <p:cNvPr id="1175" name="Group 1174">
            <a:extLst>
              <a:ext uri="{FF2B5EF4-FFF2-40B4-BE49-F238E27FC236}">
                <a16:creationId xmlns:a16="http://schemas.microsoft.com/office/drawing/2014/main" id="{4F7444C0-F426-9443-8973-0566968B2010}"/>
              </a:ext>
            </a:extLst>
          </p:cNvPr>
          <p:cNvGrpSpPr/>
          <p:nvPr/>
        </p:nvGrpSpPr>
        <p:grpSpPr>
          <a:xfrm>
            <a:off x="41051537" y="24290739"/>
            <a:ext cx="8683137" cy="2127399"/>
            <a:chOff x="29106238" y="10950300"/>
            <a:chExt cx="8683137" cy="2127399"/>
          </a:xfrm>
        </p:grpSpPr>
        <p:grpSp>
          <p:nvGrpSpPr>
            <p:cNvPr id="1176" name="Group 1175">
              <a:extLst>
                <a:ext uri="{FF2B5EF4-FFF2-40B4-BE49-F238E27FC236}">
                  <a16:creationId xmlns:a16="http://schemas.microsoft.com/office/drawing/2014/main" id="{4D06EC59-83FA-5F63-4D75-C7C275D2CFE0}"/>
                </a:ext>
              </a:extLst>
            </p:cNvPr>
            <p:cNvGrpSpPr/>
            <p:nvPr/>
          </p:nvGrpSpPr>
          <p:grpSpPr>
            <a:xfrm>
              <a:off x="29237955" y="11028913"/>
              <a:ext cx="8419703" cy="1921431"/>
              <a:chOff x="30074683" y="11040174"/>
              <a:chExt cx="8419703" cy="1921431"/>
            </a:xfrm>
          </p:grpSpPr>
          <p:grpSp>
            <p:nvGrpSpPr>
              <p:cNvPr id="1178" name="Group 1177">
                <a:extLst>
                  <a:ext uri="{FF2B5EF4-FFF2-40B4-BE49-F238E27FC236}">
                    <a16:creationId xmlns:a16="http://schemas.microsoft.com/office/drawing/2014/main" id="{54C38356-DDB9-FA80-FE14-01D8FB2200B2}"/>
                  </a:ext>
                </a:extLst>
              </p:cNvPr>
              <p:cNvGrpSpPr/>
              <p:nvPr/>
            </p:nvGrpSpPr>
            <p:grpSpPr>
              <a:xfrm>
                <a:off x="30074683" y="11672935"/>
                <a:ext cx="8419703" cy="1288670"/>
                <a:chOff x="30074683" y="11672935"/>
                <a:chExt cx="8419703" cy="1288670"/>
              </a:xfrm>
            </p:grpSpPr>
            <p:pic>
              <p:nvPicPr>
                <p:cNvPr id="1180" name="Picture 1179">
                  <a:extLst>
                    <a:ext uri="{FF2B5EF4-FFF2-40B4-BE49-F238E27FC236}">
                      <a16:creationId xmlns:a16="http://schemas.microsoft.com/office/drawing/2014/main" id="{72C23B0F-1B1A-8F3C-6CBE-BF72ACB5B6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0074683" y="11672935"/>
                  <a:ext cx="3325640" cy="705439"/>
                </a:xfrm>
                <a:prstGeom prst="rect">
                  <a:avLst/>
                </a:prstGeom>
              </p:spPr>
            </p:pic>
            <p:grpSp>
              <p:nvGrpSpPr>
                <p:cNvPr id="1181" name="Group 1180">
                  <a:extLst>
                    <a:ext uri="{FF2B5EF4-FFF2-40B4-BE49-F238E27FC236}">
                      <a16:creationId xmlns:a16="http://schemas.microsoft.com/office/drawing/2014/main" id="{BAA60559-C7B0-FA06-3DF9-386BB53D797A}"/>
                    </a:ext>
                  </a:extLst>
                </p:cNvPr>
                <p:cNvGrpSpPr/>
                <p:nvPr/>
              </p:nvGrpSpPr>
              <p:grpSpPr>
                <a:xfrm>
                  <a:off x="30753295" y="12347196"/>
                  <a:ext cx="7741091" cy="614409"/>
                  <a:chOff x="31116152" y="12462893"/>
                  <a:chExt cx="7741091" cy="614409"/>
                </a:xfrm>
              </p:grpSpPr>
              <p:pic>
                <p:nvPicPr>
                  <p:cNvPr id="1182" name="Picture 1181">
                    <a:extLst>
                      <a:ext uri="{FF2B5EF4-FFF2-40B4-BE49-F238E27FC236}">
                        <a16:creationId xmlns:a16="http://schemas.microsoft.com/office/drawing/2014/main" id="{7F3AF12F-E5C7-C6F2-9F03-38652FC0B8E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31651974" y="12492527"/>
                    <a:ext cx="7205269" cy="584775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183" name="TextBox 1182">
                        <a:extLst>
                          <a:ext uri="{FF2B5EF4-FFF2-40B4-BE49-F238E27FC236}">
                            <a16:creationId xmlns:a16="http://schemas.microsoft.com/office/drawing/2014/main" id="{BEA920A9-C6DB-6A8E-0DA8-2B63DDE52D6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1116152" y="12462893"/>
                        <a:ext cx="574196" cy="58477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>
                              <m:r>
                                <a:rPr kumimoji="0" lang="en-GB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≜</m:t>
                              </m:r>
                            </m:oMath>
                          </m:oMathPara>
                        </a14:m>
                        <a:endPara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183" name="TextBox 1182">
                        <a:extLst>
                          <a:ext uri="{FF2B5EF4-FFF2-40B4-BE49-F238E27FC236}">
                            <a16:creationId xmlns:a16="http://schemas.microsoft.com/office/drawing/2014/main" id="{BEA920A9-C6DB-6A8E-0DA8-2B63DDE52D6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116152" y="12462893"/>
                        <a:ext cx="574196" cy="584775"/>
                      </a:xfrm>
                      <a:prstGeom prst="rect">
                        <a:avLst/>
                      </a:prstGeom>
                      <a:blipFill>
                        <a:blip r:embed="rId4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1179" name="TextBox 1178">
                <a:extLst>
                  <a:ext uri="{FF2B5EF4-FFF2-40B4-BE49-F238E27FC236}">
                    <a16:creationId xmlns:a16="http://schemas.microsoft.com/office/drawing/2014/main" id="{5F4FAF3A-9922-F10D-0F24-EAE6BFF7B4D7}"/>
                  </a:ext>
                </a:extLst>
              </p:cNvPr>
              <p:cNvSpPr txBox="1"/>
              <p:nvPr/>
            </p:nvSpPr>
            <p:spPr>
              <a:xfrm>
                <a:off x="30074683" y="11040174"/>
                <a:ext cx="485440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4000" b="1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array concatenation</a:t>
                </a:r>
              </a:p>
            </p:txBody>
          </p:sp>
        </p:grpSp>
        <p:sp>
          <p:nvSpPr>
            <p:cNvPr id="1177" name="Rectangle 1176">
              <a:extLst>
                <a:ext uri="{FF2B5EF4-FFF2-40B4-BE49-F238E27FC236}">
                  <a16:creationId xmlns:a16="http://schemas.microsoft.com/office/drawing/2014/main" id="{AEF21A68-6D69-94D2-08EF-18B879680106}"/>
                </a:ext>
              </a:extLst>
            </p:cNvPr>
            <p:cNvSpPr/>
            <p:nvPr/>
          </p:nvSpPr>
          <p:spPr>
            <a:xfrm>
              <a:off x="29106238" y="10950300"/>
              <a:ext cx="8683137" cy="2127399"/>
            </a:xfrm>
            <a:prstGeom prst="rect">
              <a:avLst/>
            </a:prstGeom>
            <a:noFill/>
            <a:ln>
              <a:solidFill>
                <a:srgbClr val="0F77C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242" name="Group 1241">
            <a:extLst>
              <a:ext uri="{FF2B5EF4-FFF2-40B4-BE49-F238E27FC236}">
                <a16:creationId xmlns:a16="http://schemas.microsoft.com/office/drawing/2014/main" id="{3D964A10-6BBC-BE9C-E8B8-E6E2ACEB63D2}"/>
              </a:ext>
            </a:extLst>
          </p:cNvPr>
          <p:cNvGrpSpPr/>
          <p:nvPr/>
        </p:nvGrpSpPr>
        <p:grpSpPr>
          <a:xfrm>
            <a:off x="26344239" y="25344220"/>
            <a:ext cx="12542768" cy="6727494"/>
            <a:chOff x="26151735" y="25649020"/>
            <a:chExt cx="12542768" cy="6727494"/>
          </a:xfrm>
        </p:grpSpPr>
        <p:grpSp>
          <p:nvGrpSpPr>
            <p:cNvPr id="1241" name="Group 1240">
              <a:extLst>
                <a:ext uri="{FF2B5EF4-FFF2-40B4-BE49-F238E27FC236}">
                  <a16:creationId xmlns:a16="http://schemas.microsoft.com/office/drawing/2014/main" id="{ADDEF572-96A6-2910-526C-A4B691B59901}"/>
                </a:ext>
              </a:extLst>
            </p:cNvPr>
            <p:cNvGrpSpPr/>
            <p:nvPr/>
          </p:nvGrpSpPr>
          <p:grpSpPr>
            <a:xfrm>
              <a:off x="26151735" y="25649020"/>
              <a:ext cx="12542768" cy="3396967"/>
              <a:chOff x="26163508" y="24933854"/>
              <a:chExt cx="12542768" cy="3396967"/>
            </a:xfrm>
          </p:grpSpPr>
          <p:pic>
            <p:nvPicPr>
              <p:cNvPr id="1229" name="Picture 1228">
                <a:extLst>
                  <a:ext uri="{FF2B5EF4-FFF2-40B4-BE49-F238E27FC236}">
                    <a16:creationId xmlns:a16="http://schemas.microsoft.com/office/drawing/2014/main" id="{2E48D1D3-1F05-A538-93C0-279D164602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5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 l="81490" b="53589"/>
              <a:stretch/>
            </p:blipFill>
            <p:spPr>
              <a:xfrm>
                <a:off x="36253989" y="24933854"/>
                <a:ext cx="2452287" cy="3396967"/>
              </a:xfrm>
              <a:prstGeom prst="rect">
                <a:avLst/>
              </a:prstGeom>
            </p:spPr>
          </p:pic>
          <p:pic>
            <p:nvPicPr>
              <p:cNvPr id="1233" name="Picture 1232">
                <a:extLst>
                  <a:ext uri="{FF2B5EF4-FFF2-40B4-BE49-F238E27FC236}">
                    <a16:creationId xmlns:a16="http://schemas.microsoft.com/office/drawing/2014/main" id="{95BA8D62-D83E-EEC9-A1B0-1FA37A6E97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5"/>
              <a:srcRect l="2849" t="8352" r="17968" b="58913"/>
              <a:stretch/>
            </p:blipFill>
            <p:spPr>
              <a:xfrm>
                <a:off x="26247988" y="25545143"/>
                <a:ext cx="10490673" cy="2395998"/>
              </a:xfrm>
              <a:prstGeom prst="rect">
                <a:avLst/>
              </a:prstGeom>
            </p:spPr>
          </p:pic>
          <p:pic>
            <p:nvPicPr>
              <p:cNvPr id="1240" name="Picture 1239">
                <a:extLst>
                  <a:ext uri="{FF2B5EF4-FFF2-40B4-BE49-F238E27FC236}">
                    <a16:creationId xmlns:a16="http://schemas.microsoft.com/office/drawing/2014/main" id="{33FF886B-8E9A-240C-CE94-E3F0F9034F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5"/>
              <a:srcRect l="-556" t="2" r="71672" b="92795"/>
              <a:stretch/>
            </p:blipFill>
            <p:spPr>
              <a:xfrm>
                <a:off x="26163508" y="25090802"/>
                <a:ext cx="3826799" cy="527274"/>
              </a:xfrm>
              <a:prstGeom prst="rect">
                <a:avLst/>
              </a:prstGeom>
            </p:spPr>
          </p:pic>
        </p:grpSp>
        <p:grpSp>
          <p:nvGrpSpPr>
            <p:cNvPr id="1239" name="Group 1238">
              <a:extLst>
                <a:ext uri="{FF2B5EF4-FFF2-40B4-BE49-F238E27FC236}">
                  <a16:creationId xmlns:a16="http://schemas.microsoft.com/office/drawing/2014/main" id="{AD39067A-A944-7E58-6AB5-34E80C62FB59}"/>
                </a:ext>
              </a:extLst>
            </p:cNvPr>
            <p:cNvGrpSpPr/>
            <p:nvPr/>
          </p:nvGrpSpPr>
          <p:grpSpPr>
            <a:xfrm>
              <a:off x="26163508" y="28330821"/>
              <a:ext cx="11647911" cy="4045693"/>
              <a:chOff x="26639321" y="27888106"/>
              <a:chExt cx="11647911" cy="4045693"/>
            </a:xfrm>
          </p:grpSpPr>
          <p:pic>
            <p:nvPicPr>
              <p:cNvPr id="1174" name="Picture 1173">
                <a:extLst>
                  <a:ext uri="{FF2B5EF4-FFF2-40B4-BE49-F238E27FC236}">
                    <a16:creationId xmlns:a16="http://schemas.microsoft.com/office/drawing/2014/main" id="{5D23E548-94E7-DE72-1586-DC81F3E53B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5"/>
              <a:srcRect l="3617" t="51922" r="17968" b="1"/>
              <a:stretch/>
            </p:blipFill>
            <p:spPr>
              <a:xfrm>
                <a:off x="26727149" y="28414835"/>
                <a:ext cx="10388881" cy="3518964"/>
              </a:xfrm>
              <a:prstGeom prst="rect">
                <a:avLst/>
              </a:prstGeom>
            </p:spPr>
          </p:pic>
          <p:pic>
            <p:nvPicPr>
              <p:cNvPr id="1231" name="Picture 1230">
                <a:extLst>
                  <a:ext uri="{FF2B5EF4-FFF2-40B4-BE49-F238E27FC236}">
                    <a16:creationId xmlns:a16="http://schemas.microsoft.com/office/drawing/2014/main" id="{911E41DF-DB12-6A3E-8056-E512E4840C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5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 l="81490" t="56519"/>
              <a:stretch/>
            </p:blipFill>
            <p:spPr>
              <a:xfrm>
                <a:off x="35834945" y="28751308"/>
                <a:ext cx="2452287" cy="3182491"/>
              </a:xfrm>
              <a:prstGeom prst="rect">
                <a:avLst/>
              </a:prstGeom>
            </p:spPr>
          </p:pic>
          <p:pic>
            <p:nvPicPr>
              <p:cNvPr id="1237" name="Picture 1236">
                <a:extLst>
                  <a:ext uri="{FF2B5EF4-FFF2-40B4-BE49-F238E27FC236}">
                    <a16:creationId xmlns:a16="http://schemas.microsoft.com/office/drawing/2014/main" id="{116A6C2E-3153-26C7-D28B-4EEA7D10D9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5"/>
              <a:srcRect t="43056" r="73753" b="48965"/>
              <a:stretch/>
            </p:blipFill>
            <p:spPr>
              <a:xfrm>
                <a:off x="26639321" y="27888106"/>
                <a:ext cx="3477269" cy="584004"/>
              </a:xfrm>
              <a:prstGeom prst="rect">
                <a:avLst/>
              </a:prstGeom>
            </p:spPr>
          </p:pic>
        </p:grpSp>
      </p:grpSp>
      <p:grpSp>
        <p:nvGrpSpPr>
          <p:cNvPr id="1257" name="Group 1256">
            <a:extLst>
              <a:ext uri="{FF2B5EF4-FFF2-40B4-BE49-F238E27FC236}">
                <a16:creationId xmlns:a16="http://schemas.microsoft.com/office/drawing/2014/main" id="{FDC7C3F1-8563-941D-711F-D9C0414A9799}"/>
              </a:ext>
            </a:extLst>
          </p:cNvPr>
          <p:cNvGrpSpPr/>
          <p:nvPr/>
        </p:nvGrpSpPr>
        <p:grpSpPr>
          <a:xfrm>
            <a:off x="25435619" y="19468603"/>
            <a:ext cx="11627246" cy="5922939"/>
            <a:chOff x="25435619" y="19468603"/>
            <a:chExt cx="11627246" cy="5922939"/>
          </a:xfrm>
        </p:grpSpPr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D6AC34EB-CC72-391F-FC82-E761C346769B}"/>
                </a:ext>
              </a:extLst>
            </p:cNvPr>
            <p:cNvSpPr txBox="1"/>
            <p:nvPr/>
          </p:nvSpPr>
          <p:spPr>
            <a:xfrm>
              <a:off x="25439683" y="19468603"/>
              <a:ext cx="39686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4000" b="1" i="0" u="none" strike="noStrike" kern="1200" cap="none" spc="0" normalizeH="0" baseline="0" noProof="0">
                  <a:ln>
                    <a:noFill/>
                  </a:ln>
                  <a:solidFill>
                    <a:srgbClr val="0F77C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array predicates</a:t>
              </a:r>
            </a:p>
          </p:txBody>
        </p:sp>
        <p:grpSp>
          <p:nvGrpSpPr>
            <p:cNvPr id="1193" name="Group 1192">
              <a:extLst>
                <a:ext uri="{FF2B5EF4-FFF2-40B4-BE49-F238E27FC236}">
                  <a16:creationId xmlns:a16="http://schemas.microsoft.com/office/drawing/2014/main" id="{436086A6-77A1-80EE-C868-62FBE13AE56A}"/>
                </a:ext>
              </a:extLst>
            </p:cNvPr>
            <p:cNvGrpSpPr/>
            <p:nvPr/>
          </p:nvGrpSpPr>
          <p:grpSpPr>
            <a:xfrm>
              <a:off x="25508333" y="20309173"/>
              <a:ext cx="11554532" cy="1852753"/>
              <a:chOff x="38845418" y="8009807"/>
              <a:chExt cx="11554532" cy="1852753"/>
            </a:xfrm>
          </p:grpSpPr>
          <p:sp>
            <p:nvSpPr>
              <p:cNvPr id="1198" name="TextBox 1197">
                <a:extLst>
                  <a:ext uri="{FF2B5EF4-FFF2-40B4-BE49-F238E27FC236}">
                    <a16:creationId xmlns:a16="http://schemas.microsoft.com/office/drawing/2014/main" id="{4AA3357D-102E-CCED-14E3-8326338CD268}"/>
                  </a:ext>
                </a:extLst>
              </p:cNvPr>
              <p:cNvSpPr txBox="1"/>
              <p:nvPr/>
            </p:nvSpPr>
            <p:spPr>
              <a:xfrm>
                <a:off x="39258951" y="9277785"/>
                <a:ext cx="1112488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only</a:t>
                </a: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well-defined on array of </a:t>
                </a:r>
                <a:r>
                  <a:rPr kumimoji="0" lang="en-GB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comparable</a:t>
                </a: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contents (e.g. Int)</a:t>
                </a:r>
              </a:p>
            </p:txBody>
          </p:sp>
          <p:grpSp>
            <p:nvGrpSpPr>
              <p:cNvPr id="1199" name="Group 1198">
                <a:extLst>
                  <a:ext uri="{FF2B5EF4-FFF2-40B4-BE49-F238E27FC236}">
                    <a16:creationId xmlns:a16="http://schemas.microsoft.com/office/drawing/2014/main" id="{71DA665C-A60F-117E-A346-E0CE1F9953A8}"/>
                  </a:ext>
                </a:extLst>
              </p:cNvPr>
              <p:cNvGrpSpPr/>
              <p:nvPr/>
            </p:nvGrpSpPr>
            <p:grpSpPr>
              <a:xfrm>
                <a:off x="38845418" y="8009807"/>
                <a:ext cx="11554532" cy="1238583"/>
                <a:chOff x="38845418" y="8009807"/>
                <a:chExt cx="11554532" cy="1238583"/>
              </a:xfrm>
            </p:grpSpPr>
            <p:pic>
              <p:nvPicPr>
                <p:cNvPr id="1200" name="Picture 1199">
                  <a:extLst>
                    <a:ext uri="{FF2B5EF4-FFF2-40B4-BE49-F238E27FC236}">
                      <a16:creationId xmlns:a16="http://schemas.microsoft.com/office/drawing/2014/main" id="{B55A27F2-4AE6-6F1F-7FB3-656F5CF632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6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rcRect l="22401"/>
                <a:stretch/>
              </p:blipFill>
              <p:spPr>
                <a:xfrm>
                  <a:off x="41326891" y="8627168"/>
                  <a:ext cx="9073059" cy="621222"/>
                </a:xfrm>
                <a:prstGeom prst="rect">
                  <a:avLst/>
                </a:prstGeom>
              </p:spPr>
            </p:pic>
            <p:pic>
              <p:nvPicPr>
                <p:cNvPr id="1201" name="Picture 1200">
                  <a:extLst>
                    <a:ext uri="{FF2B5EF4-FFF2-40B4-BE49-F238E27FC236}">
                      <a16:creationId xmlns:a16="http://schemas.microsoft.com/office/drawing/2014/main" id="{A9998265-CC8A-F02A-4C4A-3AB77AC557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845418" y="8138220"/>
                  <a:ext cx="2481474" cy="557512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202" name="TextBox 1201">
                      <a:extLst>
                        <a:ext uri="{FF2B5EF4-FFF2-40B4-BE49-F238E27FC236}">
                          <a16:creationId xmlns:a16="http://schemas.microsoft.com/office/drawing/2014/main" id="{3AE65319-9189-C062-431F-97F72266C8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491082" y="8009807"/>
                      <a:ext cx="5596917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≜</m:t>
                          </m:r>
                        </m:oMath>
                      </a14:m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 array (or slice) is ordered</a:t>
                      </a:r>
                    </a:p>
                  </p:txBody>
                </p:sp>
              </mc:Choice>
              <mc:Fallback>
                <p:sp>
                  <p:nvSpPr>
                    <p:cNvPr id="1202" name="TextBox 1201">
                      <a:extLst>
                        <a:ext uri="{FF2B5EF4-FFF2-40B4-BE49-F238E27FC236}">
                          <a16:creationId xmlns:a16="http://schemas.microsoft.com/office/drawing/2014/main" id="{3AE65319-9189-C062-431F-97F72266C8F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491082" y="8009807"/>
                      <a:ext cx="5596917" cy="646331"/>
                    </a:xfrm>
                    <a:prstGeom prst="rect">
                      <a:avLst/>
                    </a:prstGeom>
                    <a:blipFill>
                      <a:blip r:embed="rId48"/>
                      <a:stretch>
                        <a:fillRect t="-14151" r="-2394" b="-3584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203" name="Straight Connector 1202">
                  <a:extLst>
                    <a:ext uri="{FF2B5EF4-FFF2-40B4-BE49-F238E27FC236}">
                      <a16:creationId xmlns:a16="http://schemas.microsoft.com/office/drawing/2014/main" id="{94541DF9-AEAB-E8AE-B4DD-D2A6DE4D8AA8}"/>
                    </a:ext>
                  </a:extLst>
                </p:cNvPr>
                <p:cNvCxnSpPr/>
                <p:nvPr/>
              </p:nvCxnSpPr>
              <p:spPr>
                <a:xfrm>
                  <a:off x="38857243" y="8589068"/>
                  <a:ext cx="1348357" cy="0"/>
                </a:xfrm>
                <a:prstGeom prst="line">
                  <a:avLst/>
                </a:prstGeom>
                <a:ln w="38100">
                  <a:solidFill>
                    <a:srgbClr val="B01DE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56" name="Group 1255">
              <a:extLst>
                <a:ext uri="{FF2B5EF4-FFF2-40B4-BE49-F238E27FC236}">
                  <a16:creationId xmlns:a16="http://schemas.microsoft.com/office/drawing/2014/main" id="{80FA841C-417F-B3A6-ADFB-DFF9D299E175}"/>
                </a:ext>
              </a:extLst>
            </p:cNvPr>
            <p:cNvGrpSpPr/>
            <p:nvPr/>
          </p:nvGrpSpPr>
          <p:grpSpPr>
            <a:xfrm>
              <a:off x="25435619" y="22342433"/>
              <a:ext cx="11552807" cy="3049109"/>
              <a:chOff x="25435619" y="22342433"/>
              <a:chExt cx="11552807" cy="3049109"/>
            </a:xfrm>
          </p:grpSpPr>
          <p:pic>
            <p:nvPicPr>
              <p:cNvPr id="1195" name="Picture 1194">
                <a:extLst>
                  <a:ext uri="{FF2B5EF4-FFF2-40B4-BE49-F238E27FC236}">
                    <a16:creationId xmlns:a16="http://schemas.microsoft.com/office/drawing/2014/main" id="{9DDBA868-4C3C-FC03-D45F-1A3FB1FEAD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5435619" y="22342433"/>
                <a:ext cx="11552807" cy="1041732"/>
              </a:xfrm>
              <a:prstGeom prst="rect">
                <a:avLst/>
              </a:prstGeom>
            </p:spPr>
          </p:pic>
          <p:grpSp>
            <p:nvGrpSpPr>
              <p:cNvPr id="1255" name="Group 1254">
                <a:extLst>
                  <a:ext uri="{FF2B5EF4-FFF2-40B4-BE49-F238E27FC236}">
                    <a16:creationId xmlns:a16="http://schemas.microsoft.com/office/drawing/2014/main" id="{4FE74BC1-B7FB-81A8-79F4-C8D8B16FF1E3}"/>
                  </a:ext>
                </a:extLst>
              </p:cNvPr>
              <p:cNvGrpSpPr/>
              <p:nvPr/>
            </p:nvGrpSpPr>
            <p:grpSpPr>
              <a:xfrm>
                <a:off x="25439683" y="23447248"/>
                <a:ext cx="11428791" cy="1944294"/>
                <a:chOff x="25439683" y="23447248"/>
                <a:chExt cx="11428791" cy="1944294"/>
              </a:xfrm>
            </p:grpSpPr>
            <p:pic>
              <p:nvPicPr>
                <p:cNvPr id="1196" name="Picture 1195">
                  <a:extLst>
                    <a:ext uri="{FF2B5EF4-FFF2-40B4-BE49-F238E27FC236}">
                      <a16:creationId xmlns:a16="http://schemas.microsoft.com/office/drawing/2014/main" id="{EDF4BC35-5272-1961-FE36-0091A126BC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0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rcRect l="40694"/>
                <a:stretch/>
              </p:blipFill>
              <p:spPr>
                <a:xfrm>
                  <a:off x="30088114" y="23447248"/>
                  <a:ext cx="6780360" cy="1944294"/>
                </a:xfrm>
                <a:prstGeom prst="rect">
                  <a:avLst/>
                </a:prstGeom>
              </p:spPr>
            </p:pic>
            <p:pic>
              <p:nvPicPr>
                <p:cNvPr id="1254" name="Picture 1253">
                  <a:extLst>
                    <a:ext uri="{FF2B5EF4-FFF2-40B4-BE49-F238E27FC236}">
                      <a16:creationId xmlns:a16="http://schemas.microsoft.com/office/drawing/2014/main" id="{40D46F57-816F-8590-5D61-81E8457721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0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rcRect r="59341" b="68089"/>
                <a:stretch/>
              </p:blipFill>
              <p:spPr>
                <a:xfrm>
                  <a:off x="25439683" y="23536385"/>
                  <a:ext cx="4648431" cy="620443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A984B4E-3D7A-F54E-D531-CAC42C11D3A2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21038084" y="11032819"/>
            <a:ext cx="15187428" cy="2626973"/>
          </a:xfrm>
          <a:prstGeom prst="rect">
            <a:avLst/>
          </a:prstGeom>
          <a:noFill/>
          <a:ln w="76200">
            <a:solidFill>
              <a:srgbClr val="B2B2B2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816B87-F962-C578-84C1-E44B36A9FCA6}"/>
                  </a:ext>
                </a:extLst>
              </p:cNvPr>
              <p:cNvSpPr txBox="1"/>
              <p:nvPr/>
            </p:nvSpPr>
            <p:spPr>
              <a:xfrm>
                <a:off x="-106076" y="10183108"/>
                <a:ext cx="982186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(Leibniz principle) </a:t>
                </a: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𝜙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is a formula,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doesn’t occur in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𝜓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at all, and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𝜓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is got from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𝜙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by replacing one or more free occurrences of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by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, then </a:t>
                </a:r>
                <a14:m>
                  <m:oMath xmlns:m="http://schemas.openxmlformats.org/officeDocument/2006/math"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GB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  <m:d>
                      <m:dPr>
                        <m:ctrlP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𝜙</m:t>
                        </m:r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↔</m:t>
                        </m:r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𝜓</m:t>
                        </m:r>
                      </m:e>
                    </m:d>
                  </m:oMath>
                </a14:m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is valid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816B87-F962-C578-84C1-E44B36A9F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6076" y="10183108"/>
                <a:ext cx="9821863" cy="1569660"/>
              </a:xfrm>
              <a:prstGeom prst="rect">
                <a:avLst/>
              </a:prstGeom>
              <a:blipFill>
                <a:blip r:embed="rId52"/>
                <a:stretch>
                  <a:fillRect l="-1614" t="-4651" r="-1304" b="-120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CAB2317-C6D9-8640-56D4-6A0132C3B742}"/>
                  </a:ext>
                </a:extLst>
              </p:cNvPr>
              <p:cNvSpPr txBox="1"/>
              <p:nvPr/>
            </p:nvSpPr>
            <p:spPr>
              <a:xfrm>
                <a:off x="20698453" y="10196558"/>
                <a:ext cx="401065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0" i="1" u="none" strike="noStrike" kern="1200" cap="none" spc="0" normalizeH="0" baseline="0" noProof="0">
                    <a:ln>
                      <a:noFill/>
                    </a:ln>
                    <a:solidFill>
                      <a:srgbClr val="0F77C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provably equiv.:  </a:t>
                </a:r>
                <a:r>
                  <a:rPr kumimoji="0" lang="en-GB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GB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𝜙</m:t>
                    </m:r>
                    <m:r>
                      <a:rPr kumimoji="0" lang="en-GB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F77C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⊣⊢</m:t>
                    </m:r>
                    <m:r>
                      <a:rPr kumimoji="0" lang="en-GB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𝜓</m:t>
                    </m:r>
                  </m:oMath>
                </a14:m>
                <a:endParaRPr kumimoji="0" lang="en-GB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CAB2317-C6D9-8640-56D4-6A0132C3B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8453" y="10196558"/>
                <a:ext cx="4010650" cy="523220"/>
              </a:xfrm>
              <a:prstGeom prst="rect">
                <a:avLst/>
              </a:prstGeom>
              <a:blipFill>
                <a:blip r:embed="rId53"/>
                <a:stretch>
                  <a:fillRect l="-3040" t="-12941" b="-32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" name="Picture 53">
            <a:extLst>
              <a:ext uri="{FF2B5EF4-FFF2-40B4-BE49-F238E27FC236}">
                <a16:creationId xmlns:a16="http://schemas.microsoft.com/office/drawing/2014/main" id="{869D0313-F7E8-06D4-7A79-F7CA199630B1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21856889" y="13799859"/>
            <a:ext cx="15187428" cy="609325"/>
          </a:xfrm>
          <a:prstGeom prst="rect">
            <a:avLst/>
          </a:prstGeom>
          <a:noFill/>
          <a:ln w="76200">
            <a:solidFill>
              <a:srgbClr val="B2B2B2"/>
            </a:solidFill>
          </a:ln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006884A-80BC-4F05-04DD-2FFB543A446B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3191304" y="14994723"/>
            <a:ext cx="14334249" cy="1173477"/>
          </a:xfrm>
          <a:prstGeom prst="rect">
            <a:avLst/>
          </a:prstGeom>
          <a:noFill/>
          <a:ln w="76200">
            <a:solidFill>
              <a:srgbClr val="B2B2B2"/>
            </a:solidFill>
          </a:ln>
        </p:spPr>
      </p:pic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F8410E51-EB5E-DC71-2098-31C53AF39BC9}"/>
              </a:ext>
            </a:extLst>
          </p:cNvPr>
          <p:cNvGrpSpPr/>
          <p:nvPr/>
        </p:nvGrpSpPr>
        <p:grpSpPr>
          <a:xfrm>
            <a:off x="9025855" y="-166591"/>
            <a:ext cx="16491768" cy="14730834"/>
            <a:chOff x="8768105" y="-16236"/>
            <a:chExt cx="16491768" cy="14730834"/>
          </a:xfrm>
        </p:grpSpPr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06FF298B-8F44-E80E-EC46-6F0ACE3A013C}"/>
                </a:ext>
              </a:extLst>
            </p:cNvPr>
            <p:cNvGrpSpPr/>
            <p:nvPr/>
          </p:nvGrpSpPr>
          <p:grpSpPr>
            <a:xfrm>
              <a:off x="8768105" y="-16236"/>
              <a:ext cx="16491768" cy="10806706"/>
              <a:chOff x="8768105" y="-16236"/>
              <a:chExt cx="16491768" cy="10806706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C54BBC63-9DE8-A5FB-420A-28A9EB6BF2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6"/>
              <a:srcRect l="1063" t="1283" r="26786" b="1070"/>
              <a:stretch/>
            </p:blipFill>
            <p:spPr>
              <a:xfrm>
                <a:off x="20146852" y="3217850"/>
                <a:ext cx="5113021" cy="5059681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2954AF6D-CC61-BC31-E394-47EEE11762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7"/>
              <a:srcRect l="1325" t="1237" r="1622" b="1126"/>
              <a:stretch/>
            </p:blipFill>
            <p:spPr>
              <a:xfrm>
                <a:off x="8768105" y="3312376"/>
                <a:ext cx="5768521" cy="4724400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FDE2E067-56E5-43DA-E79C-CBDF5E98EA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8"/>
              <a:srcRect l="849" t="6710" r="11515" b="600"/>
              <a:stretch/>
            </p:blipFill>
            <p:spPr>
              <a:xfrm>
                <a:off x="14612826" y="2899900"/>
                <a:ext cx="5509260" cy="5120640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8B217785-10CD-798D-82C8-906A6496F6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9"/>
              <a:srcRect l="1129" t="3338" r="1033" b="1520"/>
              <a:stretch/>
            </p:blipFill>
            <p:spPr>
              <a:xfrm>
                <a:off x="12451586" y="-16236"/>
                <a:ext cx="6896100" cy="2899900"/>
              </a:xfrm>
              <a:prstGeom prst="rect">
                <a:avLst/>
              </a:prstGeom>
            </p:spPr>
          </p:pic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712154EB-67AD-673F-5781-8E43DABD5DEF}"/>
                  </a:ext>
                </a:extLst>
              </p:cNvPr>
              <p:cNvGrpSpPr/>
              <p:nvPr/>
            </p:nvGrpSpPr>
            <p:grpSpPr>
              <a:xfrm>
                <a:off x="20522718" y="8433657"/>
                <a:ext cx="4389383" cy="2356813"/>
                <a:chOff x="20448772" y="8385434"/>
                <a:chExt cx="4389383" cy="2356813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638AD235-22C4-6DE2-9E95-0E5D6887F8E4}"/>
                    </a:ext>
                  </a:extLst>
                </p:cNvPr>
                <p:cNvGrpSpPr/>
                <p:nvPr/>
              </p:nvGrpSpPr>
              <p:grpSpPr>
                <a:xfrm>
                  <a:off x="20448772" y="8385435"/>
                  <a:ext cx="4389383" cy="1712360"/>
                  <a:chOff x="23806723" y="12286841"/>
                  <a:chExt cx="4389383" cy="1712360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E6181425-2051-0475-8F30-B34840B57CD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754612" y="12724151"/>
                        <a:ext cx="1908536" cy="6463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>
                              <m: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F77C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𝜙</m:t>
                              </m:r>
                              <m: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F77C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 ⊢  </m:t>
                              </m:r>
                              <m: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𝜓</m:t>
                              </m:r>
                            </m:oMath>
                          </m:oMathPara>
                        </a14:m>
                        <a:endPara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E6181425-2051-0475-8F30-B34840B57CD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754612" y="12724151"/>
                        <a:ext cx="1908536" cy="646331"/>
                      </a:xfrm>
                      <a:prstGeom prst="rect">
                        <a:avLst/>
                      </a:prstGeom>
                      <a:blipFill>
                        <a:blip r:embed="rId6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DADB4618-848A-F9F4-3B1A-57F81252BB2B}"/>
                      </a:ext>
                    </a:extLst>
                  </p:cNvPr>
                  <p:cNvSpPr txBox="1"/>
                  <p:nvPr/>
                </p:nvSpPr>
                <p:spPr>
                  <a:xfrm>
                    <a:off x="23806723" y="12291821"/>
                    <a:ext cx="1808637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F77C2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premise</a:t>
                    </a:r>
                  </a:p>
                </p:txBody>
              </p:sp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1CF8833D-EF92-77E9-B7A4-5994BF522747}"/>
                      </a:ext>
                    </a:extLst>
                  </p:cNvPr>
                  <p:cNvSpPr txBox="1"/>
                  <p:nvPr/>
                </p:nvSpPr>
                <p:spPr>
                  <a:xfrm>
                    <a:off x="25627774" y="12286841"/>
                    <a:ext cx="2568332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B01DE7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consequent</a:t>
                    </a:r>
                  </a:p>
                </p:txBody>
              </p:sp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F8213C08-97CB-E4F0-B179-34959B38FB95}"/>
                      </a:ext>
                    </a:extLst>
                  </p:cNvPr>
                  <p:cNvGrpSpPr/>
                  <p:nvPr/>
                </p:nvGrpSpPr>
                <p:grpSpPr>
                  <a:xfrm>
                    <a:off x="24754612" y="13268090"/>
                    <a:ext cx="1816523" cy="731111"/>
                    <a:chOff x="24754612" y="13268090"/>
                    <a:chExt cx="1816523" cy="731111"/>
                  </a:xfrm>
                </p:grpSpPr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B33547F7-80F0-5367-E09E-527D3C6D03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754612" y="13352870"/>
                      <a:ext cx="1816523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sequent</a:t>
                      </a:r>
                    </a:p>
                  </p:txBody>
                </p:sp>
                <p:sp>
                  <p:nvSpPr>
                    <p:cNvPr id="42" name="Right Brace 41">
                      <a:extLst>
                        <a:ext uri="{FF2B5EF4-FFF2-40B4-BE49-F238E27FC236}">
                          <a16:creationId xmlns:a16="http://schemas.microsoft.com/office/drawing/2014/main" id="{108F0A67-CA8F-AC71-CD86-72F74F8574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5569288" y="12453415"/>
                      <a:ext cx="187171" cy="1816522"/>
                    </a:xfrm>
                    <a:prstGeom prst="rightBrace">
                      <a:avLst/>
                    </a:prstGeom>
                    <a:ln w="38100">
                      <a:solidFill>
                        <a:srgbClr val="00B05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65647FB1-E99C-E96C-1F7A-692D0016E9EC}"/>
                    </a:ext>
                  </a:extLst>
                </p:cNvPr>
                <p:cNvSpPr/>
                <p:nvPr/>
              </p:nvSpPr>
              <p:spPr>
                <a:xfrm>
                  <a:off x="20448772" y="8385434"/>
                  <a:ext cx="4389383" cy="2356813"/>
                </a:xfrm>
                <a:prstGeom prst="rect">
                  <a:avLst/>
                </a:prstGeom>
                <a:noFill/>
                <a:ln w="57150">
                  <a:solidFill>
                    <a:srgbClr val="B01DE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049" name="Group 1048">
              <a:extLst>
                <a:ext uri="{FF2B5EF4-FFF2-40B4-BE49-F238E27FC236}">
                  <a16:creationId xmlns:a16="http://schemas.microsoft.com/office/drawing/2014/main" id="{8D6831F3-B7E5-924F-9D63-6CC8CCCA4D02}"/>
                </a:ext>
              </a:extLst>
            </p:cNvPr>
            <p:cNvGrpSpPr/>
            <p:nvPr/>
          </p:nvGrpSpPr>
          <p:grpSpPr>
            <a:xfrm>
              <a:off x="9644797" y="8091020"/>
              <a:ext cx="10483699" cy="6623578"/>
              <a:chOff x="9644797" y="8091020"/>
              <a:chExt cx="10483699" cy="6623578"/>
            </a:xfrm>
          </p:grpSpPr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FB517371-5EED-95D7-E6E6-CB3A1C1B770A}"/>
                  </a:ext>
                </a:extLst>
              </p:cNvPr>
              <p:cNvSpPr/>
              <p:nvPr/>
            </p:nvSpPr>
            <p:spPr>
              <a:xfrm>
                <a:off x="9644797" y="8091020"/>
                <a:ext cx="10483699" cy="6623578"/>
              </a:xfrm>
              <a:custGeom>
                <a:avLst/>
                <a:gdLst>
                  <a:gd name="connsiteX0" fmla="*/ 0 w 10483699"/>
                  <a:gd name="connsiteY0" fmla="*/ 0 h 6623578"/>
                  <a:gd name="connsiteX1" fmla="*/ 10483699 w 10483699"/>
                  <a:gd name="connsiteY1" fmla="*/ 0 h 6623578"/>
                  <a:gd name="connsiteX2" fmla="*/ 10483699 w 10483699"/>
                  <a:gd name="connsiteY2" fmla="*/ 5263584 h 6623578"/>
                  <a:gd name="connsiteX3" fmla="*/ 10483699 w 10483699"/>
                  <a:gd name="connsiteY3" fmla="*/ 5497942 h 6623578"/>
                  <a:gd name="connsiteX4" fmla="*/ 10483699 w 10483699"/>
                  <a:gd name="connsiteY4" fmla="*/ 6623578 h 6623578"/>
                  <a:gd name="connsiteX5" fmla="*/ 3598017 w 10483699"/>
                  <a:gd name="connsiteY5" fmla="*/ 6623578 h 6623578"/>
                  <a:gd name="connsiteX6" fmla="*/ 3598017 w 10483699"/>
                  <a:gd name="connsiteY6" fmla="*/ 5497942 h 6623578"/>
                  <a:gd name="connsiteX7" fmla="*/ 0 w 10483699"/>
                  <a:gd name="connsiteY7" fmla="*/ 5497942 h 6623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83699" h="6623578">
                    <a:moveTo>
                      <a:pt x="0" y="0"/>
                    </a:moveTo>
                    <a:lnTo>
                      <a:pt x="10483699" y="0"/>
                    </a:lnTo>
                    <a:lnTo>
                      <a:pt x="10483699" y="5263584"/>
                    </a:lnTo>
                    <a:lnTo>
                      <a:pt x="10483699" y="5497942"/>
                    </a:lnTo>
                    <a:lnTo>
                      <a:pt x="10483699" y="6623578"/>
                    </a:lnTo>
                    <a:lnTo>
                      <a:pt x="3598017" y="6623578"/>
                    </a:lnTo>
                    <a:lnTo>
                      <a:pt x="3598017" y="5497942"/>
                    </a:lnTo>
                    <a:lnTo>
                      <a:pt x="0" y="5497942"/>
                    </a:lnTo>
                    <a:close/>
                  </a:path>
                </a:pathLst>
              </a:custGeom>
              <a:noFill/>
              <a:ln w="38100">
                <a:solidFill>
                  <a:srgbClr val="B01DE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94E49C39-2742-16DD-1B96-A1877A6713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1"/>
              <a:srcRect l="2429" t="4690" r="2189" b="3569"/>
              <a:stretch/>
            </p:blipFill>
            <p:spPr>
              <a:xfrm>
                <a:off x="9740553" y="8207222"/>
                <a:ext cx="10211815" cy="5312955"/>
              </a:xfrm>
              <a:prstGeom prst="rect">
                <a:avLst/>
              </a:prstGeom>
              <a:ln>
                <a:noFill/>
              </a:ln>
            </p:spPr>
          </p:pic>
          <p:grpSp>
            <p:nvGrpSpPr>
              <p:cNvPr id="1041" name="Group 1040">
                <a:extLst>
                  <a:ext uri="{FF2B5EF4-FFF2-40B4-BE49-F238E27FC236}">
                    <a16:creationId xmlns:a16="http://schemas.microsoft.com/office/drawing/2014/main" id="{D70AD871-118B-263C-3201-D9932AE8DEA6}"/>
                  </a:ext>
                </a:extLst>
              </p:cNvPr>
              <p:cNvGrpSpPr/>
              <p:nvPr/>
            </p:nvGrpSpPr>
            <p:grpSpPr>
              <a:xfrm>
                <a:off x="13429392" y="13422087"/>
                <a:ext cx="6589524" cy="1270721"/>
                <a:chOff x="13085399" y="13375096"/>
                <a:chExt cx="6589524" cy="1270721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0" name="TextBox 59">
                      <a:extLst>
                        <a:ext uri="{FF2B5EF4-FFF2-40B4-BE49-F238E27FC236}">
                          <a16:creationId xmlns:a16="http://schemas.microsoft.com/office/drawing/2014/main" id="{5E14D7F8-CBD7-F126-C912-F9E44700E2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085399" y="13375096"/>
                      <a:ext cx="4438782" cy="12003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oMath>
                      </a14:m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F77C2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consistent</a:t>
                      </a: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:  </a:t>
                      </a:r>
                      <a14:m>
                        <m:oMath xmlns:m="http://schemas.openxmlformats.org/officeDocument/2006/math">
                          <m: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⊬¬</m:t>
                          </m:r>
                          <m:d>
                            <m:dPr>
                              <m:ctrlP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∧…∧</m:t>
                              </m:r>
                              <m:sSub>
                                <m:sSubPr>
                                  <m:ctrlP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oMath>
                      </a14:m>
                      <a:endPara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>
                <p:sp>
                  <p:nvSpPr>
                    <p:cNvPr id="60" name="TextBox 59">
                      <a:extLst>
                        <a:ext uri="{FF2B5EF4-FFF2-40B4-BE49-F238E27FC236}">
                          <a16:creationId xmlns:a16="http://schemas.microsoft.com/office/drawing/2014/main" id="{5E14D7F8-CBD7-F126-C912-F9E44700E25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085399" y="13375096"/>
                      <a:ext cx="4438782" cy="1200329"/>
                    </a:xfrm>
                    <a:prstGeom prst="rect">
                      <a:avLst/>
                    </a:prstGeom>
                    <a:blipFill>
                      <a:blip r:embed="rId62"/>
                      <a:stretch>
                        <a:fillRect t="-7107" r="-741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039" name="Group 1038">
                  <a:extLst>
                    <a:ext uri="{FF2B5EF4-FFF2-40B4-BE49-F238E27FC236}">
                      <a16:creationId xmlns:a16="http://schemas.microsoft.com/office/drawing/2014/main" id="{9B252379-E515-7C73-45DB-0CDCD3548F02}"/>
                    </a:ext>
                  </a:extLst>
                </p:cNvPr>
                <p:cNvGrpSpPr/>
                <p:nvPr/>
              </p:nvGrpSpPr>
              <p:grpSpPr>
                <a:xfrm>
                  <a:off x="17124882" y="13445488"/>
                  <a:ext cx="2550041" cy="1200329"/>
                  <a:chOff x="17124882" y="13445488"/>
                  <a:chExt cx="2550041" cy="1200329"/>
                </a:xfrm>
              </p:grpSpPr>
              <p:cxnSp>
                <p:nvCxnSpPr>
                  <p:cNvPr id="1031" name="Straight Connector 1030">
                    <a:extLst>
                      <a:ext uri="{FF2B5EF4-FFF2-40B4-BE49-F238E27FC236}">
                        <a16:creationId xmlns:a16="http://schemas.microsoft.com/office/drawing/2014/main" id="{BFE2258E-2F02-E3C9-2332-BEF60BF885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7124882" y="13445488"/>
                    <a:ext cx="771232" cy="1101324"/>
                  </a:xfrm>
                  <a:prstGeom prst="line">
                    <a:avLst/>
                  </a:prstGeom>
                  <a:ln w="38100">
                    <a:solidFill>
                      <a:srgbClr val="B2B2B2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32" name="TextBox 1031">
                    <a:extLst>
                      <a:ext uri="{FF2B5EF4-FFF2-40B4-BE49-F238E27FC236}">
                        <a16:creationId xmlns:a16="http://schemas.microsoft.com/office/drawing/2014/main" id="{1421BF0E-DE15-D591-1ECD-12B17D77A8F2}"/>
                      </a:ext>
                    </a:extLst>
                  </p:cNvPr>
                  <p:cNvSpPr txBox="1"/>
                  <p:nvPr/>
                </p:nvSpPr>
                <p:spPr>
                  <a:xfrm>
                    <a:off x="17124882" y="13445488"/>
                    <a:ext cx="2550041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1" i="0" u="none" strike="noStrike" kern="1200" cap="none" spc="0" normalizeH="0" baseline="0" noProof="0" err="1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iff</a:t>
                    </a:r>
                    <a:endParaRPr kumimoji="0" lang="en-GB" sz="3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B2B2B2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  <a:p>
                    <a:pPr marL="0" marR="0" lvl="0" indent="0" algn="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satisfiable</a:t>
                    </a:r>
                  </a:p>
                </p:txBody>
              </p:sp>
            </p:grpSp>
          </p:grpSp>
        </p:grpSp>
      </p:grp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4B5FCF8D-170C-8859-F57D-8DEA30F0F97E}"/>
              </a:ext>
            </a:extLst>
          </p:cNvPr>
          <p:cNvCxnSpPr/>
          <p:nvPr/>
        </p:nvCxnSpPr>
        <p:spPr>
          <a:xfrm flipV="1">
            <a:off x="13403409" y="13377005"/>
            <a:ext cx="2913694" cy="98090"/>
          </a:xfrm>
          <a:prstGeom prst="line">
            <a:avLst/>
          </a:prstGeom>
          <a:ln>
            <a:solidFill>
              <a:srgbClr val="B2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D68C9D36-87FF-7D4C-5C66-CE0C234E6E5F}"/>
              </a:ext>
            </a:extLst>
          </p:cNvPr>
          <p:cNvGrpSpPr/>
          <p:nvPr/>
        </p:nvGrpSpPr>
        <p:grpSpPr>
          <a:xfrm>
            <a:off x="13110634" y="16374128"/>
            <a:ext cx="14508544" cy="3519465"/>
            <a:chOff x="13110634" y="16374128"/>
            <a:chExt cx="14508544" cy="3519465"/>
          </a:xfrm>
        </p:grpSpPr>
        <p:grpSp>
          <p:nvGrpSpPr>
            <p:cNvPr id="1064" name="Group 1063">
              <a:extLst>
                <a:ext uri="{FF2B5EF4-FFF2-40B4-BE49-F238E27FC236}">
                  <a16:creationId xmlns:a16="http://schemas.microsoft.com/office/drawing/2014/main" id="{20522263-137B-EE32-AE9C-0CB2A788FACA}"/>
                </a:ext>
              </a:extLst>
            </p:cNvPr>
            <p:cNvGrpSpPr/>
            <p:nvPr/>
          </p:nvGrpSpPr>
          <p:grpSpPr>
            <a:xfrm>
              <a:off x="13168647" y="16451643"/>
              <a:ext cx="14334248" cy="3441950"/>
              <a:chOff x="13168647" y="16451643"/>
              <a:chExt cx="14334248" cy="344195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52" name="TextBox 1051">
                    <a:extLst>
                      <a:ext uri="{FF2B5EF4-FFF2-40B4-BE49-F238E27FC236}">
                        <a16:creationId xmlns:a16="http://schemas.microsoft.com/office/drawing/2014/main" id="{B409E8F7-DB44-ED2D-9EC5-2550EB90BD66}"/>
                      </a:ext>
                    </a:extLst>
                  </p:cNvPr>
                  <p:cNvSpPr txBox="1"/>
                  <p:nvPr/>
                </p:nvSpPr>
                <p:spPr>
                  <a:xfrm>
                    <a:off x="13168647" y="16451643"/>
                    <a:ext cx="14334248" cy="107721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Suppose </a:t>
                    </a:r>
                    <a14:m>
                      <m:oMath xmlns:m="http://schemas.openxmlformats.org/officeDocument/2006/math">
                        <m:r>
                          <a:rPr kumimoji="0" lang="en-GB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</m:t>
                        </m:r>
                        <m:r>
                          <a:rPr kumimoji="0" lang="en-GB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GB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kumimoji="0" lang="en-GB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 =</m:t>
                        </m:r>
                        <m:r>
                          <m:rPr>
                            <m:nor/>
                          </m:rPr>
                          <a:rPr kumimoji="0" lang="en-GB" sz="3200" b="0" i="0" u="none" strike="noStrike" kern="1200" cap="none" spc="0" normalizeH="0" baseline="0" noProof="0" dirty="0" err="1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tt</m:t>
                        </m:r>
                      </m:oMath>
                    </a14:m>
                    <a:r>
                      <a:rPr kumimoji="0" lang="en-GB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, </a:t>
                    </a:r>
                    <a14:m>
                      <m:oMath xmlns:m="http://schemas.openxmlformats.org/officeDocument/2006/math">
                        <m:r>
                          <a:rPr kumimoji="0" lang="en-GB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</m:t>
                        </m:r>
                        <m:r>
                          <a:rPr kumimoji="0" lang="en-GB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GB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GB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 =</m:t>
                        </m:r>
                        <m:r>
                          <m:rPr>
                            <m:nor/>
                          </m:rPr>
                          <a:rPr kumimoji="0" lang="en-GB" sz="3200" b="0" i="0" u="none" strike="noStrike" kern="1200" cap="none" spc="0" normalizeH="0" baseline="0" noProof="0" dirty="0" err="1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tt</m:t>
                        </m:r>
                      </m:oMath>
                    </a14:m>
                    <a:r>
                      <a:rPr kumimoji="0" lang="en-GB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 and </a:t>
                    </a:r>
                    <a14:m>
                      <m:oMath xmlns:m="http://schemas.openxmlformats.org/officeDocument/2006/math">
                        <m:r>
                          <a:rPr kumimoji="0" lang="en-GB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</m:t>
                        </m:r>
                        <m:r>
                          <a:rPr kumimoji="0" lang="en-GB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GB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  <m:r>
                          <a:rPr kumimoji="0" lang="en-GB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 =</m:t>
                        </m:r>
                        <m:r>
                          <m:rPr>
                            <m:nor/>
                          </m:rPr>
                          <a:rPr kumimoji="0" lang="en-GB" sz="32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ff</m:t>
                        </m:r>
                        <m:r>
                          <a:rPr kumimoji="0" lang="en-GB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</m:oMath>
                    </a14:m>
                    <a:r>
                      <a:rPr kumimoji="0" lang="en-GB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in a certain situation. Does </a:t>
                    </a:r>
                    <a14:m>
                      <m:oMath xmlns:m="http://schemas.openxmlformats.org/officeDocument/2006/math"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¬</m:t>
                        </m:r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∨¬</m:t>
                        </m:r>
                        <m:r>
                          <a:rPr kumimoji="0" lang="en-GB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oMath>
                    </a14:m>
                    <a:r>
                      <a:rPr kumimoji="0" lang="en-GB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  evaluate to true or false in this situation? Show your working</a:t>
                    </a:r>
                  </a:p>
                </p:txBody>
              </p:sp>
            </mc:Choice>
            <mc:Fallback>
              <p:sp>
                <p:nvSpPr>
                  <p:cNvPr id="1052" name="TextBox 1051">
                    <a:extLst>
                      <a:ext uri="{FF2B5EF4-FFF2-40B4-BE49-F238E27FC236}">
                        <a16:creationId xmlns:a16="http://schemas.microsoft.com/office/drawing/2014/main" id="{B409E8F7-DB44-ED2D-9EC5-2550EB90BD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168647" y="16451643"/>
                    <a:ext cx="14334248" cy="1077218"/>
                  </a:xfrm>
                  <a:prstGeom prst="rect">
                    <a:avLst/>
                  </a:prstGeom>
                  <a:blipFill>
                    <a:blip r:embed="rId63"/>
                    <a:stretch>
                      <a:fillRect l="-1063" t="-6818" b="-18750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058" name="Picture 1057">
                <a:extLst>
                  <a:ext uri="{FF2B5EF4-FFF2-40B4-BE49-F238E27FC236}">
                    <a16:creationId xmlns:a16="http://schemas.microsoft.com/office/drawing/2014/main" id="{E92DF264-7F14-D39A-E598-986EB625B1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3273012" y="17540987"/>
                <a:ext cx="11705179" cy="1688541"/>
              </a:xfrm>
              <a:prstGeom prst="rect">
                <a:avLst/>
              </a:prstGeom>
            </p:spPr>
          </p:pic>
          <p:pic>
            <p:nvPicPr>
              <p:cNvPr id="1060" name="Picture 1059">
                <a:extLst>
                  <a:ext uri="{FF2B5EF4-FFF2-40B4-BE49-F238E27FC236}">
                    <a16:creationId xmlns:a16="http://schemas.microsoft.com/office/drawing/2014/main" id="{D3FF33F9-B989-6652-3466-1AA3517850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3168647" y="19344966"/>
                <a:ext cx="4958742" cy="548627"/>
              </a:xfrm>
              <a:prstGeom prst="rect">
                <a:avLst/>
              </a:prstGeom>
            </p:spPr>
          </p:pic>
        </p:grp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D0F89DAA-0ECE-345F-0227-8B3E6CE20198}"/>
                </a:ext>
              </a:extLst>
            </p:cNvPr>
            <p:cNvSpPr/>
            <p:nvPr/>
          </p:nvSpPr>
          <p:spPr>
            <a:xfrm>
              <a:off x="13110634" y="16374128"/>
              <a:ext cx="14508544" cy="3519465"/>
            </a:xfrm>
            <a:custGeom>
              <a:avLst/>
              <a:gdLst>
                <a:gd name="connsiteX0" fmla="*/ 0 w 14334249"/>
                <a:gd name="connsiteY0" fmla="*/ 0 h 3519465"/>
                <a:gd name="connsiteX1" fmla="*/ 14334249 w 14334249"/>
                <a:gd name="connsiteY1" fmla="*/ 0 h 3519465"/>
                <a:gd name="connsiteX2" fmla="*/ 14334249 w 14334249"/>
                <a:gd name="connsiteY2" fmla="*/ 2008783 h 3519465"/>
                <a:gd name="connsiteX3" fmla="*/ 11669201 w 14334249"/>
                <a:gd name="connsiteY3" fmla="*/ 2008783 h 3519465"/>
                <a:gd name="connsiteX4" fmla="*/ 11669201 w 14334249"/>
                <a:gd name="connsiteY4" fmla="*/ 3519465 h 3519465"/>
                <a:gd name="connsiteX5" fmla="*/ 0 w 14334249"/>
                <a:gd name="connsiteY5" fmla="*/ 3519465 h 3519465"/>
                <a:gd name="connsiteX6" fmla="*/ 0 w 14334249"/>
                <a:gd name="connsiteY6" fmla="*/ 2008783 h 3519465"/>
                <a:gd name="connsiteX7" fmla="*/ 0 w 14334249"/>
                <a:gd name="connsiteY7" fmla="*/ 831039 h 351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34249" h="3519465">
                  <a:moveTo>
                    <a:pt x="0" y="0"/>
                  </a:moveTo>
                  <a:lnTo>
                    <a:pt x="14334249" y="0"/>
                  </a:lnTo>
                  <a:lnTo>
                    <a:pt x="14334249" y="2008783"/>
                  </a:lnTo>
                  <a:lnTo>
                    <a:pt x="11669201" y="2008783"/>
                  </a:lnTo>
                  <a:lnTo>
                    <a:pt x="11669201" y="3519465"/>
                  </a:lnTo>
                  <a:lnTo>
                    <a:pt x="0" y="3519465"/>
                  </a:lnTo>
                  <a:lnTo>
                    <a:pt x="0" y="2008783"/>
                  </a:lnTo>
                  <a:lnTo>
                    <a:pt x="0" y="831039"/>
                  </a:lnTo>
                  <a:close/>
                </a:path>
              </a:pathLst>
            </a:custGeom>
            <a:noFill/>
            <a:ln w="28575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163" name="Group 1162">
            <a:extLst>
              <a:ext uri="{FF2B5EF4-FFF2-40B4-BE49-F238E27FC236}">
                <a16:creationId xmlns:a16="http://schemas.microsoft.com/office/drawing/2014/main" id="{FBFB665A-EC90-4DE0-BB1E-A1AF3EBCD577}"/>
              </a:ext>
            </a:extLst>
          </p:cNvPr>
          <p:cNvGrpSpPr/>
          <p:nvPr/>
        </p:nvGrpSpPr>
        <p:grpSpPr>
          <a:xfrm>
            <a:off x="12890903" y="20378781"/>
            <a:ext cx="11521695" cy="4442060"/>
            <a:chOff x="12920067" y="20943569"/>
            <a:chExt cx="11521695" cy="4442060"/>
          </a:xfrm>
        </p:grpSpPr>
        <p:pic>
          <p:nvPicPr>
            <p:cNvPr id="1084" name="Picture 1083">
              <a:extLst>
                <a:ext uri="{FF2B5EF4-FFF2-40B4-BE49-F238E27FC236}">
                  <a16:creationId xmlns:a16="http://schemas.microsoft.com/office/drawing/2014/main" id="{66A37193-3364-F399-8A4C-EEB03BF12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7790" b="-1758"/>
            <a:stretch/>
          </p:blipFill>
          <p:spPr>
            <a:xfrm>
              <a:off x="12925941" y="23683386"/>
              <a:ext cx="8787165" cy="775756"/>
            </a:xfrm>
            <a:prstGeom prst="rect">
              <a:avLst/>
            </a:prstGeom>
          </p:spPr>
        </p:pic>
        <p:pic>
          <p:nvPicPr>
            <p:cNvPr id="1086" name="Picture 1085">
              <a:extLst>
                <a:ext uri="{FF2B5EF4-FFF2-40B4-BE49-F238E27FC236}">
                  <a16:creationId xmlns:a16="http://schemas.microsoft.com/office/drawing/2014/main" id="{C1C1B9D1-9649-8684-63A8-35A157BECE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13496009" y="21534614"/>
              <a:ext cx="10945753" cy="2000529"/>
            </a:xfrm>
            <a:prstGeom prst="rect">
              <a:avLst/>
            </a:prstGeom>
          </p:spPr>
        </p:pic>
        <p:pic>
          <p:nvPicPr>
            <p:cNvPr id="1152" name="Picture 1151">
              <a:extLst>
                <a:ext uri="{FF2B5EF4-FFF2-40B4-BE49-F238E27FC236}">
                  <a16:creationId xmlns:a16="http://schemas.microsoft.com/office/drawing/2014/main" id="{D3BC6962-BDC9-1161-F30A-BE0C6B57C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2920067" y="20943569"/>
              <a:ext cx="7456341" cy="685448"/>
            </a:xfrm>
            <a:prstGeom prst="rect">
              <a:avLst/>
            </a:prstGeom>
          </p:spPr>
        </p:pic>
        <p:cxnSp>
          <p:nvCxnSpPr>
            <p:cNvPr id="1154" name="Connector: Elbow 1153">
              <a:extLst>
                <a:ext uri="{FF2B5EF4-FFF2-40B4-BE49-F238E27FC236}">
                  <a16:creationId xmlns:a16="http://schemas.microsoft.com/office/drawing/2014/main" id="{9B3B275E-6F62-79AA-9401-4F7E70BD1E80}"/>
                </a:ext>
              </a:extLst>
            </p:cNvPr>
            <p:cNvCxnSpPr>
              <a:stCxn id="1152" idx="3"/>
            </p:cNvCxnSpPr>
            <p:nvPr/>
          </p:nvCxnSpPr>
          <p:spPr>
            <a:xfrm>
              <a:off x="20376408" y="21286293"/>
              <a:ext cx="1118159" cy="342724"/>
            </a:xfrm>
            <a:prstGeom prst="bentConnector3">
              <a:avLst>
                <a:gd name="adj1" fmla="val 101111"/>
              </a:avLst>
            </a:prstGeom>
            <a:ln w="38100">
              <a:solidFill>
                <a:srgbClr val="0F77C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0" name="Straight Arrow Connector 1159">
              <a:extLst>
                <a:ext uri="{FF2B5EF4-FFF2-40B4-BE49-F238E27FC236}">
                  <a16:creationId xmlns:a16="http://schemas.microsoft.com/office/drawing/2014/main" id="{48C51FBB-E158-98CE-BF21-6156580A225A}"/>
                </a:ext>
              </a:extLst>
            </p:cNvPr>
            <p:cNvCxnSpPr>
              <a:stCxn id="1084" idx="3"/>
            </p:cNvCxnSpPr>
            <p:nvPr/>
          </p:nvCxnSpPr>
          <p:spPr>
            <a:xfrm>
              <a:off x="21713106" y="24071264"/>
              <a:ext cx="727794" cy="0"/>
            </a:xfrm>
            <a:prstGeom prst="straightConnector1">
              <a:avLst/>
            </a:prstGeom>
            <a:ln w="38100">
              <a:solidFill>
                <a:srgbClr val="0F77C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61" name="TextBox 1160">
                  <a:extLst>
                    <a:ext uri="{FF2B5EF4-FFF2-40B4-BE49-F238E27FC236}">
                      <a16:creationId xmlns:a16="http://schemas.microsoft.com/office/drawing/2014/main" id="{7D697B98-556E-1ABB-3B8A-DEF414D19EA0}"/>
                    </a:ext>
                  </a:extLst>
                </p:cNvPr>
                <p:cNvSpPr txBox="1"/>
                <p:nvPr/>
              </p:nvSpPr>
              <p:spPr>
                <a:xfrm>
                  <a:off x="22561283" y="23689701"/>
                  <a:ext cx="673581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GB" sz="4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⊤</m:t>
                        </m:r>
                      </m:oMath>
                    </m:oMathPara>
                  </a14:m>
                  <a:endParaRPr kumimoji="0" lang="en-GB" sz="44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1161" name="TextBox 1160">
                  <a:extLst>
                    <a:ext uri="{FF2B5EF4-FFF2-40B4-BE49-F238E27FC236}">
                      <a16:creationId xmlns:a16="http://schemas.microsoft.com/office/drawing/2014/main" id="{7D697B98-556E-1ABB-3B8A-DEF414D19E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61283" y="23689701"/>
                  <a:ext cx="673581" cy="769441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62" name="TextBox 1161">
                  <a:extLst>
                    <a:ext uri="{FF2B5EF4-FFF2-40B4-BE49-F238E27FC236}">
                      <a16:creationId xmlns:a16="http://schemas.microsoft.com/office/drawing/2014/main" id="{ADF3347D-E270-4D94-AD32-4D532BFDB8DD}"/>
                    </a:ext>
                  </a:extLst>
                </p:cNvPr>
                <p:cNvSpPr txBox="1"/>
                <p:nvPr/>
              </p:nvSpPr>
              <p:spPr>
                <a:xfrm>
                  <a:off x="14565245" y="24308411"/>
                  <a:ext cx="9051243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B2B2B2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Since no two object of different sorts can be equal (so </a:t>
                  </a:r>
                  <a14:m>
                    <m:oMath xmlns:m="http://schemas.openxmlformats.org/officeDocument/2006/math"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≠</m:t>
                      </m:r>
                      <m:r>
                        <a:rPr kumimoji="0" lang="en-GB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</m:oMath>
                  </a14:m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B2B2B2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would not be well-formed)</a:t>
                  </a:r>
                </a:p>
              </p:txBody>
            </p:sp>
          </mc:Choice>
          <mc:Fallback>
            <p:sp>
              <p:nvSpPr>
                <p:cNvPr id="1162" name="TextBox 1161">
                  <a:extLst>
                    <a:ext uri="{FF2B5EF4-FFF2-40B4-BE49-F238E27FC236}">
                      <a16:creationId xmlns:a16="http://schemas.microsoft.com/office/drawing/2014/main" id="{ADF3347D-E270-4D94-AD32-4D532BFDB8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65245" y="24308411"/>
                  <a:ext cx="9051243" cy="1077218"/>
                </a:xfrm>
                <a:prstGeom prst="rect">
                  <a:avLst/>
                </a:prstGeom>
                <a:blipFill>
                  <a:blip r:embed="rId70"/>
                  <a:stretch>
                    <a:fillRect l="-1752" t="-6780" r="-1011" b="-1807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64" name="Rectangle 1163">
            <a:extLst>
              <a:ext uri="{FF2B5EF4-FFF2-40B4-BE49-F238E27FC236}">
                <a16:creationId xmlns:a16="http://schemas.microsoft.com/office/drawing/2014/main" id="{5ECE8468-E108-E765-B46D-342DD06417E3}"/>
              </a:ext>
            </a:extLst>
          </p:cNvPr>
          <p:cNvSpPr/>
          <p:nvPr/>
        </p:nvSpPr>
        <p:spPr>
          <a:xfrm>
            <a:off x="12890903" y="20176489"/>
            <a:ext cx="11481663" cy="4820547"/>
          </a:xfrm>
          <a:prstGeom prst="rect">
            <a:avLst/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66" name="TextBox 1165">
            <a:extLst>
              <a:ext uri="{FF2B5EF4-FFF2-40B4-BE49-F238E27FC236}">
                <a16:creationId xmlns:a16="http://schemas.microsoft.com/office/drawing/2014/main" id="{FA492F3D-67ED-4AB2-614A-9C7AF93D05C0}"/>
              </a:ext>
            </a:extLst>
          </p:cNvPr>
          <p:cNvSpPr txBox="1"/>
          <p:nvPr/>
        </p:nvSpPr>
        <p:spPr>
          <a:xfrm>
            <a:off x="31611330" y="19214876"/>
            <a:ext cx="7247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srgbClr val="B01DE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Make sure your array access is LEGAL!</a:t>
            </a:r>
          </a:p>
        </p:txBody>
      </p:sp>
    </p:spTree>
    <p:extLst>
      <p:ext uri="{BB962C8B-B14F-4D97-AF65-F5344CB8AC3E}">
        <p14:creationId xmlns:p14="http://schemas.microsoft.com/office/powerpoint/2010/main" val="4275014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76553-0312-C737-9768-7BC5B2DEE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2" name="Group 1151">
            <a:extLst>
              <a:ext uri="{FF2B5EF4-FFF2-40B4-BE49-F238E27FC236}">
                <a16:creationId xmlns:a16="http://schemas.microsoft.com/office/drawing/2014/main" id="{ACE2561E-0FF0-299A-8886-CF300483F285}"/>
              </a:ext>
            </a:extLst>
          </p:cNvPr>
          <p:cNvGrpSpPr/>
          <p:nvPr/>
        </p:nvGrpSpPr>
        <p:grpSpPr>
          <a:xfrm>
            <a:off x="0" y="7815565"/>
            <a:ext cx="17640615" cy="27306285"/>
            <a:chOff x="-42585" y="13018"/>
            <a:chExt cx="17640615" cy="27306285"/>
          </a:xfrm>
        </p:grpSpPr>
        <p:grpSp>
          <p:nvGrpSpPr>
            <p:cNvPr id="1122" name="Group 1121">
              <a:extLst>
                <a:ext uri="{FF2B5EF4-FFF2-40B4-BE49-F238E27FC236}">
                  <a16:creationId xmlns:a16="http://schemas.microsoft.com/office/drawing/2014/main" id="{59C1C86F-131F-4E4B-1D63-E1077BDA2F56}"/>
                </a:ext>
              </a:extLst>
            </p:cNvPr>
            <p:cNvGrpSpPr/>
            <p:nvPr/>
          </p:nvGrpSpPr>
          <p:grpSpPr>
            <a:xfrm>
              <a:off x="-42585" y="5555905"/>
              <a:ext cx="17640615" cy="10220104"/>
              <a:chOff x="208079" y="12995082"/>
              <a:chExt cx="17640615" cy="10220104"/>
            </a:xfrm>
          </p:grpSpPr>
          <p:grpSp>
            <p:nvGrpSpPr>
              <p:cNvPr id="1121" name="Group 1120">
                <a:extLst>
                  <a:ext uri="{FF2B5EF4-FFF2-40B4-BE49-F238E27FC236}">
                    <a16:creationId xmlns:a16="http://schemas.microsoft.com/office/drawing/2014/main" id="{74D91081-169E-0042-8F2F-465D086B6B4F}"/>
                  </a:ext>
                </a:extLst>
              </p:cNvPr>
              <p:cNvGrpSpPr/>
              <p:nvPr/>
            </p:nvGrpSpPr>
            <p:grpSpPr>
              <a:xfrm>
                <a:off x="208079" y="12995082"/>
                <a:ext cx="15963900" cy="5577124"/>
                <a:chOff x="208079" y="12995082"/>
                <a:chExt cx="15963900" cy="5577124"/>
              </a:xfrm>
            </p:grpSpPr>
            <p:grpSp>
              <p:nvGrpSpPr>
                <p:cNvPr id="1103" name="Group 1102">
                  <a:extLst>
                    <a:ext uri="{FF2B5EF4-FFF2-40B4-BE49-F238E27FC236}">
                      <a16:creationId xmlns:a16="http://schemas.microsoft.com/office/drawing/2014/main" id="{2DDFE46F-B1FB-4FED-34F4-B8C5D21CC120}"/>
                    </a:ext>
                  </a:extLst>
                </p:cNvPr>
                <p:cNvGrpSpPr/>
                <p:nvPr/>
              </p:nvGrpSpPr>
              <p:grpSpPr>
                <a:xfrm>
                  <a:off x="548029" y="13319252"/>
                  <a:ext cx="15226243" cy="4846661"/>
                  <a:chOff x="6765930" y="8315075"/>
                  <a:chExt cx="15226243" cy="4846661"/>
                </a:xfrm>
              </p:grpSpPr>
              <p:grpSp>
                <p:nvGrpSpPr>
                  <p:cNvPr id="1039" name="Group 1038">
                    <a:extLst>
                      <a:ext uri="{FF2B5EF4-FFF2-40B4-BE49-F238E27FC236}">
                        <a16:creationId xmlns:a16="http://schemas.microsoft.com/office/drawing/2014/main" id="{4FA4105C-F6C4-9B26-4949-15C6F51A6FF5}"/>
                      </a:ext>
                    </a:extLst>
                  </p:cNvPr>
                  <p:cNvGrpSpPr/>
                  <p:nvPr/>
                </p:nvGrpSpPr>
                <p:grpSpPr>
                  <a:xfrm>
                    <a:off x="6765930" y="8730210"/>
                    <a:ext cx="4216424" cy="1714508"/>
                    <a:chOff x="6765930" y="8730210"/>
                    <a:chExt cx="4216424" cy="1714508"/>
                  </a:xfrm>
                </p:grpSpPr>
                <p:sp>
                  <p:nvSpPr>
                    <p:cNvPr id="47" name="Rectangle: Rounded Corners 46">
                      <a:extLst>
                        <a:ext uri="{FF2B5EF4-FFF2-40B4-BE49-F238E27FC236}">
                          <a16:creationId xmlns:a16="http://schemas.microsoft.com/office/drawing/2014/main" id="{9247256C-839C-EC0D-F003-9258712640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65930" y="8730210"/>
                      <a:ext cx="4132060" cy="1714508"/>
                    </a:xfrm>
                    <a:prstGeom prst="roundRect">
                      <a:avLst/>
                    </a:prstGeom>
                    <a:solidFill>
                      <a:srgbClr val="FFFBF7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9" name="TextBox 8">
                          <a:extLst>
                            <a:ext uri="{FF2B5EF4-FFF2-40B4-BE49-F238E27FC236}">
                              <a16:creationId xmlns:a16="http://schemas.microsoft.com/office/drawing/2014/main" id="{31D76191-E22C-2F5C-1B22-DC0837EC692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802555" y="8844907"/>
                          <a:ext cx="4179799" cy="15759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8BDBA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// MID: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oMath>
                          </a14:m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 err="1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someFunc</a:t>
                          </a: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GB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 pitchFamily="34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0" lang="en-GB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 pitchFamily="34" charset="0"/>
                                      <a:ea typeface="+mn-ea"/>
                                      <a:cs typeface="+mn-cs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kumimoji="0" lang="en-GB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 pitchFamily="34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,..,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GB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 pitchFamily="34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0" lang="en-GB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 pitchFamily="34" charset="0"/>
                                      <a:ea typeface="+mn-ea"/>
                                      <a:cs typeface="+mn-cs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kumimoji="0" lang="en-GB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 pitchFamily="34" charset="0"/>
                                      <a:ea typeface="+mn-ea"/>
                                      <a:cs typeface="+mn-cs"/>
                                    </a:rPr>
                                    <m:t>n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)</a:t>
                          </a:r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8BDBA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// MID: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𝑄</m:t>
                              </m:r>
                            </m:oMath>
                          </a14:m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9" name="TextBox 8">
                          <a:extLst>
                            <a:ext uri="{FF2B5EF4-FFF2-40B4-BE49-F238E27FC236}">
                              <a16:creationId xmlns:a16="http://schemas.microsoft.com/office/drawing/2014/main" id="{31D76191-E22C-2F5C-1B22-DC0837EC692C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802555" y="8844907"/>
                          <a:ext cx="4179799" cy="1575944"/>
                        </a:xfrm>
                        <a:prstGeom prst="rect">
                          <a:avLst/>
                        </a:prstGeom>
                        <a:blipFill>
                          <a:blip r:embed="rId2"/>
                          <a:stretch>
                            <a:fillRect l="-3796" t="-5019" r="-2774" b="-11583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73C6E68A-546B-075E-FD1B-EDCD95540FD0}"/>
                      </a:ext>
                    </a:extLst>
                  </p:cNvPr>
                  <p:cNvSpPr txBox="1"/>
                  <p:nvPr/>
                </p:nvSpPr>
                <p:spPr>
                  <a:xfrm>
                    <a:off x="15276631" y="8986520"/>
                    <a:ext cx="1847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B2B2B2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3" name="TextBox 12">
                        <a:extLst>
                          <a:ext uri="{FF2B5EF4-FFF2-40B4-BE49-F238E27FC236}">
                            <a16:creationId xmlns:a16="http://schemas.microsoft.com/office/drawing/2014/main" id="{9BA80B59-3182-1481-6596-C4A82B091D2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254554" y="9182586"/>
                        <a:ext cx="10737619" cy="171450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>
                              <m:f>
                                <m:fPr>
                                  <m:ctrlP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eqArr>
                                    <m:eqArrPr>
                                      <m:ctrlP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𝑃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⟶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𝑅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kumimoji="0" lang="x-IV_mathan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B01DE7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B01DE7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B01DE7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x</m:t>
                                              </m:r>
                                            </m:e>
                                          </m:acc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B01DE7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↦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B01DE7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B01DE7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𝑣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e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kumimoji="0" lang="x-IV_mathan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8C3A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8C3A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8C3A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𝑣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begChr m:val="["/>
                                              <m:ctrlP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8C3A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8C3A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..</m:t>
                                              </m:r>
                                            </m:e>
                                          </m:d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8C3A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↦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8C3A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8C3A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𝑣</m:t>
                                              </m:r>
                                            </m:e>
                                          </m:acc>
                                          <m:sSub>
                                            <m:sSubPr>
                                              <m:ctrlPr>
                                                <a:rPr kumimoji="0" lang="x-IV_mathan" sz="32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8C3A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d>
                                                <m:dPr>
                                                  <m:begChr m:val="["/>
                                                  <m:ctrlPr>
                                                    <a:rPr kumimoji="0" lang="x-IV_mathan" sz="3200" b="0" i="0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008C3A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kumimoji="0" lang="x-IV_mathan" sz="3200" b="0" i="0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008C3A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  <m:t>..</m:t>
                                                  </m:r>
                                                </m:e>
                                              </m:d>
                                            </m:e>
                                            <m:sub>
                                              <m: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8C3A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 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∧</m:t>
                                      </m:r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 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𝑆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kumimoji="0" lang="x-IV_mathan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B01DE7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B01DE7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B01DE7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x</m:t>
                                              </m:r>
                                            </m:e>
                                          </m:acc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B01DE7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↦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B01DE7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B01DE7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𝑣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kumimoji="0" lang="x-IV_mathan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8C3A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8C3A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8C3A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𝑣</m:t>
                                              </m:r>
                                            </m:e>
                                          </m:acc>
                                          <m:sSub>
                                            <m:sSubPr>
                                              <m:ctrlPr>
                                                <a:rPr kumimoji="0" lang="x-IV_mathan" sz="32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8C3A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d>
                                                <m:dPr>
                                                  <m:begChr m:val="["/>
                                                  <m:ctrlPr>
                                                    <a:rPr kumimoji="0" lang="x-IV_mathan" sz="3200" b="0" i="0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008C3A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kumimoji="0" lang="x-IV_mathan" sz="3200" b="0" i="0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008C3A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  <m:t>..</m:t>
                                                  </m:r>
                                                </m:e>
                                              </m:d>
                                            </m:e>
                                            <m:sub>
                                              <m: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8C3A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𝑝𝑟𝑒</m:t>
                                              </m:r>
                                            </m:sub>
                                          </m:sSub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8C3A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↦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8C3A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8C3A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𝑣</m:t>
                                              </m:r>
                                            </m:e>
                                          </m:acc>
                                          <m:sSub>
                                            <m:sSubPr>
                                              <m:ctrlPr>
                                                <a:rPr kumimoji="0" lang="x-IV_mathan" sz="32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8C3A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d>
                                                <m:dPr>
                                                  <m:begChr m:val="["/>
                                                  <m:ctrlPr>
                                                    <a:rPr kumimoji="0" lang="x-IV_mathan" sz="3200" b="0" i="0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008C3A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kumimoji="0" lang="x-IV_mathan" sz="3200" b="0" i="0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008C3A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  <m:t>..</m:t>
                                                  </m:r>
                                                </m:e>
                                              </m:d>
                                            </m:e>
                                            <m:sub>
                                              <m: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8C3A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⟶</m:t>
                                      </m:r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𝑄</m:t>
                                      </m:r>
                                    </m:e>
                                  </m:eqArr>
                                </m:num>
                                <m:den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𝑃</m:t>
                                      </m:r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</m:e>
                                  </m:d>
                                  <m: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   </m:t>
                                  </m:r>
                                  <m:r>
                                    <m:rPr>
                                      <m:nor/>
                                    </m:rP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onsolas" panose="020B0609020204030204" pitchFamily="49" charset="0"/>
                                      <a:ea typeface="+mn-ea"/>
                                      <a:cs typeface="+mn-cs"/>
                                    </a:rPr>
                                    <m:t>someFunc</m:t>
                                  </m:r>
                                  <m:d>
                                    <m:dPr>
                                      <m:ctrlP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   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𝑄</m:t>
                                      </m:r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m:oMathPara>
                        </a14:m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3" name="TextBox 12">
                        <a:extLst>
                          <a:ext uri="{FF2B5EF4-FFF2-40B4-BE49-F238E27FC236}">
                            <a16:creationId xmlns:a16="http://schemas.microsoft.com/office/drawing/2014/main" id="{9BA80B59-3182-1481-6596-C4A82B091D2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254554" y="9182586"/>
                        <a:ext cx="10737619" cy="1714508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1045" name="Group 1044">
                    <a:extLst>
                      <a:ext uri="{FF2B5EF4-FFF2-40B4-BE49-F238E27FC236}">
                        <a16:creationId xmlns:a16="http://schemas.microsoft.com/office/drawing/2014/main" id="{D2C65F73-2A9F-F759-6C11-763C22628EB5}"/>
                      </a:ext>
                    </a:extLst>
                  </p:cNvPr>
                  <p:cNvGrpSpPr/>
                  <p:nvPr/>
                </p:nvGrpSpPr>
                <p:grpSpPr>
                  <a:xfrm>
                    <a:off x="10808409" y="10844644"/>
                    <a:ext cx="10294100" cy="2304446"/>
                    <a:chOff x="10808409" y="10844644"/>
                    <a:chExt cx="10294100" cy="2304446"/>
                  </a:xfrm>
                </p:grpSpPr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D48351A3-A8B8-D34A-78D2-00C03E7EDE1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808409" y="12071872"/>
                      <a:ext cx="10294100" cy="107721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As long as we satisfy </a:t>
                      </a:r>
                      <a:r>
                        <a:rPr kumimoji="0" lang="en-GB" sz="3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someFunc</a:t>
                      </a:r>
                      <a:r>
                        <a:rPr kumimoji="0" lang="en-GB" sz="3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's</a:t>
                      </a: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pre-condition,</a:t>
                      </a:r>
                    </a:p>
                    <a:p>
                      <a:pPr marL="34290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we get its post-condition "for free" </a:t>
                      </a:r>
                      <a:r>
                        <a:rPr kumimoji="0" lang="en-GB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(w/ renamed variables)</a:t>
                      </a:r>
                      <a:endParaRPr kumimoji="0" lang="en-GB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" name="Freeform: Shape 14">
                      <a:extLst>
                        <a:ext uri="{FF2B5EF4-FFF2-40B4-BE49-F238E27FC236}">
                          <a16:creationId xmlns:a16="http://schemas.microsoft.com/office/drawing/2014/main" id="{8A6B85D1-DC20-C554-B93A-888517C95B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463785" y="10844644"/>
                      <a:ext cx="1035449" cy="1474838"/>
                    </a:xfrm>
                    <a:custGeom>
                      <a:avLst/>
                      <a:gdLst>
                        <a:gd name="connsiteX0" fmla="*/ 0 w 1035449"/>
                        <a:gd name="connsiteY0" fmla="*/ 1474838 h 1474838"/>
                        <a:gd name="connsiteX1" fmla="*/ 973394 w 1035449"/>
                        <a:gd name="connsiteY1" fmla="*/ 1150374 h 1474838"/>
                        <a:gd name="connsiteX2" fmla="*/ 855407 w 1035449"/>
                        <a:gd name="connsiteY2" fmla="*/ 0 h 14748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035449" h="1474838">
                          <a:moveTo>
                            <a:pt x="0" y="1474838"/>
                          </a:moveTo>
                          <a:cubicBezTo>
                            <a:pt x="415413" y="1435509"/>
                            <a:pt x="830826" y="1396180"/>
                            <a:pt x="973394" y="1150374"/>
                          </a:cubicBezTo>
                          <a:cubicBezTo>
                            <a:pt x="1115962" y="904568"/>
                            <a:pt x="985684" y="452284"/>
                            <a:pt x="855407" y="0"/>
                          </a:cubicBezTo>
                        </a:path>
                      </a:pathLst>
                    </a:custGeom>
                    <a:noFill/>
                    <a:ln w="57150">
                      <a:solidFill>
                        <a:srgbClr val="B2B2B2"/>
                      </a:solidFill>
                      <a:headEnd type="none" w="med" len="med"/>
                      <a:tailEnd type="arrow" w="med" len="med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333EBE60-B808-40EA-1B9A-4C51258E1868}"/>
                      </a:ext>
                    </a:extLst>
                  </p:cNvPr>
                  <p:cNvSpPr txBox="1"/>
                  <p:nvPr/>
                </p:nvSpPr>
                <p:spPr>
                  <a:xfrm>
                    <a:off x="11153443" y="8315075"/>
                    <a:ext cx="6694974" cy="76944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Function Calls (no return)</a:t>
                    </a:r>
                  </a:p>
                </p:txBody>
              </p:sp>
              <p:grpSp>
                <p:nvGrpSpPr>
                  <p:cNvPr id="1040" name="Group 1039">
                    <a:extLst>
                      <a:ext uri="{FF2B5EF4-FFF2-40B4-BE49-F238E27FC236}">
                        <a16:creationId xmlns:a16="http://schemas.microsoft.com/office/drawing/2014/main" id="{9C6588EF-C43B-C035-6E4D-9276830C46E6}"/>
                      </a:ext>
                    </a:extLst>
                  </p:cNvPr>
                  <p:cNvGrpSpPr/>
                  <p:nvPr/>
                </p:nvGrpSpPr>
                <p:grpSpPr>
                  <a:xfrm>
                    <a:off x="6802555" y="10600907"/>
                    <a:ext cx="9587491" cy="2560829"/>
                    <a:chOff x="6802555" y="10600907"/>
                    <a:chExt cx="9587491" cy="2560829"/>
                  </a:xfrm>
                </p:grpSpPr>
                <p:grpSp>
                  <p:nvGrpSpPr>
                    <p:cNvPr id="1038" name="Group 1037">
                      <a:extLst>
                        <a:ext uri="{FF2B5EF4-FFF2-40B4-BE49-F238E27FC236}">
                          <a16:creationId xmlns:a16="http://schemas.microsoft.com/office/drawing/2014/main" id="{2D0B2C83-D6EA-5617-442D-5EF20E9602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802556" y="10995165"/>
                      <a:ext cx="9587490" cy="2148806"/>
                      <a:chOff x="6802556" y="11125149"/>
                      <a:chExt cx="9587490" cy="2018821"/>
                    </a:xfrm>
                    <a:solidFill>
                      <a:srgbClr val="F0F8FF"/>
                    </a:solidFill>
                  </p:grpSpPr>
                  <p:sp>
                    <p:nvSpPr>
                      <p:cNvPr id="1029" name="Rectangle: Rounded Corners 1028">
                        <a:extLst>
                          <a:ext uri="{FF2B5EF4-FFF2-40B4-BE49-F238E27FC236}">
                            <a16:creationId xmlns:a16="http://schemas.microsoft.com/office/drawing/2014/main" id="{F5665387-FBFD-03F0-8A37-1DEEFB6105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02556" y="11132919"/>
                        <a:ext cx="9587490" cy="686848"/>
                      </a:xfrm>
                      <a:prstGeom prst="roundRect">
                        <a:avLst/>
                      </a:prstGeom>
                      <a:solidFill>
                        <a:srgbClr val="FFFBF7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37" name="Rectangle: Rounded Corners 1036">
                        <a:extLst>
                          <a:ext uri="{FF2B5EF4-FFF2-40B4-BE49-F238E27FC236}">
                            <a16:creationId xmlns:a16="http://schemas.microsoft.com/office/drawing/2014/main" id="{C7DDD1E0-9D98-C575-9DD5-D507F2C82B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17408" y="11125149"/>
                        <a:ext cx="2728503" cy="2018821"/>
                      </a:xfrm>
                      <a:prstGeom prst="roundRect">
                        <a:avLst/>
                      </a:prstGeom>
                      <a:solidFill>
                        <a:srgbClr val="FFFBF7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036" name="TextBox 1035">
                          <a:extLst>
                            <a:ext uri="{FF2B5EF4-FFF2-40B4-BE49-F238E27FC236}">
                              <a16:creationId xmlns:a16="http://schemas.microsoft.com/office/drawing/2014/main" id="{D47819F1-2AEA-D413-32E9-CBBB4C257A6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802555" y="10600907"/>
                          <a:ext cx="9362307" cy="256082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A0000"/>
                              </a:solidFill>
                              <a:effectLst/>
                              <a:uLnTx/>
                              <a:uFillTx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where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4F8B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fun</a:t>
                          </a: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en-GB" sz="3200" b="0" i="0" u="none" strike="noStrike" kern="1200" cap="none" spc="0" normalizeH="0" baseline="0" noProof="0" err="1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someFunc</a:t>
                          </a: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GB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 pitchFamily="34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0" lang="en-GB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 pitchFamily="34" charset="0"/>
                                      <a:ea typeface="+mn-ea"/>
                                      <a:cs typeface="+mn-cs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kumimoji="0" lang="en-GB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 pitchFamily="34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: </a:t>
                          </a: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ED7D31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type</a:t>
                          </a: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, …,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GB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 pitchFamily="34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0" lang="en-GB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 pitchFamily="34" charset="0"/>
                                      <a:ea typeface="+mn-ea"/>
                                      <a:cs typeface="+mn-cs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kumimoji="0" lang="en-GB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 pitchFamily="34" charset="0"/>
                                      <a:ea typeface="+mn-ea"/>
                                      <a:cs typeface="+mn-cs"/>
                                    </a:rPr>
                                    <m:t>n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: </a:t>
                          </a: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ED7D31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type</a:t>
                          </a: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): </a:t>
                          </a: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ED7D31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type</a:t>
                          </a:r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8BDBA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// PRE:</a:t>
                          </a: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oMath>
                          </a14:m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8BDBA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// POST: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oMath>
                          </a14:m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{ ... }</a:t>
                          </a:r>
                        </a:p>
                      </p:txBody>
                    </p:sp>
                  </mc:Choice>
                  <mc:Fallback>
                    <p:sp>
                      <p:nvSpPr>
                        <p:cNvPr id="1036" name="TextBox 1035">
                          <a:extLst>
                            <a:ext uri="{FF2B5EF4-FFF2-40B4-BE49-F238E27FC236}">
                              <a16:creationId xmlns:a16="http://schemas.microsoft.com/office/drawing/2014/main" id="{D47819F1-2AEA-D413-32E9-CBBB4C257A63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802555" y="10600907"/>
                          <a:ext cx="9362307" cy="2560829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l="-1693" t="-3088" r="-651" b="-6651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  <p:sp>
              <p:nvSpPr>
                <p:cNvPr id="1104" name="Rectangle 1103">
                  <a:extLst>
                    <a:ext uri="{FF2B5EF4-FFF2-40B4-BE49-F238E27FC236}">
                      <a16:creationId xmlns:a16="http://schemas.microsoft.com/office/drawing/2014/main" id="{513C8883-4073-40ED-4F0D-4D7FFABDFE4E}"/>
                    </a:ext>
                  </a:extLst>
                </p:cNvPr>
                <p:cNvSpPr/>
                <p:nvPr/>
              </p:nvSpPr>
              <p:spPr>
                <a:xfrm>
                  <a:off x="208079" y="12995082"/>
                  <a:ext cx="15963900" cy="5577124"/>
                </a:xfrm>
                <a:prstGeom prst="rect">
                  <a:avLst/>
                </a:prstGeom>
                <a:noFill/>
                <a:ln w="28575">
                  <a:solidFill>
                    <a:srgbClr val="0F77C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07" name="Group 1106">
                <a:extLst>
                  <a:ext uri="{FF2B5EF4-FFF2-40B4-BE49-F238E27FC236}">
                    <a16:creationId xmlns:a16="http://schemas.microsoft.com/office/drawing/2014/main" id="{B59DE491-12C8-115D-C82A-F6D958F2858C}"/>
                  </a:ext>
                </a:extLst>
              </p:cNvPr>
              <p:cNvGrpSpPr/>
              <p:nvPr/>
            </p:nvGrpSpPr>
            <p:grpSpPr>
              <a:xfrm>
                <a:off x="208079" y="18567509"/>
                <a:ext cx="17640615" cy="4647677"/>
                <a:chOff x="18453046" y="20166998"/>
                <a:chExt cx="17640615" cy="4647677"/>
              </a:xfrm>
            </p:grpSpPr>
            <p:grpSp>
              <p:nvGrpSpPr>
                <p:cNvPr id="1102" name="Group 1101">
                  <a:extLst>
                    <a:ext uri="{FF2B5EF4-FFF2-40B4-BE49-F238E27FC236}">
                      <a16:creationId xmlns:a16="http://schemas.microsoft.com/office/drawing/2014/main" id="{F81132F9-68A2-BB33-F07D-3CE096AF90AF}"/>
                    </a:ext>
                  </a:extLst>
                </p:cNvPr>
                <p:cNvGrpSpPr/>
                <p:nvPr/>
              </p:nvGrpSpPr>
              <p:grpSpPr>
                <a:xfrm>
                  <a:off x="18792997" y="20468756"/>
                  <a:ext cx="17104071" cy="3893735"/>
                  <a:chOff x="6702775" y="14177883"/>
                  <a:chExt cx="17104071" cy="3893735"/>
                </a:xfrm>
              </p:grpSpPr>
              <p:sp>
                <p:nvSpPr>
                  <p:cNvPr id="1068" name="Rectangle: Rounded Corners 1067">
                    <a:extLst>
                      <a:ext uri="{FF2B5EF4-FFF2-40B4-BE49-F238E27FC236}">
                        <a16:creationId xmlns:a16="http://schemas.microsoft.com/office/drawing/2014/main" id="{2EC050B6-CC54-D0D6-F92D-2EFDC0340E58}"/>
                      </a:ext>
                    </a:extLst>
                  </p:cNvPr>
                  <p:cNvSpPr/>
                  <p:nvPr/>
                </p:nvSpPr>
                <p:spPr>
                  <a:xfrm>
                    <a:off x="6765930" y="14438834"/>
                    <a:ext cx="5445120" cy="1506016"/>
                  </a:xfrm>
                  <a:prstGeom prst="roundRect">
                    <a:avLst/>
                  </a:prstGeom>
                  <a:solidFill>
                    <a:srgbClr val="FFFBF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6" name="TextBox 15">
                        <a:extLst>
                          <a:ext uri="{FF2B5EF4-FFF2-40B4-BE49-F238E27FC236}">
                            <a16:creationId xmlns:a16="http://schemas.microsoft.com/office/drawing/2014/main" id="{E5CD848C-45BB-50FF-491A-88E96C8641C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02556" y="14380485"/>
                        <a:ext cx="5535939" cy="15759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8BDBA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// MID: 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𝑃</m:t>
                            </m:r>
                          </m:oMath>
                        </a14:m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endParaRP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res =</a:t>
                        </a: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 </a:t>
                        </a:r>
                        <a:r>
                          <a:rPr kumimoji="0" lang="en-GB" sz="3200" b="0" i="0" u="none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someFunc</a:t>
                        </a: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(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 pitchFamily="34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kumimoji="0" lang="en-GB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 pitchFamily="34" charset="0"/>
                                    <a:ea typeface="+mn-ea"/>
                                    <a:cs typeface="+mn-cs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kumimoji="0" lang="en-GB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 pitchFamily="34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oMath>
                        </a14:m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,..,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 pitchFamily="34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kumimoji="0" lang="en-GB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 pitchFamily="34" charset="0"/>
                                    <a:ea typeface="+mn-ea"/>
                                    <a:cs typeface="+mn-cs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kumimoji="0" lang="en-GB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 pitchFamily="34" charset="0"/>
                                    <a:ea typeface="+mn-ea"/>
                                    <a:cs typeface="+mn-cs"/>
                                  </a:rPr>
                                  <m:t>n</m:t>
                                </m:r>
                              </m:sub>
                            </m:sSub>
                          </m:oMath>
                        </a14:m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)</a:t>
                        </a:r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endParaRP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8BDBA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// MID: 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𝑄</m:t>
                            </m:r>
                          </m:oMath>
                        </a14:m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6" name="TextBox 15">
                        <a:extLst>
                          <a:ext uri="{FF2B5EF4-FFF2-40B4-BE49-F238E27FC236}">
                            <a16:creationId xmlns:a16="http://schemas.microsoft.com/office/drawing/2014/main" id="{E5CD848C-45BB-50FF-491A-88E96C8641C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02556" y="14380485"/>
                        <a:ext cx="5535939" cy="1575944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2753" t="-5019" r="-1872" b="-1158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7" name="TextBox 16">
                        <a:extLst>
                          <a:ext uri="{FF2B5EF4-FFF2-40B4-BE49-F238E27FC236}">
                            <a16:creationId xmlns:a16="http://schemas.microsoft.com/office/drawing/2014/main" id="{D0ABAE39-88A7-36DF-948E-D4EDD4837FD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359408" y="17471194"/>
                        <a:ext cx="10447438" cy="58477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 xmlns:m="http://schemas.openxmlformats.org/officeDocument/2006/math"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2B2B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𝑄</m:t>
                            </m:r>
                          </m:oMath>
                        </a14:m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2B2B2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 can assume 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2B2B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en-GB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2B2B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kumimoji="0" lang="en-GB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B2B2B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libri" panose="020F0502020204030204" pitchFamily="34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kumimoji="0" lang="en-GB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B2B2B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libri" panose="020F0502020204030204" pitchFamily="34" charset="0"/>
                                        <a:ea typeface="+mn-ea"/>
                                        <a:cs typeface="+mn-cs"/>
                                      </a:rPr>
                                      <m:t>x</m:t>
                                    </m:r>
                                  </m:e>
                                </m:acc>
                                <m:r>
                                  <a:rPr kumimoji="0" lang="en-GB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2B2B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↦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0" lang="en-GB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B2B2B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B2B2B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</m:d>
                          </m:oMath>
                        </a14:m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2B2B2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 (as before)     </a:t>
                        </a:r>
                        <a:r>
                          <a:rPr kumimoji="0" lang="en-GB" sz="32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2B2B2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AS WELL AS  `</a:t>
                        </a:r>
                        <a:r>
                          <a:rPr kumimoji="0" lang="en-GB" sz="32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2B2B2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res = </a:t>
                        </a:r>
                        <a:r>
                          <a:rPr kumimoji="0" lang="en-GB" sz="3200" b="1" i="0" u="sng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2B2B2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r</a:t>
                        </a:r>
                        <a:r>
                          <a:rPr kumimoji="0" lang="en-GB" sz="32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2B2B2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`</a:t>
                        </a:r>
                      </a:p>
                    </p:txBody>
                  </p:sp>
                </mc:Choice>
                <mc:Fallback>
                  <p:sp>
                    <p:nvSpPr>
                      <p:cNvPr id="17" name="TextBox 16">
                        <a:extLst>
                          <a:ext uri="{FF2B5EF4-FFF2-40B4-BE49-F238E27FC236}">
                            <a16:creationId xmlns:a16="http://schemas.microsoft.com/office/drawing/2014/main" id="{D0ABAE39-88A7-36DF-948E-D4EDD4837FD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3359408" y="17471194"/>
                        <a:ext cx="10447438" cy="584775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t="-13542" r="-700" b="-34375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1" name="TextBox 40">
                        <a:extLst>
                          <a:ext uri="{FF2B5EF4-FFF2-40B4-BE49-F238E27FC236}">
                            <a16:creationId xmlns:a16="http://schemas.microsoft.com/office/drawing/2014/main" id="{4361F0C2-7666-63FA-F03A-F64A838B0A9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696828" y="15049685"/>
                        <a:ext cx="10110018" cy="225536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>
                              <m:f>
                                <m:fPr>
                                  <m:ctrlP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eqArr>
                                    <m:eqArrPr>
                                      <m:ctrlP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𝑃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⟶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𝑅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kumimoji="0" lang="x-IV_mathan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libri" panose="020F0502020204030204" pitchFamily="34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libri" panose="020F0502020204030204" pitchFamily="34" charset="0"/>
                                                  <a:ea typeface="+mn-ea"/>
                                                  <a:cs typeface="+mn-cs"/>
                                                </a:rPr>
                                                <m:t>x</m:t>
                                              </m:r>
                                            </m:e>
                                          </m:acc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↦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𝑣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e>
                                      <m:d>
                                        <m:dPr>
                                          <m:ctrlPr>
                                            <a:rPr kumimoji="0" lang="x-IV_mathan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eqArr>
                                            <m:eqArrPr>
                                              <m:ctrlPr>
                                                <a:rPr kumimoji="0" lang="x-IV_mathan" sz="32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𝑃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kumimoji="0" lang="x-IV_mathan" sz="32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acc>
                                                    <m:accPr>
                                                      <m:chr m:val="̅"/>
                                                      <m:ctrlP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  <m:t>𝑣</m:t>
                                                      </m:r>
                                                    </m:e>
                                                  </m:acc>
                                                  <m:d>
                                                    <m:dPr>
                                                      <m:begChr m:val="["/>
                                                      <m:ctrlP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  <m:t>..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kumimoji="0" lang="x-IV_mathan" sz="3200" b="0" i="0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  <m:t>↦</m:t>
                                                  </m:r>
                                                  <m:acc>
                                                    <m:accPr>
                                                      <m:chr m:val="̅"/>
                                                      <m:ctrlP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  <m:t>𝑣</m:t>
                                                      </m:r>
                                                    </m:e>
                                                  </m:acc>
                                                  <m:sSub>
                                                    <m:sSubPr>
                                                      <m:ctrlPr>
                                                        <a:rPr kumimoji="0" lang="x-IV_mathan" sz="32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d>
                                                        <m:dPr>
                                                          <m:begChr m:val="["/>
                                                          <m:ctrlPr>
                                                            <a:rPr kumimoji="0" lang="x-IV_mathan" sz="3200" b="0" i="0" u="none" strike="noStrike" kern="1200" cap="none" spc="0" normalizeH="0" baseline="0" noProof="0">
                                                              <a:ln>
                                                                <a:noFill/>
                                                              </a:ln>
                                                              <a:solidFill>
                                                                <a:prstClr val="black"/>
                                                              </a:solidFill>
                                                              <a:effectLst/>
                                                              <a:uLnTx/>
                                                              <a:uFillTx/>
                                                              <a:latin typeface="Cambria Math" panose="02040503050406030204" pitchFamily="18" charset="0"/>
                                                              <a:ea typeface="+mn-ea"/>
                                                              <a:cs typeface="+mn-cs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kumimoji="0" lang="x-IV_mathan" sz="3200" b="0" i="0" u="none" strike="noStrike" kern="1200" cap="none" spc="0" normalizeH="0" baseline="0" noProof="0">
                                                              <a:ln>
                                                                <a:noFill/>
                                                              </a:ln>
                                                              <a:solidFill>
                                                                <a:prstClr val="black"/>
                                                              </a:solidFill>
                                                              <a:effectLst/>
                                                              <a:uLnTx/>
                                                              <a:uFillTx/>
                                                              <a:latin typeface="Cambria Math" panose="02040503050406030204" pitchFamily="18" charset="0"/>
                                                              <a:ea typeface="+mn-ea"/>
                                                              <a:cs typeface="+mn-cs"/>
                                                            </a:rPr>
                                                            <m:t>..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  <m:sub>
                                                      <m: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  <m:t>𝑜𝑙𝑑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kumimoji="0" lang="x-IV_mathan" sz="3200" b="0" i="0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B01DE7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onsolas" panose="020B0609020204030204" pitchFamily="49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kumimoji="0" lang="x-IV_mathan" sz="3200" b="0" i="0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B01DE7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onsolas" panose="020B0609020204030204" pitchFamily="49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  <m:t>res</m:t>
                                                  </m:r>
                                                  <m:r>
                                                    <a:rPr kumimoji="0" lang="x-IV_mathan" sz="3200" b="0" i="0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B01DE7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  <m:t>↦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srgbClr val="B01DE7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onsolas" panose="020B0609020204030204" pitchFamily="49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m:rPr>
                                                          <m:nor/>
                                                        </m:rP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srgbClr val="B01DE7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onsolas" panose="020B0609020204030204" pitchFamily="49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  <m:t>res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srgbClr val="B01DE7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  <m:t>𝑜𝑙𝑑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  <m:r>
                                                <a:rPr kumimoji="0" lang="x-IV_mathan" sz="32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B01DE7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  </m:t>
                                              </m:r>
                                              <m: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B01DE7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∧</m:t>
                                              </m:r>
                                              <m:r>
                                                <a:rPr kumimoji="0" lang="x-IV_mathan" sz="32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B01DE7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  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B01DE7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onsolas" panose="020B0609020204030204" pitchFamily="49" charset="0"/>
                                                  <a:ea typeface="+mn-ea"/>
                                                  <a:cs typeface="+mn-cs"/>
                                                </a:rPr>
                                                <m:t>res</m:t>
                                              </m:r>
                                              <m: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B01DE7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=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kumimoji="0" lang="x-IV_mathan" sz="3200" b="1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B01DE7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onsolas" panose="020B0609020204030204" pitchFamily="49" charset="0"/>
                                                  <a:ea typeface="+mn-ea"/>
                                                  <a:cs typeface="+mn-cs"/>
                                                </a:rPr>
                                                <m:t>r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∧</m:t>
                                              </m:r>
                                              <m:r>
                                                <a:rPr kumimoji="0" lang="x-IV_mathan" sz="32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  </m:t>
                                              </m:r>
                                              <m:r>
                                                <a:rPr kumimoji="0" lang="x-IV_mathan" sz="32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𝑆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kumimoji="0" lang="x-IV_mathan" sz="32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acc>
                                                    <m:accPr>
                                                      <m:chr m:val="̅"/>
                                                      <m:ctrlP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libri" panose="020F0502020204030204" pitchFamily="34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m:rPr>
                                                          <m:nor/>
                                                        </m:rP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libri" panose="020F0502020204030204" pitchFamily="34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  <m:t>x</m:t>
                                                      </m:r>
                                                    </m:e>
                                                  </m:acc>
                                                  <m:r>
                                                    <a:rPr kumimoji="0" lang="x-IV_mathan" sz="3200" b="0" i="0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  <m:t>↦</m:t>
                                                  </m:r>
                                                  <m:acc>
                                                    <m:accPr>
                                                      <m:chr m:val="̅"/>
                                                      <m:ctrlP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  <m:t>𝑣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</m:d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kumimoji="0" lang="x-IV_mathan" sz="32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acc>
                                                    <m:accPr>
                                                      <m:chr m:val="̅"/>
                                                      <m:ctrlP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  <m:t>𝑣</m:t>
                                                      </m:r>
                                                    </m:e>
                                                  </m:acc>
                                                  <m:sSub>
                                                    <m:sSubPr>
                                                      <m:ctrlPr>
                                                        <a:rPr kumimoji="0" lang="x-IV_mathan" sz="32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d>
                                                        <m:dPr>
                                                          <m:begChr m:val="["/>
                                                          <m:ctrlPr>
                                                            <a:rPr kumimoji="0" lang="x-IV_mathan" sz="3200" b="0" i="0" u="none" strike="noStrike" kern="1200" cap="none" spc="0" normalizeH="0" baseline="0" noProof="0">
                                                              <a:ln>
                                                                <a:noFill/>
                                                              </a:ln>
                                                              <a:solidFill>
                                                                <a:prstClr val="black"/>
                                                              </a:solidFill>
                                                              <a:effectLst/>
                                                              <a:uLnTx/>
                                                              <a:uFillTx/>
                                                              <a:latin typeface="Cambria Math" panose="02040503050406030204" pitchFamily="18" charset="0"/>
                                                              <a:ea typeface="+mn-ea"/>
                                                              <a:cs typeface="+mn-cs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kumimoji="0" lang="x-IV_mathan" sz="3200" b="0" i="0" u="none" strike="noStrike" kern="1200" cap="none" spc="0" normalizeH="0" baseline="0" noProof="0">
                                                              <a:ln>
                                                                <a:noFill/>
                                                              </a:ln>
                                                              <a:solidFill>
                                                                <a:prstClr val="black"/>
                                                              </a:solidFill>
                                                              <a:effectLst/>
                                                              <a:uLnTx/>
                                                              <a:uFillTx/>
                                                              <a:latin typeface="Cambria Math" panose="02040503050406030204" pitchFamily="18" charset="0"/>
                                                              <a:ea typeface="+mn-ea"/>
                                                              <a:cs typeface="+mn-cs"/>
                                                            </a:rPr>
                                                            <m:t>..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  <m:sub>
                                                      <m: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  <m:t>𝑝𝑟𝑒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kumimoji="0" lang="x-IV_mathan" sz="3200" b="0" i="0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  <m:t>↦</m:t>
                                                  </m:r>
                                                  <m:acc>
                                                    <m:accPr>
                                                      <m:chr m:val="̅"/>
                                                      <m:ctrlP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  <m:t>𝑣</m:t>
                                                      </m:r>
                                                    </m:e>
                                                  </m:acc>
                                                  <m:sSub>
                                                    <m:sSubPr>
                                                      <m:ctrlPr>
                                                        <a:rPr kumimoji="0" lang="x-IV_mathan" sz="32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d>
                                                        <m:dPr>
                                                          <m:begChr m:val="["/>
                                                          <m:ctrlPr>
                                                            <a:rPr kumimoji="0" lang="x-IV_mathan" sz="3200" b="0" i="0" u="none" strike="noStrike" kern="1200" cap="none" spc="0" normalizeH="0" baseline="0" noProof="0">
                                                              <a:ln>
                                                                <a:noFill/>
                                                              </a:ln>
                                                              <a:solidFill>
                                                                <a:prstClr val="black"/>
                                                              </a:solidFill>
                                                              <a:effectLst/>
                                                              <a:uLnTx/>
                                                              <a:uFillTx/>
                                                              <a:latin typeface="Cambria Math" panose="02040503050406030204" pitchFamily="18" charset="0"/>
                                                              <a:ea typeface="+mn-ea"/>
                                                              <a:cs typeface="+mn-cs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kumimoji="0" lang="x-IV_mathan" sz="3200" b="0" i="0" u="none" strike="noStrike" kern="1200" cap="none" spc="0" normalizeH="0" baseline="0" noProof="0">
                                                              <a:ln>
                                                                <a:noFill/>
                                                              </a:ln>
                                                              <a:solidFill>
                                                                <a:prstClr val="black"/>
                                                              </a:solidFill>
                                                              <a:effectLst/>
                                                              <a:uLnTx/>
                                                              <a:uFillTx/>
                                                              <a:latin typeface="Cambria Math" panose="02040503050406030204" pitchFamily="18" charset="0"/>
                                                              <a:ea typeface="+mn-ea"/>
                                                              <a:cs typeface="+mn-cs"/>
                                                            </a:rPr>
                                                            <m:t>..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  <m:sub>
                                                      <m: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  <m:t>𝑜𝑙𝑑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kumimoji="0" lang="x-IV_mathan" sz="3200" b="0" i="0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B01DE7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onsolas" panose="020B0609020204030204" pitchFamily="49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kumimoji="0" lang="x-IV_mathan" sz="3200" b="0" i="0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B01DE7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onsolas" panose="020B0609020204030204" pitchFamily="49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  <m:t>res</m:t>
                                                  </m:r>
                                                  <m:r>
                                                    <a:rPr kumimoji="0" lang="x-IV_mathan" sz="3200" b="0" i="0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B01DE7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  <m:t>↦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srgbClr val="B01DE7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onsolas" panose="020B0609020204030204" pitchFamily="49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m:rPr>
                                                          <m:nor/>
                                                        </m:rP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srgbClr val="B01DE7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onsolas" panose="020B0609020204030204" pitchFamily="49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  <m:t>res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kumimoji="0" lang="x-IV_mathan" sz="3200" b="0" i="0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srgbClr val="B01DE7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  <m:t>𝑜𝑙𝑑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eqArr>
                                        </m:e>
                                      </m:d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⟶</m:t>
                                      </m:r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𝑄</m:t>
                                      </m:r>
                                    </m:e>
                                  </m:eqArr>
                                </m:num>
                                <m:den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𝑃</m:t>
                                      </m:r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</m:e>
                                  </m:d>
                                  <m: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   </m:t>
                                  </m:r>
                                  <m:r>
                                    <m:rPr>
                                      <m:nor/>
                                    </m:rP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onsolas" panose="020B0609020204030204" pitchFamily="49" charset="0"/>
                                      <a:ea typeface="+mn-ea"/>
                                      <a:cs typeface="+mn-cs"/>
                                    </a:rPr>
                                    <m:t>someFunc</m:t>
                                  </m:r>
                                  <m:d>
                                    <m:dPr>
                                      <m:ctrlP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   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𝑄</m:t>
                                      </m:r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m:oMathPara>
                        </a14:m>
                        <a:endPara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41" name="TextBox 40">
                        <a:extLst>
                          <a:ext uri="{FF2B5EF4-FFF2-40B4-BE49-F238E27FC236}">
                            <a16:creationId xmlns:a16="http://schemas.microsoft.com/office/drawing/2014/main" id="{4361F0C2-7666-63FA-F03A-F64A838B0A9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3696828" y="15049685"/>
                        <a:ext cx="10110018" cy="2255361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1072" name="Group 1071">
                    <a:extLst>
                      <a:ext uri="{FF2B5EF4-FFF2-40B4-BE49-F238E27FC236}">
                        <a16:creationId xmlns:a16="http://schemas.microsoft.com/office/drawing/2014/main" id="{9B949EDC-F023-7591-B201-C8DE55DE3FD1}"/>
                      </a:ext>
                    </a:extLst>
                  </p:cNvPr>
                  <p:cNvGrpSpPr/>
                  <p:nvPr/>
                </p:nvGrpSpPr>
                <p:grpSpPr>
                  <a:xfrm>
                    <a:off x="6702775" y="15993866"/>
                    <a:ext cx="6097900" cy="2077752"/>
                    <a:chOff x="6802556" y="15795195"/>
                    <a:chExt cx="6097900" cy="2077752"/>
                  </a:xfrm>
                </p:grpSpPr>
                <p:sp>
                  <p:nvSpPr>
                    <p:cNvPr id="1070" name="Rectangle: Rounded Corners 1069">
                      <a:extLst>
                        <a:ext uri="{FF2B5EF4-FFF2-40B4-BE49-F238E27FC236}">
                          <a16:creationId xmlns:a16="http://schemas.microsoft.com/office/drawing/2014/main" id="{CDC7671A-7965-9BCC-5270-DFD3E77C93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2556" y="16339804"/>
                      <a:ext cx="6061274" cy="1533143"/>
                    </a:xfrm>
                    <a:prstGeom prst="roundRect">
                      <a:avLst/>
                    </a:prstGeom>
                    <a:solidFill>
                      <a:srgbClr val="FFFBF7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071" name="TextBox 1070">
                          <a:extLst>
                            <a:ext uri="{FF2B5EF4-FFF2-40B4-BE49-F238E27FC236}">
                              <a16:creationId xmlns:a16="http://schemas.microsoft.com/office/drawing/2014/main" id="{F80F950F-F987-25E3-AF9F-1233CE348AD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839181" y="15795195"/>
                          <a:ext cx="6061275" cy="2062103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where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fun </a:t>
                          </a:r>
                          <a:r>
                            <a:rPr kumimoji="0" lang="en-GB" sz="3200" b="0" i="0" u="none" strike="noStrike" kern="1200" cap="none" spc="0" normalizeH="0" baseline="0" noProof="0" err="1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someFunc</a:t>
                          </a: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(..) as above: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// PRE: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oMath>
                          </a14:m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// POST: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oMath>
                          </a14:m>
                          <a:endParaRPr kumimoji="0" lang="en-GB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1071" name="TextBox 1070">
                          <a:extLst>
                            <a:ext uri="{FF2B5EF4-FFF2-40B4-BE49-F238E27FC236}">
                              <a16:creationId xmlns:a16="http://schemas.microsoft.com/office/drawing/2014/main" id="{F80F950F-F987-25E3-AF9F-1233CE348AD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839181" y="15795195"/>
                          <a:ext cx="6061275" cy="2062103"/>
                        </a:xfrm>
                        <a:prstGeom prst="rect">
                          <a:avLst/>
                        </a:prstGeom>
                        <a:blipFill>
                          <a:blip r:embed="rId8"/>
                          <a:stretch>
                            <a:fillRect l="-2616" t="-3846" r="-1610" b="-858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1092" name="TextBox 1091">
                    <a:extLst>
                      <a:ext uri="{FF2B5EF4-FFF2-40B4-BE49-F238E27FC236}">
                        <a16:creationId xmlns:a16="http://schemas.microsoft.com/office/drawing/2014/main" id="{4BFAF69E-1EDF-6EDB-C82C-6E54247CB291}"/>
                      </a:ext>
                    </a:extLst>
                  </p:cNvPr>
                  <p:cNvSpPr txBox="1"/>
                  <p:nvPr/>
                </p:nvSpPr>
                <p:spPr>
                  <a:xfrm>
                    <a:off x="12764049" y="14177883"/>
                    <a:ext cx="10426124" cy="76944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Function Calls (with returns </a:t>
                    </a:r>
                    <a:r>
                      <a:rPr kumimoji="0" lang="en-GB" sz="4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+ recursion</a:t>
                    </a:r>
                    <a:r>
                      <a:rPr kumimoji="0" lang="en-GB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)</a:t>
                    </a:r>
                  </a:p>
                </p:txBody>
              </p:sp>
            </p:grpSp>
            <p:sp>
              <p:nvSpPr>
                <p:cNvPr id="1106" name="Rectangle 1105">
                  <a:extLst>
                    <a:ext uri="{FF2B5EF4-FFF2-40B4-BE49-F238E27FC236}">
                      <a16:creationId xmlns:a16="http://schemas.microsoft.com/office/drawing/2014/main" id="{66C0342B-0D6D-A69D-B1B8-D80403A1230F}"/>
                    </a:ext>
                  </a:extLst>
                </p:cNvPr>
                <p:cNvSpPr/>
                <p:nvPr/>
              </p:nvSpPr>
              <p:spPr>
                <a:xfrm>
                  <a:off x="18453046" y="20166998"/>
                  <a:ext cx="17640615" cy="4647677"/>
                </a:xfrm>
                <a:prstGeom prst="rect">
                  <a:avLst/>
                </a:prstGeom>
                <a:noFill/>
                <a:ln w="28575">
                  <a:solidFill>
                    <a:srgbClr val="0F77C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16" name="Group 1115">
              <a:extLst>
                <a:ext uri="{FF2B5EF4-FFF2-40B4-BE49-F238E27FC236}">
                  <a16:creationId xmlns:a16="http://schemas.microsoft.com/office/drawing/2014/main" id="{33C0F6BA-2B85-CC78-0061-0ECE0CDC52EE}"/>
                </a:ext>
              </a:extLst>
            </p:cNvPr>
            <p:cNvGrpSpPr/>
            <p:nvPr/>
          </p:nvGrpSpPr>
          <p:grpSpPr>
            <a:xfrm>
              <a:off x="-16431" y="15783081"/>
              <a:ext cx="15445060" cy="11536222"/>
              <a:chOff x="23588390" y="21039278"/>
              <a:chExt cx="15445060" cy="11536222"/>
            </a:xfrm>
          </p:grpSpPr>
          <p:grpSp>
            <p:nvGrpSpPr>
              <p:cNvPr id="1113" name="Group 1112">
                <a:extLst>
                  <a:ext uri="{FF2B5EF4-FFF2-40B4-BE49-F238E27FC236}">
                    <a16:creationId xmlns:a16="http://schemas.microsoft.com/office/drawing/2014/main" id="{BEF7E87A-907B-6489-C74A-40EFB7C0E1CB}"/>
                  </a:ext>
                </a:extLst>
              </p:cNvPr>
              <p:cNvGrpSpPr/>
              <p:nvPr/>
            </p:nvGrpSpPr>
            <p:grpSpPr>
              <a:xfrm>
                <a:off x="23588390" y="21039278"/>
                <a:ext cx="15445060" cy="6049822"/>
                <a:chOff x="23588390" y="21039278"/>
                <a:chExt cx="15445060" cy="6049822"/>
              </a:xfrm>
            </p:grpSpPr>
            <p:grpSp>
              <p:nvGrpSpPr>
                <p:cNvPr id="1099" name="Group 1098">
                  <a:extLst>
                    <a:ext uri="{FF2B5EF4-FFF2-40B4-BE49-F238E27FC236}">
                      <a16:creationId xmlns:a16="http://schemas.microsoft.com/office/drawing/2014/main" id="{3890F740-9F4F-4262-C418-59B6A4ABA196}"/>
                    </a:ext>
                  </a:extLst>
                </p:cNvPr>
                <p:cNvGrpSpPr/>
                <p:nvPr/>
              </p:nvGrpSpPr>
              <p:grpSpPr>
                <a:xfrm>
                  <a:off x="23888700" y="21250205"/>
                  <a:ext cx="14828057" cy="5572619"/>
                  <a:chOff x="7282161" y="19177066"/>
                  <a:chExt cx="14828057" cy="5572619"/>
                </a:xfrm>
              </p:grpSpPr>
              <p:grpSp>
                <p:nvGrpSpPr>
                  <p:cNvPr id="1076" name="Group 1075">
                    <a:extLst>
                      <a:ext uri="{FF2B5EF4-FFF2-40B4-BE49-F238E27FC236}">
                        <a16:creationId xmlns:a16="http://schemas.microsoft.com/office/drawing/2014/main" id="{26D12F3A-031F-20DC-5D9C-AF39B5867BA1}"/>
                      </a:ext>
                    </a:extLst>
                  </p:cNvPr>
                  <p:cNvGrpSpPr/>
                  <p:nvPr/>
                </p:nvGrpSpPr>
                <p:grpSpPr>
                  <a:xfrm>
                    <a:off x="7282161" y="21194606"/>
                    <a:ext cx="3700193" cy="3555079"/>
                    <a:chOff x="7234423" y="20020012"/>
                    <a:chExt cx="3700193" cy="3555079"/>
                  </a:xfrm>
                </p:grpSpPr>
                <p:sp>
                  <p:nvSpPr>
                    <p:cNvPr id="1073" name="Rectangle: Rounded Corners 1072">
                      <a:extLst>
                        <a:ext uri="{FF2B5EF4-FFF2-40B4-BE49-F238E27FC236}">
                          <a16:creationId xmlns:a16="http://schemas.microsoft.com/office/drawing/2014/main" id="{C674D2ED-B83D-3F81-F661-64D13A4FD4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34423" y="20020012"/>
                      <a:ext cx="3663567" cy="3539430"/>
                    </a:xfrm>
                    <a:prstGeom prst="roundRect">
                      <a:avLst>
                        <a:gd name="adj" fmla="val 10209"/>
                      </a:avLst>
                    </a:prstGeom>
                    <a:solidFill>
                      <a:srgbClr val="FFFBF7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9" name="TextBox 18">
                          <a:extLst>
                            <a:ext uri="{FF2B5EF4-FFF2-40B4-BE49-F238E27FC236}">
                              <a16:creationId xmlns:a16="http://schemas.microsoft.com/office/drawing/2014/main" id="{AE5D0C2B-1705-8552-A023-5AFF8B30345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271049" y="20035661"/>
                          <a:ext cx="3663567" cy="353943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// MID: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oMath>
                          </a14:m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8BDBA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// INV: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𝐼</m:t>
                              </m:r>
                            </m:oMath>
                          </a14:m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4F8B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while </a:t>
                          </a: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(</a:t>
                          </a:r>
                          <a:r>
                            <a:rPr kumimoji="0" lang="en-GB" sz="3200" b="0" i="0" u="none" strike="noStrike" kern="1200" cap="none" spc="0" normalizeH="0" baseline="0" noProof="0" err="1">
                              <a:ln>
                                <a:noFill/>
                              </a:ln>
                              <a:solidFill>
                                <a:srgbClr val="008C3A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cond</a:t>
                          </a: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) {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    </a:t>
                          </a: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8C3A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body</a:t>
                          </a:r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    // MID: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⟶</m:t>
                              </m:r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𝐼</m:t>
                              </m:r>
                            </m:oMath>
                          </a14:m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}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8BDBA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// MID: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𝑄</m:t>
                              </m:r>
                            </m:oMath>
                          </a14:m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19" name="TextBox 18">
                          <a:extLst>
                            <a:ext uri="{FF2B5EF4-FFF2-40B4-BE49-F238E27FC236}">
                              <a16:creationId xmlns:a16="http://schemas.microsoft.com/office/drawing/2014/main" id="{AE5D0C2B-1705-8552-A023-5AFF8B30345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271049" y="20035661"/>
                          <a:ext cx="3663567" cy="3539430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 l="-4326" t="-2238" b="-464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1" name="TextBox 20">
                        <a:extLst>
                          <a:ext uri="{FF2B5EF4-FFF2-40B4-BE49-F238E27FC236}">
                            <a16:creationId xmlns:a16="http://schemas.microsoft.com/office/drawing/2014/main" id="{1802561E-4F22-8137-CBDC-011BA29C6F0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195068" y="19177066"/>
                        <a:ext cx="6915150" cy="201754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>
                              <m:f>
                                <m:fPr>
                                  <m:ctrlP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eqArr>
                                    <m:eqArrPr>
                                      <m:ctrlP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𝑃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⟶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𝐼</m:t>
                                      </m:r>
                                    </m:e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kumimoji="0" lang="x-IV_mathan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x-IV_mathan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 </m:t>
                                          </m:r>
                                          <m:r>
                                            <a:rPr kumimoji="0" lang="x-IV_mathan" sz="3200" b="0" i="0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𝐼</m:t>
                                          </m:r>
                                          <m:r>
                                            <a:rPr kumimoji="0" lang="x-IV_mathan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 </m:t>
                                          </m:r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∧</m:t>
                                          </m:r>
                                          <m:r>
                                            <a:rPr kumimoji="0" lang="x-IV_mathan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kumimoji="0" lang="x-IV_mathan" sz="3200" b="0" i="0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F77C2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libri" panose="020F0502020204030204" pitchFamily="34" charset="0"/>
                                              <a:ea typeface="+mn-ea"/>
                                              <a:cs typeface="+mn-cs"/>
                                            </a:rPr>
                                            <m:t>cond</m:t>
                                          </m:r>
                                          <m:r>
                                            <a:rPr kumimoji="0" lang="x-IV_mathan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kumimoji="0" lang="x-IV_mathan" sz="32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8C3A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onsolas" panose="020B0609020204030204" pitchFamily="49" charset="0"/>
                                          <a:ea typeface="+mn-ea"/>
                                          <a:cs typeface="+mn-cs"/>
                                        </a:rPr>
                                        <m:t>body</m:t>
                                      </m:r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 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kumimoji="0" lang="x-IV_mathan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x-IV_mathan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 </m:t>
                                          </m:r>
                                          <m:r>
                                            <a:rPr kumimoji="0" lang="x-IV_mathan" sz="3200" b="0" i="0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𝐼</m:t>
                                          </m:r>
                                          <m:r>
                                            <a:rPr kumimoji="0" lang="x-IV_mathan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e>
                                      <m:r>
                                        <a:rPr kumimoji="0" lang="x-IV_mathan" sz="32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𝐼</m:t>
                                      </m:r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∧</m:t>
                                      </m:r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F77C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¬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F77C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libri" panose="020F0502020204030204" pitchFamily="34" charset="0"/>
                                          <a:ea typeface="+mn-ea"/>
                                          <a:cs typeface="+mn-cs"/>
                                        </a:rPr>
                                        <m:t>cond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⟶</m:t>
                                      </m:r>
                                      <m:r>
                                        <a:rPr kumimoji="0" lang="en-GB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𝑄</m:t>
                                      </m:r>
                                    </m:e>
                                  </m:eqArr>
                                </m:num>
                                <m:den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𝑃</m:t>
                                      </m:r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</m:e>
                                  </m:d>
                                  <m: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   </m:t>
                                  </m:r>
                                  <m:r>
                                    <m:rPr>
                                      <m:nor/>
                                    </m:rP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onsolas" panose="020B0609020204030204" pitchFamily="49" charset="0"/>
                                      <a:ea typeface="+mn-ea"/>
                                      <a:cs typeface="+mn-cs"/>
                                    </a:rPr>
                                    <m:t>while</m:t>
                                  </m:r>
                                  <m:r>
                                    <m:rPr>
                                      <m:nor/>
                                    </m:rP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onsolas" panose="020B0609020204030204" pitchFamily="49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onsolas" panose="020B0609020204030204" pitchFamily="49" charset="0"/>
                                      <a:ea typeface="+mn-ea"/>
                                      <a:cs typeface="+mn-cs"/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kumimoji="0" lang="x-IV_mathan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F77C2"/>
                                      </a:solidFill>
                                      <a:effectLst/>
                                      <a:uLnTx/>
                                      <a:uFillTx/>
                                      <a:latin typeface="Consolas" panose="020B0609020204030204" pitchFamily="49" charset="0"/>
                                      <a:ea typeface="+mn-ea"/>
                                      <a:cs typeface="+mn-cs"/>
                                    </a:rPr>
                                    <m:t>cond</m:t>
                                  </m:r>
                                  <m:r>
                                    <m:rPr>
                                      <m:nor/>
                                    </m:rP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onsolas" panose="020B0609020204030204" pitchFamily="49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  <m:r>
                                    <m:rPr>
                                      <m:nor/>
                                    </m:rP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onsolas" panose="020B0609020204030204" pitchFamily="49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onsolas" panose="020B0609020204030204" pitchFamily="49" charset="0"/>
                                      <a:ea typeface="+mn-ea"/>
                                      <a:cs typeface="+mn-cs"/>
                                    </a:rPr>
                                    <m:t>{</m:t>
                                  </m:r>
                                  <m:r>
                                    <m:rPr>
                                      <m:nor/>
                                    </m:rP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onsolas" panose="020B0609020204030204" pitchFamily="49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kumimoji="0" lang="x-IV_mathan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8C3A"/>
                                      </a:solidFill>
                                      <a:effectLst/>
                                      <a:uLnTx/>
                                      <a:uFillTx/>
                                      <a:latin typeface="Consolas" panose="020B0609020204030204" pitchFamily="49" charset="0"/>
                                      <a:ea typeface="+mn-ea"/>
                                      <a:cs typeface="+mn-cs"/>
                                    </a:rPr>
                                    <m:t>body</m:t>
                                  </m:r>
                                  <m:r>
                                    <m:rPr>
                                      <m:nor/>
                                    </m:rP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onsolas" panose="020B0609020204030204" pitchFamily="49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onsolas" panose="020B0609020204030204" pitchFamily="49" charset="0"/>
                                      <a:ea typeface="+mn-ea"/>
                                      <a:cs typeface="+mn-cs"/>
                                    </a:rPr>
                                    <m:t>}</m:t>
                                  </m:r>
                                  <m: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  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𝑄</m:t>
                                      </m:r>
                                      <m:r>
                                        <a:rPr kumimoji="0" lang="x-IV_mathan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m:oMathPara>
                        </a14:m>
                        <a:endParaRPr kumimoji="0" lang="x-IV_mathan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1" name="TextBox 20">
                        <a:extLst>
                          <a:ext uri="{FF2B5EF4-FFF2-40B4-BE49-F238E27FC236}">
                            <a16:creationId xmlns:a16="http://schemas.microsoft.com/office/drawing/2014/main" id="{1802561E-4F22-8137-CBDC-011BA29C6F0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195068" y="19177066"/>
                        <a:ext cx="6915150" cy="2017540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r="-52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A5F35A66-8F59-1D68-4C7F-CA9D945101B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656459" y="21193227"/>
                        <a:ext cx="10453759" cy="35421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Proof obligations:</a:t>
                        </a:r>
                      </a:p>
                      <a:p>
                        <a:pPr marL="444500" marR="0" lvl="0" indent="-444500" algn="l" defTabSz="457200" rtl="0" eaLnBrk="1" fontAlgn="ctr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 typeface="+mj-lt"/>
                          <a:buAutoNum type="arabicPeriod"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previous code establishes 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𝐼</m:t>
                            </m:r>
                          </m:oMath>
                        </a14:m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endParaRP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2B2B2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	</a:t>
                        </a:r>
                        <a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 	</a:t>
                        </a:r>
                        <a14:m>
                          <m:oMath xmlns:m="http://schemas.openxmlformats.org/officeDocument/2006/math"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𝐼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B01DE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libri" panose="020F0502020204030204" pitchFamily="34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B01DE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libri" panose="020F0502020204030204" pitchFamily="34" charset="0"/>
                                        <a:ea typeface="+mn-ea"/>
                                        <a:cs typeface="+mn-cs"/>
                                      </a:rPr>
                                      <m:t>mod</m:t>
                                    </m:r>
                                  </m:e>
                                </m:acc>
                                <m: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↦</m:t>
                                </m:r>
                                <m:sSub>
                                  <m:sSubPr>
                                    <m:ctrlP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B01DE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x-IV_mathan" sz="3200" b="0" i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B01DE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libri" panose="020F0502020204030204" pitchFamily="34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kumimoji="0" lang="x-IV_mathan" sz="3200" b="0" i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B01DE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libri" panose="020F0502020204030204" pitchFamily="34" charset="0"/>
                                            <a:ea typeface="+mn-ea"/>
                                            <a:cs typeface="+mn-cs"/>
                                          </a:rPr>
                                          <m:t>mod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B01DE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d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∧</m:t>
                            </m:r>
                            <m:r>
                              <m:rPr>
                                <m:nor/>
                              </m:rPr>
                              <a:rPr kumimoji="0" lang="x-IV_mathan" sz="32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libri" panose="020F0502020204030204" pitchFamily="34" charset="0"/>
                                <a:ea typeface="+mn-ea"/>
                                <a:cs typeface="+mn-cs"/>
                              </a:rPr>
                              <m:t>cond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B01DE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libri" panose="020F0502020204030204" pitchFamily="34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B01DE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libri" panose="020F0502020204030204" pitchFamily="34" charset="0"/>
                                        <a:ea typeface="+mn-ea"/>
                                        <a:cs typeface="+mn-cs"/>
                                      </a:rPr>
                                      <m:t>mod</m:t>
                                    </m:r>
                                  </m:e>
                                </m:acc>
                                <m: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↦</m:t>
                                </m:r>
                                <m:sSub>
                                  <m:sSubPr>
                                    <m:ctrlP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B01DE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x-IV_mathan" sz="3200" b="0" i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B01DE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libri" panose="020F0502020204030204" pitchFamily="34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kumimoji="0" lang="x-IV_mathan" sz="3200" b="0" i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B01DE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libri" panose="020F0502020204030204" pitchFamily="34" charset="0"/>
                                            <a:ea typeface="+mn-ea"/>
                                            <a:cs typeface="+mn-cs"/>
                                          </a:rPr>
                                          <m:t>mod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B01DE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d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∧</m:t>
                            </m:r>
                            <m:r>
                              <m:rPr>
                                <m:nor/>
                              </m:rPr>
                              <a:rPr kumimoji="0" lang="x-IV_mathan" sz="32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8C3A"/>
                                </a:solidFill>
                                <a:effectLst/>
                                <a:uLnTx/>
                                <a:uFillTx/>
                                <a:latin typeface="Calibri" panose="020F0502020204030204" pitchFamily="34" charset="0"/>
                                <a:ea typeface="+mn-ea"/>
                                <a:cs typeface="+mn-cs"/>
                              </a:rPr>
                              <m:t>body</m:t>
                            </m:r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⟶</m:t>
                            </m:r>
                            <m:r>
                              <a:rPr kumimoji="0" lang="x-IV_mathan" sz="32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𝐼</m:t>
                            </m:r>
                          </m:oMath>
                        </a14:m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endParaRPr>
                      </a:p>
                      <a:p>
                        <a:pPr marL="444500" marR="0" lvl="0" indent="-444500" algn="l" defTabSz="457200" rtl="0" eaLnBrk="1" fontAlgn="ctr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 typeface="+mj-lt"/>
                          <a:buAutoNum type="arabicPeriod"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invariant preserved by loop body</a:t>
                        </a: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rPr>
                          <a:t>		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𝐼</m:t>
                            </m:r>
                          </m:oMath>
                        </a14:m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 and </a:t>
                        </a:r>
                        <a:r>
                          <a:rPr kumimoji="0" lang="en-GB" sz="3200" b="0" i="0" u="sng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cond</a:t>
                        </a: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 hold and we run </a:t>
                        </a:r>
                        <a:r>
                          <a:rPr kumimoji="0" lang="en-GB" sz="3200" b="0" i="0" u="sng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body</a:t>
                        </a: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 </a:t>
                        </a:r>
                        <a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a:t>⟶   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𝐼</m:t>
                            </m:r>
                            <m:r>
                              <a:rPr kumimoji="0" lang="en-GB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</m:oMath>
                        </a14:m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 still holds</a:t>
                        </a:r>
                      </a:p>
                      <a:p>
                        <a:pPr marL="514350" marR="0" lvl="0" indent="-514350" algn="l" defTabSz="457200" rtl="0" eaLnBrk="1" fontAlgn="ctr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 typeface="+mj-lt"/>
                          <a:buAutoNum type="arabicPeriod" startAt="3"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on termination of loop, 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𝑄</m:t>
                            </m:r>
                          </m:oMath>
                        </a14:m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 holds</a:t>
                        </a: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rPr>
                          <a:t>		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𝐼</m:t>
                            </m:r>
                          </m:oMath>
                        </a14:m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 and </a:t>
                        </a:r>
                        <a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a:t>¬ </a:t>
                        </a:r>
                        <a:r>
                          <a:rPr kumimoji="0" lang="en-GB" sz="3200" b="0" i="0" u="sng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cond</a:t>
                        </a: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 </a:t>
                        </a:r>
                        <a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a:t>⟶ 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𝑄</m:t>
                            </m:r>
                          </m:oMath>
                        </a14:m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A5F35A66-8F59-1D68-4C7F-CA9D945101B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656459" y="21193227"/>
                        <a:ext cx="10453759" cy="3542188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1516" t="-2238" b="-48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093" name="TextBox 1092">
                    <a:extLst>
                      <a:ext uri="{FF2B5EF4-FFF2-40B4-BE49-F238E27FC236}">
                        <a16:creationId xmlns:a16="http://schemas.microsoft.com/office/drawing/2014/main" id="{B80A6711-35CD-9E00-7654-4E4FB472F04F}"/>
                      </a:ext>
                    </a:extLst>
                  </p:cNvPr>
                  <p:cNvSpPr txBox="1"/>
                  <p:nvPr/>
                </p:nvSpPr>
                <p:spPr>
                  <a:xfrm>
                    <a:off x="7282161" y="19177066"/>
                    <a:ext cx="7338740" cy="126188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Iteration:  </a:t>
                    </a:r>
                    <a:r>
                      <a:rPr kumimoji="0" lang="en-GB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rPr>
                      <a:t>while</a:t>
                    </a:r>
                    <a:r>
                      <a:rPr kumimoji="0" lang="en-GB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 loops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ptos Display" panose="02110004020202020204"/>
                        <a:ea typeface="+mn-ea"/>
                        <a:cs typeface="+mn-cs"/>
                      </a:rPr>
                      <a:t>(for &amp; do-while get rewritten as while loops)</a:t>
                    </a:r>
                  </a:p>
                </p:txBody>
              </p:sp>
            </p:grpSp>
            <p:sp>
              <p:nvSpPr>
                <p:cNvPr id="1110" name="Rectangle 1109">
                  <a:extLst>
                    <a:ext uri="{FF2B5EF4-FFF2-40B4-BE49-F238E27FC236}">
                      <a16:creationId xmlns:a16="http://schemas.microsoft.com/office/drawing/2014/main" id="{BE7C0F35-39EB-FED0-DB25-565EF32D3A3B}"/>
                    </a:ext>
                  </a:extLst>
                </p:cNvPr>
                <p:cNvSpPr/>
                <p:nvPr/>
              </p:nvSpPr>
              <p:spPr>
                <a:xfrm>
                  <a:off x="23588390" y="21039278"/>
                  <a:ext cx="15445060" cy="6049822"/>
                </a:xfrm>
                <a:prstGeom prst="rect">
                  <a:avLst/>
                </a:prstGeom>
                <a:noFill/>
                <a:ln w="28575">
                  <a:solidFill>
                    <a:srgbClr val="0F77C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12" name="Group 1111">
                <a:extLst>
                  <a:ext uri="{FF2B5EF4-FFF2-40B4-BE49-F238E27FC236}">
                    <a16:creationId xmlns:a16="http://schemas.microsoft.com/office/drawing/2014/main" id="{27D53C17-353F-B430-D5AB-CD088A728063}"/>
                  </a:ext>
                </a:extLst>
              </p:cNvPr>
              <p:cNvGrpSpPr/>
              <p:nvPr/>
            </p:nvGrpSpPr>
            <p:grpSpPr>
              <a:xfrm>
                <a:off x="23588390" y="27089100"/>
                <a:ext cx="15445060" cy="5486400"/>
                <a:chOff x="23588390" y="27089100"/>
                <a:chExt cx="15445060" cy="5486400"/>
              </a:xfrm>
            </p:grpSpPr>
            <p:grpSp>
              <p:nvGrpSpPr>
                <p:cNvPr id="1101" name="Group 1100">
                  <a:extLst>
                    <a:ext uri="{FF2B5EF4-FFF2-40B4-BE49-F238E27FC236}">
                      <a16:creationId xmlns:a16="http://schemas.microsoft.com/office/drawing/2014/main" id="{6482FE8C-AFC2-8EB4-3BB9-CFFFE45B0405}"/>
                    </a:ext>
                  </a:extLst>
                </p:cNvPr>
                <p:cNvGrpSpPr/>
                <p:nvPr/>
              </p:nvGrpSpPr>
              <p:grpSpPr>
                <a:xfrm>
                  <a:off x="23925326" y="27300027"/>
                  <a:ext cx="14681452" cy="5001629"/>
                  <a:chOff x="7273201" y="27885625"/>
                  <a:chExt cx="14681452" cy="5001629"/>
                </a:xfrm>
              </p:grpSpPr>
              <p:grpSp>
                <p:nvGrpSpPr>
                  <p:cNvPr id="1090" name="Group 1089">
                    <a:extLst>
                      <a:ext uri="{FF2B5EF4-FFF2-40B4-BE49-F238E27FC236}">
                        <a16:creationId xmlns:a16="http://schemas.microsoft.com/office/drawing/2014/main" id="{A50F0091-ADA5-8B07-0442-3B3E1E458B4A}"/>
                      </a:ext>
                    </a:extLst>
                  </p:cNvPr>
                  <p:cNvGrpSpPr/>
                  <p:nvPr/>
                </p:nvGrpSpPr>
                <p:grpSpPr>
                  <a:xfrm>
                    <a:off x="7273201" y="29347824"/>
                    <a:ext cx="3348994" cy="3539430"/>
                    <a:chOff x="7804449" y="25870292"/>
                    <a:chExt cx="3348994" cy="3539430"/>
                  </a:xfrm>
                </p:grpSpPr>
                <p:sp>
                  <p:nvSpPr>
                    <p:cNvPr id="1078" name="Rectangle: Rounded Corners 1077">
                      <a:extLst>
                        <a:ext uri="{FF2B5EF4-FFF2-40B4-BE49-F238E27FC236}">
                          <a16:creationId xmlns:a16="http://schemas.microsoft.com/office/drawing/2014/main" id="{DD67E724-4383-7D54-92CE-A8F189AA04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04450" y="25870293"/>
                      <a:ext cx="3332060" cy="3539429"/>
                    </a:xfrm>
                    <a:prstGeom prst="roundRect">
                      <a:avLst>
                        <a:gd name="adj" fmla="val 10209"/>
                      </a:avLst>
                    </a:prstGeom>
                    <a:solidFill>
                      <a:srgbClr val="FFFBF7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28" name="TextBox 27">
                          <a:extLst>
                            <a:ext uri="{FF2B5EF4-FFF2-40B4-BE49-F238E27FC236}">
                              <a16:creationId xmlns:a16="http://schemas.microsoft.com/office/drawing/2014/main" id="{1993A375-AC3E-188D-98FF-D38360285D5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804449" y="25870292"/>
                          <a:ext cx="3348994" cy="353943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// PRE: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oMath>
                          </a14:m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8BDBA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// INV: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𝐼</m:t>
                              </m:r>
                            </m:oMath>
                          </a14:m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// VAR: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𝑉</m:t>
                              </m:r>
                            </m:oMath>
                          </a14:m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4F8B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while </a:t>
                          </a: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(</a:t>
                          </a:r>
                          <a:r>
                            <a:rPr kumimoji="0" lang="en-GB" sz="3200" b="0" i="0" u="none" strike="noStrike" kern="1200" cap="none" spc="0" normalizeH="0" baseline="0" noProof="0" err="1">
                              <a:ln>
                                <a:noFill/>
                              </a:ln>
                              <a:solidFill>
                                <a:srgbClr val="008C3A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cond</a:t>
                          </a: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) {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    </a:t>
                          </a: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8C3A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body</a:t>
                          </a:r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}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8BDBA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// MID: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𝑄</m:t>
                              </m:r>
                            </m:oMath>
                          </a14:m>
                          <a:endPara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28" name="TextBox 27">
                          <a:extLst>
                            <a:ext uri="{FF2B5EF4-FFF2-40B4-BE49-F238E27FC236}">
                              <a16:creationId xmlns:a16="http://schemas.microsoft.com/office/drawing/2014/main" id="{1993A375-AC3E-188D-98FF-D38360285D50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804449" y="25870292"/>
                          <a:ext cx="3348994" cy="3539430"/>
                        </a:xfrm>
                        <a:prstGeom prst="rect">
                          <a:avLst/>
                        </a:prstGeom>
                        <a:blipFill>
                          <a:blip r:embed="rId12"/>
                          <a:stretch>
                            <a:fillRect l="-4736" t="-2238" r="-3643" b="-464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7" name="TextBox 36">
                        <a:extLst>
                          <a:ext uri="{FF2B5EF4-FFF2-40B4-BE49-F238E27FC236}">
                            <a16:creationId xmlns:a16="http://schemas.microsoft.com/office/drawing/2014/main" id="{AFDAE2C7-4087-514D-CA1A-3990B3F7ACF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2728088" y="28074330"/>
                        <a:ext cx="9226565" cy="29238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(same as above for </a:t>
                        </a:r>
                        <a14:m>
                          <m:oMath xmlns:m="http://schemas.openxmlformats.org/officeDocument/2006/math">
                            <m:r>
                              <a:rPr kumimoji="0" lang="x-IV_mathan" sz="3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𝐼</m:t>
                            </m:r>
                          </m:oMath>
                        </a14:m>
                        <a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 AND:)</a:t>
                        </a:r>
                        <a:endParaRPr kumimoji="0" lang="x-IV_mathan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endParaRP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rPr>
                          <a:t>	</a:t>
                        </a:r>
                        <a14:m>
                          <m:oMath xmlns:m="http://schemas.openxmlformats.org/officeDocument/2006/math">
                            <m:r>
                              <a:rPr kumimoji="0" lang="x-IV_mathan" sz="32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∃</m:t>
                            </m:r>
                            <m:r>
                              <a:rPr kumimoji="0" lang="x-IV_mathan" sz="32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</m:t>
                            </m:r>
                            <m:r>
                              <a:rPr kumimoji="0" lang="x-IV_mathan" sz="32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∈</m:t>
                            </m:r>
                            <m:r>
                              <a:rPr kumimoji="0" lang="x-IV_mathan" sz="32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ℤ</m:t>
                            </m:r>
                            <m:r>
                              <a:rPr kumimoji="0" lang="x-IV_mathan" sz="32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.   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x-IV_mathan" sz="32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𝐼</m:t>
                                </m:r>
                                <m: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∧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F77C2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 pitchFamily="34" charset="0"/>
                                    <a:ea typeface="+mn-ea"/>
                                    <a:cs typeface="+mn-cs"/>
                                  </a:rPr>
                                  <m:t>cond</m:t>
                                </m:r>
                                <m: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F77C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</m:e>
                            </m:d>
                            <m:r>
                              <a:rPr kumimoji="0" lang="x-IV_matha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 </m:t>
                            </m:r>
                            <m:r>
                              <m:rPr>
                                <m:nor/>
                              </m:rPr>
                              <a:rPr kumimoji="0" lang="x-IV_mathan" sz="32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8C3A"/>
                                </a:solidFill>
                                <a:effectLst/>
                                <a:uLnTx/>
                                <a:uFillTx/>
                                <a:latin typeface="Calibri" panose="020F0502020204030204" pitchFamily="34" charset="0"/>
                                <a:ea typeface="+mn-ea"/>
                                <a:cs typeface="+mn-cs"/>
                              </a:rPr>
                              <m:t>body</m:t>
                            </m:r>
                            <m:r>
                              <a:rPr kumimoji="0" lang="x-IV_matha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 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x-IV_mathan" sz="32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𝑉</m:t>
                                </m:r>
                                <m: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≥</m:t>
                                </m:r>
                                <m: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  <m: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</m:e>
                            </m:d>
                          </m:oMath>
                        </a14:m>
                        <a:r>
                          <a:rPr kumimoji="0" lang="en-GB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a:t> </a:t>
                        </a: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rPr>
                          <a:t>	</a:t>
                        </a:r>
                        <a14:m>
                          <m:oMath xmlns:m="http://schemas.openxmlformats.org/officeDocument/2006/math"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x-IV_mathan" sz="32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𝐼</m:t>
                                </m:r>
                                <m: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∧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F77C2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 pitchFamily="34" charset="0"/>
                                    <a:ea typeface="+mn-ea"/>
                                    <a:cs typeface="+mn-cs"/>
                                  </a:rPr>
                                  <m:t>cond</m:t>
                                </m:r>
                                <m: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</m:e>
                            </m:d>
                            <m:r>
                              <a:rPr kumimoji="0" lang="x-IV_matha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 </m:t>
                            </m:r>
                            <m:r>
                              <m:rPr>
                                <m:nor/>
                              </m:rPr>
                              <a:rPr kumimoji="0" lang="x-IV_mathan" sz="32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8C3A"/>
                                </a:solidFill>
                                <a:effectLst/>
                                <a:uLnTx/>
                                <a:uFillTx/>
                                <a:latin typeface="Calibri" panose="020F0502020204030204" pitchFamily="34" charset="0"/>
                                <a:ea typeface="+mn-ea"/>
                                <a:cs typeface="+mn-cs"/>
                              </a:rPr>
                              <m:t>body</m:t>
                            </m:r>
                            <m:r>
                              <a:rPr kumimoji="0" lang="x-IV_matha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 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B01DE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B01DE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B01DE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kumimoji="0" lang="en-GB" sz="32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&gt;</m:t>
                                </m:r>
                                <m:r>
                                  <a:rPr kumimoji="0" lang="x-IV_mathan" sz="32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𝑉</m:t>
                                </m:r>
                                <m: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</m:e>
                            </m:d>
                            <m:r>
                              <a:rPr kumimoji="0" lang="x-IV_matha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</m:oMath>
                        </a14:m>
                        <a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 </a:t>
                        </a: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Tend to prove both at the same time (for some 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</m:t>
                            </m:r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∈</m:t>
                            </m:r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ℤ</m:t>
                            </m:r>
                          </m:oMath>
                        </a14:m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):</a:t>
                        </a:r>
                      </a:p>
                      <a:p>
                        <a:pPr marL="34290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a:rPr kumimoji="0" lang="x-IV_mathan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𝐼</m:t>
                                  </m:r>
                                  <m: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∧</m:t>
                                  </m:r>
                                  <m:r>
                                    <m:rPr>
                                      <m:nor/>
                                    </m:rPr>
                                    <a:rPr kumimoji="0" lang="x-IV_mathan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F77C2"/>
                                      </a:solidFill>
                                      <a:effectLst/>
                                      <a:uLnTx/>
                                      <a:uFillTx/>
                                      <a:latin typeface="Calibri" panose="020F0502020204030204" pitchFamily="34" charset="0"/>
                                      <a:ea typeface="+mn-ea"/>
                                      <a:cs typeface="+mn-cs"/>
                                    </a:rPr>
                                    <m:t>cond</m:t>
                                  </m:r>
                                  <m: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kumimoji="0" lang="x-IV_mathan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 pitchFamily="34" charset="0"/>
                                  <a:ea typeface="+mn-ea"/>
                                  <a:cs typeface="+mn-cs"/>
                                </a:rPr>
                                <m:t>body</m:t>
                              </m:r>
                              <m:r>
                                <a:rPr kumimoji="0" lang="x-IV_mathan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 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a:rPr kumimoji="0" lang="x-IV_mathan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𝑉</m:t>
                                  </m:r>
                                  <m: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≥</m:t>
                                  </m:r>
                                  <m: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  <m: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∧</m:t>
                                  </m:r>
                                  <m: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B01DE7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B01DE7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B01DE7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𝑜𝑙𝑑</m:t>
                                      </m:r>
                                    </m:sub>
                                  </m:sSub>
                                  <m:r>
                                    <a:rPr kumimoji="0" lang="en-GB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&gt;</m:t>
                                  </m:r>
                                  <m:r>
                                    <a:rPr kumimoji="0" lang="x-IV_mathan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𝑉</m:t>
                                  </m:r>
                                  <m: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</m:e>
                              </m:d>
                            </m:oMath>
                          </m:oMathPara>
                        </a14:m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37" name="TextBox 36">
                        <a:extLst>
                          <a:ext uri="{FF2B5EF4-FFF2-40B4-BE49-F238E27FC236}">
                            <a16:creationId xmlns:a16="http://schemas.microsoft.com/office/drawing/2014/main" id="{AFDAE2C7-4087-514D-CA1A-3990B3F7ACF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2728088" y="28074330"/>
                        <a:ext cx="9226565" cy="2923877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l="-1651" t="-2500" r="-72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B113E31E-7C61-B1F4-F254-D1ABF562131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794159" y="31317594"/>
                        <a:ext cx="8705075" cy="156966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(as above, AND:)</a:t>
                        </a:r>
                      </a:p>
                      <a:p>
                        <a:pPr marL="457200" marR="0" lvl="0" indent="-457200" algn="l" defTabSz="457200" rtl="0" eaLnBrk="1" fontAlgn="ctr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 typeface="+mj-lt"/>
                          <a:buAutoNum type="arabicPeriod" startAt="4"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The variant 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𝑉</m:t>
                            </m:r>
                          </m:oMath>
                        </a14:m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 is bounded </a:t>
                        </a:r>
                        <a:r>
                          <a:rPr kumimoji="0" lang="en-GB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(below)</a:t>
                        </a:r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endParaRPr>
                      </a:p>
                      <a:p>
                        <a:pPr marL="457200" marR="0" lvl="0" indent="-457200" algn="l" defTabSz="457200" rtl="0" eaLnBrk="1" fontAlgn="ctr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 typeface="+mj-lt"/>
                          <a:buAutoNum type="arabicPeriod" startAt="4"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The variant 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𝑉</m:t>
                            </m:r>
                          </m:oMath>
                        </a14:m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 </a:t>
                        </a:r>
                        <a:r>
                          <a:rPr kumimoji="0" lang="en-GB" sz="32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decreases</a:t>
                        </a: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 with each loop iteration</a:t>
                        </a:r>
                      </a:p>
                    </p:txBody>
                  </p:sp>
                </mc:Choice>
                <mc:Fallback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B113E31E-7C61-B1F4-F254-D1ABF562131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794159" y="31317594"/>
                        <a:ext cx="8705075" cy="1569660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l="-1821" t="-5039" r="-980" b="-1240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096" name="TextBox 1095">
                    <a:extLst>
                      <a:ext uri="{FF2B5EF4-FFF2-40B4-BE49-F238E27FC236}">
                        <a16:creationId xmlns:a16="http://schemas.microsoft.com/office/drawing/2014/main" id="{0DB91F12-C0F3-FBD1-DD7D-1ACAB4839128}"/>
                      </a:ext>
                    </a:extLst>
                  </p:cNvPr>
                  <p:cNvSpPr txBox="1"/>
                  <p:nvPr/>
                </p:nvSpPr>
                <p:spPr>
                  <a:xfrm>
                    <a:off x="7282826" y="27885625"/>
                    <a:ext cx="4658839" cy="144655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Termination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4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(total correctness)</a:t>
                    </a:r>
                  </a:p>
                </p:txBody>
              </p:sp>
            </p:grpSp>
            <p:sp>
              <p:nvSpPr>
                <p:cNvPr id="1111" name="Rectangle 1110">
                  <a:extLst>
                    <a:ext uri="{FF2B5EF4-FFF2-40B4-BE49-F238E27FC236}">
                      <a16:creationId xmlns:a16="http://schemas.microsoft.com/office/drawing/2014/main" id="{CB48B845-928B-66A5-6E58-F1B6D6DBCD01}"/>
                    </a:ext>
                  </a:extLst>
                </p:cNvPr>
                <p:cNvSpPr/>
                <p:nvPr/>
              </p:nvSpPr>
              <p:spPr>
                <a:xfrm>
                  <a:off x="23588390" y="27089100"/>
                  <a:ext cx="15445060" cy="5486400"/>
                </a:xfrm>
                <a:prstGeom prst="rect">
                  <a:avLst/>
                </a:prstGeom>
                <a:noFill/>
                <a:ln w="28575">
                  <a:solidFill>
                    <a:srgbClr val="0F77C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51" name="Group 1150">
              <a:extLst>
                <a:ext uri="{FF2B5EF4-FFF2-40B4-BE49-F238E27FC236}">
                  <a16:creationId xmlns:a16="http://schemas.microsoft.com/office/drawing/2014/main" id="{0FF60F2B-33B5-A6D4-BE0A-CD78C7A9AC08}"/>
                </a:ext>
              </a:extLst>
            </p:cNvPr>
            <p:cNvGrpSpPr/>
            <p:nvPr/>
          </p:nvGrpSpPr>
          <p:grpSpPr>
            <a:xfrm>
              <a:off x="-42585" y="13018"/>
              <a:ext cx="15963900" cy="5534738"/>
              <a:chOff x="-42585" y="13018"/>
              <a:chExt cx="15963900" cy="5534738"/>
            </a:xfrm>
          </p:grpSpPr>
          <p:grpSp>
            <p:nvGrpSpPr>
              <p:cNvPr id="1147" name="Group 1146">
                <a:extLst>
                  <a:ext uri="{FF2B5EF4-FFF2-40B4-BE49-F238E27FC236}">
                    <a16:creationId xmlns:a16="http://schemas.microsoft.com/office/drawing/2014/main" id="{17AF9E12-834E-B3E7-1FD0-1330A2D67FF4}"/>
                  </a:ext>
                </a:extLst>
              </p:cNvPr>
              <p:cNvGrpSpPr/>
              <p:nvPr/>
            </p:nvGrpSpPr>
            <p:grpSpPr>
              <a:xfrm>
                <a:off x="360521" y="209069"/>
                <a:ext cx="15307662" cy="5080560"/>
                <a:chOff x="137398" y="182488"/>
                <a:chExt cx="15307662" cy="5080560"/>
              </a:xfrm>
            </p:grpSpPr>
            <p:grpSp>
              <p:nvGrpSpPr>
                <p:cNvPr id="1146" name="Group 1145">
                  <a:extLst>
                    <a:ext uri="{FF2B5EF4-FFF2-40B4-BE49-F238E27FC236}">
                      <a16:creationId xmlns:a16="http://schemas.microsoft.com/office/drawing/2014/main" id="{A7422909-1793-1EEE-99A2-BFFA6C0CF833}"/>
                    </a:ext>
                  </a:extLst>
                </p:cNvPr>
                <p:cNvGrpSpPr/>
                <p:nvPr/>
              </p:nvGrpSpPr>
              <p:grpSpPr>
                <a:xfrm>
                  <a:off x="137398" y="214929"/>
                  <a:ext cx="3672603" cy="5040625"/>
                  <a:chOff x="137398" y="214929"/>
                  <a:chExt cx="3672603" cy="5040625"/>
                </a:xfrm>
              </p:grpSpPr>
              <p:sp>
                <p:nvSpPr>
                  <p:cNvPr id="1145" name="Rectangle: Rounded Corners 1144">
                    <a:extLst>
                      <a:ext uri="{FF2B5EF4-FFF2-40B4-BE49-F238E27FC236}">
                        <a16:creationId xmlns:a16="http://schemas.microsoft.com/office/drawing/2014/main" id="{5BDF5F9A-D6B3-C92A-9D17-5E0BF2B93F82}"/>
                      </a:ext>
                    </a:extLst>
                  </p:cNvPr>
                  <p:cNvSpPr/>
                  <p:nvPr/>
                </p:nvSpPr>
                <p:spPr>
                  <a:xfrm>
                    <a:off x="137398" y="214929"/>
                    <a:ext cx="3672602" cy="5003611"/>
                  </a:xfrm>
                  <a:prstGeom prst="roundRect">
                    <a:avLst>
                      <a:gd name="adj" fmla="val 10702"/>
                    </a:avLst>
                  </a:prstGeom>
                  <a:solidFill>
                    <a:srgbClr val="FFFBF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" name="TextBox 2">
                        <a:extLst>
                          <a:ext uri="{FF2B5EF4-FFF2-40B4-BE49-F238E27FC236}">
                            <a16:creationId xmlns:a16="http://schemas.microsoft.com/office/drawing/2014/main" id="{75248BC9-B750-3377-F8B9-9DBE2BA08B1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7399" y="238796"/>
                        <a:ext cx="3672602" cy="501675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8BDBA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// PRE: 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𝑃</m:t>
                            </m:r>
                          </m:oMath>
                        </a14:m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endParaRP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4F8B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if</a:t>
                        </a: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 (</a:t>
                        </a:r>
                        <a:r>
                          <a:rPr kumimoji="0" lang="en-GB" sz="3200" b="0" i="0" u="none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srgbClr val="008C3A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cond</a:t>
                        </a: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) {</a:t>
                        </a: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    // MID: </a:t>
                        </a:r>
                        <a14:m>
                          <m:oMath xmlns:m="http://schemas.openxmlformats.org/officeDocument/2006/math">
                            <m:r>
                              <a:rPr kumimoji="0" lang="en-GB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𝑃</m:t>
                            </m:r>
                          </m:oMath>
                        </a14:m>
                        <a:r>
                          <a:rPr kumimoji="0" lang="en-GB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2B2B2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 </a:t>
                        </a:r>
                        <a:r>
                          <a:rPr kumimoji="0" lang="en-GB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a:t>∧</a:t>
                        </a:r>
                        <a:r>
                          <a:rPr kumimoji="0" lang="en-GB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 </a:t>
                        </a:r>
                        <a:r>
                          <a:rPr kumimoji="0" lang="en-GB" sz="2400" b="0" i="0" u="none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cond</a:t>
                        </a:r>
                        <a:endParaRPr kumimoji="0" lang="en-GB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endParaRP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    </a:t>
                        </a: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8C3A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code1</a:t>
                        </a:r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endParaRP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    // MID: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24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GB" sz="24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0" lang="en-GB" sz="24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oMath>
                        </a14:m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endParaRP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} </a:t>
                        </a: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4F8B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else</a:t>
                        </a: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 {</a:t>
                        </a: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    // MID: </a:t>
                        </a:r>
                        <a14:m>
                          <m:oMath xmlns:m="http://schemas.openxmlformats.org/officeDocument/2006/math">
                            <m:r>
                              <a:rPr kumimoji="0" lang="en-GB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𝑃</m:t>
                            </m:r>
                          </m:oMath>
                        </a14:m>
                        <a:r>
                          <a:rPr kumimoji="0" lang="en-GB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2B2B2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 </a:t>
                        </a:r>
                        <a:r>
                          <a:rPr kumimoji="0" lang="en-GB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a:t>∧ </a:t>
                        </a:r>
                        <a:r>
                          <a:rPr kumimoji="0" lang="en-GB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¬</a:t>
                        </a:r>
                        <a:r>
                          <a:rPr kumimoji="0" lang="en-GB" sz="2400" b="0" i="0" u="none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cond</a:t>
                        </a:r>
                        <a:endParaRPr kumimoji="0" lang="en-GB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endParaRP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    </a:t>
                        </a: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8C3A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code2</a:t>
                        </a:r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endParaRP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    // MID: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GB" sz="24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GB" sz="24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0" lang="en-GB" sz="24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oMath>
                        </a14:m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endParaRP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}</a:t>
                        </a: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8BDBA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// POST: 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𝑄</m:t>
                            </m:r>
                          </m:oMath>
                        </a14:m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3" name="TextBox 2">
                        <a:extLst>
                          <a:ext uri="{FF2B5EF4-FFF2-40B4-BE49-F238E27FC236}">
                            <a16:creationId xmlns:a16="http://schemas.microsoft.com/office/drawing/2014/main" id="{75248BC9-B750-3377-F8B9-9DBE2BA08B1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37399" y="238796"/>
                        <a:ext cx="3672602" cy="5016758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l="-4146" t="-1580" r="-1493" b="-303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626EDC97-31FE-0191-B9E9-DEDB819D22F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71352" y="1178404"/>
                      <a:ext cx="10973708" cy="40846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>
                            <m:f>
                              <m:fPr>
                                <m:ctrl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𝑃</m:t>
                                    </m:r>
                                    <m: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∧</m:t>
                                    </m:r>
                                    <m: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x-IV_mathan" sz="32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B01DE7"/>
                                        </a:solidFill>
                                        <a:effectLst/>
                                        <a:uLnTx/>
                                        <a:uFillTx/>
                                        <a:latin typeface="Consolas" panose="020B0609020204030204" pitchFamily="49" charset="0"/>
                                        <a:ea typeface="+mn-ea"/>
                                        <a:cs typeface="+mn-cs"/>
                                      </a:rPr>
                                      <m:t>cond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libri" panose="020F0502020204030204" pitchFamily="34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 pitchFamily="34" charset="0"/>
                                    <a:ea typeface="+mn-ea"/>
                                    <a:cs typeface="+mn-cs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8C3A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code1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 pitchFamily="34" charset="0"/>
                                    <a:ea typeface="+mn-ea"/>
                                    <a:cs typeface="+mn-cs"/>
                                  </a:rPr>
                                  <m:t>  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  <m: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 pitchFamily="34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      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𝑃</m:t>
                                    </m:r>
                                    <m: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∧</m:t>
                                    </m:r>
                                    <m: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x-IV_mathan" sz="32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B01DE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¬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B01DE7"/>
                                        </a:solidFill>
                                        <a:effectLst/>
                                        <a:uLnTx/>
                                        <a:uFillTx/>
                                        <a:latin typeface="Consolas" panose="020B0609020204030204" pitchFamily="49" charset="0"/>
                                        <a:ea typeface="+mn-ea"/>
                                        <a:cs typeface="+mn-cs"/>
                                      </a:rPr>
                                      <m:t>cond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libri" panose="020F0502020204030204" pitchFamily="34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8C3A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code2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 pitchFamily="34" charset="0"/>
                                    <a:ea typeface="+mn-ea"/>
                                    <a:cs typeface="+mn-cs"/>
                                  </a:rPr>
                                  <m:t>  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  <m: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𝑃</m:t>
                                    </m:r>
                                    <m: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 pitchFamily="34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  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cond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{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8C3A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code1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}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else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{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8C3A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code2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onsolas" panose="020B0609020204030204" pitchFamily="49" charset="0"/>
                                    <a:ea typeface="+mn-ea"/>
                                    <a:cs typeface="+mn-cs"/>
                                  </a:rPr>
                                  <m:t>}</m:t>
                                </m:r>
                                <m:r>
                                  <m:rPr>
                                    <m:nor/>
                                  </m:rPr>
                                  <a:rPr kumimoji="0" lang="x-IV_mathan" sz="3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 pitchFamily="34" charset="0"/>
                                    <a:ea typeface="+mn-ea"/>
                                    <a:cs typeface="+mn-cs"/>
                                  </a:rPr>
                                  <m:t>    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x-IV_mathan" sz="3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  <m:r>
                                      <a:rPr kumimoji="0" lang="x-IV_mathan" sz="3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e>
                                </m:d>
                              </m:den>
                            </m:f>
                            <m:r>
                              <a:rPr kumimoji="0" lang="x-IV_matha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</m:oMath>
                        </m:oMathPara>
                      </a14:m>
                      <a:endParaRPr kumimoji="0" lang="x-IV_mathan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266700" marR="0" lvl="0" indent="-2667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361950" algn="l"/>
                        </a:tabLst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code1, code2 may “assume” P &amp; their respective case for free</a:t>
                      </a:r>
                    </a:p>
                    <a:p>
                      <a:pPr marL="266700" marR="0" lvl="0" indent="-2667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361950" algn="l"/>
                        </a:tabLst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it is the “responsibility” of both code1 &amp; code2 to establish </a:t>
                      </a:r>
                      <a14:m>
                        <m:oMath xmlns:m="http://schemas.openxmlformats.org/officeDocument/2006/math">
                          <m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𝑄</m:t>
                          </m:r>
                        </m:oMath>
                      </a14:m>
                      <a:endParaRPr kumimoji="0" lang="en-GB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266700" marR="0" lvl="0" indent="-2667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61950" algn="l"/>
                        </a:tabLst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				(i.e.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→</m:t>
                          </m:r>
                          <m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𝑄</m:t>
                          </m:r>
                        </m:oMath>
                      </a14:m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and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GB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96969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→</m:t>
                          </m:r>
                          <m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𝑄</m:t>
                          </m:r>
                        </m:oMath>
                      </a14:m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66700" marR="0" lvl="0" indent="-2667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361950" algn="l"/>
                        </a:tabLst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If there is </a:t>
                      </a:r>
                      <a:r>
                        <a:rPr kumimoji="0" lang="en-GB" sz="32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`</a:t>
                      </a: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4F8B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else</a:t>
                      </a: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` branch, we still need to show that</a:t>
                      </a:r>
                    </a:p>
                    <a:p>
                      <a:pPr marL="266700" marR="0" lvl="0" indent="-2667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61950" algn="l"/>
                        </a:tabLst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				</a:t>
                      </a:r>
                      <a14:m>
                        <m:oMath xmlns:m="http://schemas.openxmlformats.org/officeDocument/2006/math">
                          <m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∧¬</m:t>
                          </m:r>
                          <m:r>
                            <m:rPr>
                              <m:nor/>
                            </m:rP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m:t>cond</m:t>
                          </m:r>
                          <m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⟶</m:t>
                          </m:r>
                          <m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𝑄</m:t>
                          </m:r>
                        </m:oMath>
                      </a14:m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(i.e. the else is empty)</a:t>
                      </a:r>
                    </a:p>
                  </p:txBody>
                </p:sp>
              </mc:Choice>
              <mc:Fallback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626EDC97-31FE-0191-B9E9-DEDB819D22F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71352" y="1178404"/>
                      <a:ext cx="10973708" cy="408464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1278" b="-403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2770109-9817-8305-E6A9-C292A4910934}"/>
                    </a:ext>
                  </a:extLst>
                </p:cNvPr>
                <p:cNvSpPr txBox="1"/>
                <p:nvPr/>
              </p:nvSpPr>
              <p:spPr>
                <a:xfrm>
                  <a:off x="3992998" y="182488"/>
                  <a:ext cx="7794891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4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Conditional Branches </a:t>
                  </a:r>
                  <a:r>
                    <a:rPr kumimoji="0" lang="en-GB" sz="4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(if-else)</a:t>
                  </a:r>
                  <a:endParaRPr kumimoji="0" lang="en-GB" sz="4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43" name="Rectangle 1142">
                <a:extLst>
                  <a:ext uri="{FF2B5EF4-FFF2-40B4-BE49-F238E27FC236}">
                    <a16:creationId xmlns:a16="http://schemas.microsoft.com/office/drawing/2014/main" id="{61DC2247-8D11-55CC-69E2-DCA1629ECEA4}"/>
                  </a:ext>
                </a:extLst>
              </p:cNvPr>
              <p:cNvSpPr/>
              <p:nvPr/>
            </p:nvSpPr>
            <p:spPr>
              <a:xfrm>
                <a:off x="-42585" y="13018"/>
                <a:ext cx="15963900" cy="5534738"/>
              </a:xfrm>
              <a:prstGeom prst="rect">
                <a:avLst/>
              </a:prstGeom>
              <a:noFill/>
              <a:ln w="28575">
                <a:solidFill>
                  <a:srgbClr val="0F77C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41258F14-AAF4-FC94-8D78-0D154C34EE96}"/>
              </a:ext>
            </a:extLst>
          </p:cNvPr>
          <p:cNvGrpSpPr/>
          <p:nvPr/>
        </p:nvGrpSpPr>
        <p:grpSpPr>
          <a:xfrm>
            <a:off x="0" y="-1960"/>
            <a:ext cx="12498421" cy="7001890"/>
            <a:chOff x="26009600" y="11049854"/>
            <a:chExt cx="12498421" cy="700189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56479684-6823-0D78-D8AD-8C66C134EEEE}"/>
                    </a:ext>
                  </a:extLst>
                </p:cNvPr>
                <p:cNvSpPr txBox="1"/>
                <p:nvPr/>
              </p:nvSpPr>
              <p:spPr>
                <a:xfrm>
                  <a:off x="26009600" y="11049854"/>
                  <a:ext cx="12498421" cy="25545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x-IV_mathan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𝑀𝑜𝑑</m:t>
                      </m:r>
                      <m:r>
                        <a:rPr kumimoji="0" lang="x-IV_mathan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:</m:t>
                      </m:r>
                      <m:r>
                        <a:rPr kumimoji="0" lang="x-IV_mathan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ℂ</m:t>
                      </m:r>
                      <m:r>
                        <a:rPr kumimoji="0" lang="x-IV_mathan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m:rPr>
                          <m:sty m:val="p"/>
                        </m:rPr>
                        <a:rPr kumimoji="0" lang="x-IV_mathan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℘</m:t>
                      </m:r>
                      <m:r>
                        <a:rPr kumimoji="0" lang="x-IV_mathan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𝐼𝐷</m:t>
                      </m:r>
                    </m:oMath>
                  </a14:m>
                  <a:r>
                    <a:rPr kumimoji="0" lang="x-IV_mathan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+mn-ea"/>
                      <a:cs typeface="+mn-cs"/>
                    </a:rPr>
                    <a:t> 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	(set of variables/object-attributes that are </a:t>
                  </a:r>
                  <a:r>
                    <a:rPr kumimoji="0" lang="en-GB" sz="3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modified</a:t>
                  </a: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 by a piece of code)</a:t>
                  </a:r>
                </a:p>
                <a:p>
                  <a:pPr marL="800100" marR="0" lvl="1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ℂ</m:t>
                      </m:r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ℂ</m:t>
                          </m:r>
                        </m:e>
                        <m:sub>
                          <m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ℂ</m:t>
                          </m:r>
                        </m:e>
                        <m:sub>
                          <m:r>
                            <a:rPr kumimoji="0" lang="en-GB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6969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 : sequences of </a:t>
                  </a:r>
                  <a:r>
                    <a:rPr kumimoji="0" lang="en-GB" sz="3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instructions</a:t>
                  </a: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.</a:t>
                  </a:r>
                </a:p>
                <a:p>
                  <a:pPr marL="800100" marR="0" lvl="1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𝐼𝐷</m:t>
                      </m:r>
                    </m:oMath>
                  </a14:m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 : the set of variables/</a:t>
                  </a:r>
                  <a:r>
                    <a:rPr kumimoji="0" lang="en-GB" sz="3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identifiers</a:t>
                  </a:r>
                  <a:endPara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56479684-6823-0D78-D8AD-8C66C134EE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09600" y="11049854"/>
                  <a:ext cx="12498421" cy="2554545"/>
                </a:xfrm>
                <a:prstGeom prst="rect">
                  <a:avLst/>
                </a:prstGeom>
                <a:blipFill>
                  <a:blip r:embed="rId17"/>
                  <a:stretch>
                    <a:fillRect r="-1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55" name="Picture 1154">
              <a:extLst>
                <a:ext uri="{FF2B5EF4-FFF2-40B4-BE49-F238E27FC236}">
                  <a16:creationId xmlns:a16="http://schemas.microsoft.com/office/drawing/2014/main" id="{23BDE893-913A-DEBA-9ADA-E4AE809F0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rightnessContrast contrast="-3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6475821" y="13084681"/>
              <a:ext cx="10259835" cy="496706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8" name="TextBox 1157">
                  <a:extLst>
                    <a:ext uri="{FF2B5EF4-FFF2-40B4-BE49-F238E27FC236}">
                      <a16:creationId xmlns:a16="http://schemas.microsoft.com/office/drawing/2014/main" id="{DE3233EE-80E4-D098-8E6F-D2B492E1AF1B}"/>
                    </a:ext>
                  </a:extLst>
                </p:cNvPr>
                <p:cNvSpPr txBox="1"/>
                <p:nvPr/>
              </p:nvSpPr>
              <p:spPr>
                <a:xfrm>
                  <a:off x="34021485" y="13682622"/>
                  <a:ext cx="3468914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GB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</m:oMath>
                  </a14:m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 : </a:t>
                  </a:r>
                  <a:r>
                    <a:rPr kumimoji="0" lang="en-GB" sz="3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side-effect-free</a:t>
                  </a: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 expression</a:t>
                  </a:r>
                  <a:endPara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1158" name="TextBox 1157">
                  <a:extLst>
                    <a:ext uri="{FF2B5EF4-FFF2-40B4-BE49-F238E27FC236}">
                      <a16:creationId xmlns:a16="http://schemas.microsoft.com/office/drawing/2014/main" id="{DE3233EE-80E4-D098-8E6F-D2B492E1AF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21485" y="13682622"/>
                  <a:ext cx="3468914" cy="1077218"/>
                </a:xfrm>
                <a:prstGeom prst="rect">
                  <a:avLst/>
                </a:prstGeom>
                <a:blipFill>
                  <a:blip r:embed="rId20"/>
                  <a:stretch>
                    <a:fillRect l="-4394" t="-6818" r="-879" b="-1818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60" name="TextBox 1159">
                <a:extLst>
                  <a:ext uri="{FF2B5EF4-FFF2-40B4-BE49-F238E27FC236}">
                    <a16:creationId xmlns:a16="http://schemas.microsoft.com/office/drawing/2014/main" id="{2D83EB75-FBAC-BAD4-43F3-704CD20013F1}"/>
                  </a:ext>
                </a:extLst>
              </p:cNvPr>
              <p:cNvSpPr txBox="1"/>
              <p:nvPr/>
            </p:nvSpPr>
            <p:spPr>
              <a:xfrm>
                <a:off x="12964642" y="273844"/>
                <a:ext cx="10699532" cy="6783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Given some 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srgbClr val="008C3A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code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and some </a:t>
                </a:r>
                <a14:m>
                  <m:oMath xmlns:m="http://schemas.openxmlformats.org/officeDocument/2006/math">
                    <m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𝑄</m:t>
                    </m:r>
                  </m:oMath>
                </a14:m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, there is a </a:t>
                </a:r>
                <a:r>
                  <a:rPr kumimoji="0" lang="en-GB" sz="3600" b="1" i="0" u="none" strike="noStrike" kern="1200" cap="none" spc="0" normalizeH="0" baseline="0" noProof="0">
                    <a:ln>
                      <a:noFill/>
                    </a:ln>
                    <a:solidFill>
                      <a:srgbClr val="004F8B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weakest </a:t>
                </a:r>
                <a14:m>
                  <m:oMath xmlns:m="http://schemas.openxmlformats.org/officeDocument/2006/math">
                    <m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</m:oMath>
                </a14:m>
                <a:endPara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Given some 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srgbClr val="008C3A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code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and some </a:t>
                </a:r>
                <a14:m>
                  <m:oMath xmlns:m="http://schemas.openxmlformats.org/officeDocument/2006/math">
                    <m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</m:oMath>
                </a14:m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, there is a </a:t>
                </a:r>
                <a:r>
                  <a:rPr kumimoji="0" lang="en-GB" sz="3600" b="1" i="0" u="none" strike="noStrike" kern="1200" cap="none" spc="0" normalizeH="0" baseline="0" noProof="0">
                    <a:ln>
                      <a:noFill/>
                    </a:ln>
                    <a:solidFill>
                      <a:srgbClr val="004F8B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strongest </a:t>
                </a:r>
                <a14:m>
                  <m:oMath xmlns:m="http://schemas.openxmlformats.org/officeDocument/2006/math">
                    <m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𝑄</m:t>
                    </m:r>
                  </m:oMath>
                </a14:m>
                <a:endPara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  <a:p>
                <a:pPr marL="363538" marR="0" lvl="0" indent="-363538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600" b="0" i="0" u="sng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Notational Conventions</a:t>
                </a:r>
              </a:p>
              <a:p>
                <a:pPr marL="536575" marR="0" lvl="0" indent="-536575" algn="l" defTabSz="45720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monospace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for program vars.</a:t>
                </a:r>
              </a:p>
              <a:p>
                <a:pPr marL="536575" marR="0" lvl="0" indent="-536575" algn="l" defTabSz="45720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36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italic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for value vars.</a:t>
                </a:r>
              </a:p>
              <a:p>
                <a:pPr marL="536575" marR="0" lvl="0" indent="-536575" algn="l" defTabSz="45720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Functions</a:t>
                </a:r>
              </a:p>
              <a:p>
                <a:pPr marL="536575" marR="0" lvl="1" indent="-536575" algn="l" defTabSz="45720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pre-/post-/mid-conditions:</a:t>
                </a:r>
              </a:p>
              <a:p>
                <a:pPr marL="536575" marR="0" lvl="0" indent="-536575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		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GB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GB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GB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𝑝𝑟𝑒</m:t>
                        </m:r>
                      </m:sub>
                    </m:sSub>
                  </m:oMath>
                </a14:m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to refer to 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srgbClr val="B01DE7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initial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value of 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srgbClr val="B01DE7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input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vars.</a:t>
                </a:r>
              </a:p>
              <a:p>
                <a:pPr marL="536575" marR="0" lvl="0" indent="-536575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srgbClr val="B2B2B2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		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	(on entry to function)</a:t>
                </a:r>
              </a:p>
              <a:p>
                <a:pPr marL="536575" marR="0" lvl="0" indent="-536575" algn="l" defTabSz="45720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post-conditions:</a:t>
                </a:r>
              </a:p>
              <a:p>
                <a:pPr marL="536575" marR="0" lvl="0" indent="-536575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		use </a:t>
                </a:r>
                <a:r>
                  <a:rPr kumimoji="0" lang="en-GB" sz="3600" b="1" i="0" u="sng" strike="noStrike" kern="1200" cap="none" spc="0" normalizeH="0" baseline="0" noProof="0">
                    <a:ln>
                      <a:noFill/>
                    </a:ln>
                    <a:solidFill>
                      <a:srgbClr val="B01DE7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r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srgbClr val="B2B2B2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(bold)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to refer to 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srgbClr val="B01DE7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return value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of function</a:t>
                </a:r>
              </a:p>
              <a:p>
                <a:pPr marL="536575" marR="0" lvl="0" indent="-536575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srgbClr val="B2B2B2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		</a:t>
                </a: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	(if there is one)</a:t>
                </a:r>
              </a:p>
            </p:txBody>
          </p:sp>
        </mc:Choice>
        <mc:Fallback>
          <p:sp>
            <p:nvSpPr>
              <p:cNvPr id="1160" name="TextBox 1159">
                <a:extLst>
                  <a:ext uri="{FF2B5EF4-FFF2-40B4-BE49-F238E27FC236}">
                    <a16:creationId xmlns:a16="http://schemas.microsoft.com/office/drawing/2014/main" id="{2D83EB75-FBAC-BAD4-43F3-704CD2001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4642" y="273844"/>
                <a:ext cx="10699532" cy="6783075"/>
              </a:xfrm>
              <a:prstGeom prst="rect">
                <a:avLst/>
              </a:prstGeom>
              <a:blipFill>
                <a:blip r:embed="rId21"/>
                <a:stretch>
                  <a:fillRect l="-1766" t="-1438" b="-2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4" name="Freeform: Shape 1193">
            <a:extLst>
              <a:ext uri="{FF2B5EF4-FFF2-40B4-BE49-F238E27FC236}">
                <a16:creationId xmlns:a16="http://schemas.microsoft.com/office/drawing/2014/main" id="{B4C5F71F-89E7-E5D0-4B00-C7D06B2A5F03}"/>
              </a:ext>
            </a:extLst>
          </p:cNvPr>
          <p:cNvSpPr/>
          <p:nvPr/>
        </p:nvSpPr>
        <p:spPr>
          <a:xfrm rot="10800000">
            <a:off x="16597462" y="430997"/>
            <a:ext cx="7066712" cy="7178770"/>
          </a:xfrm>
          <a:custGeom>
            <a:avLst/>
            <a:gdLst>
              <a:gd name="connsiteX0" fmla="*/ 0 w 13601700"/>
              <a:gd name="connsiteY0" fmla="*/ 647700 h 647700"/>
              <a:gd name="connsiteX1" fmla="*/ 0 w 13601700"/>
              <a:gd name="connsiteY1" fmla="*/ 0 h 647700"/>
              <a:gd name="connsiteX2" fmla="*/ 13601700 w 13601700"/>
              <a:gd name="connsiteY2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01700" h="647700">
                <a:moveTo>
                  <a:pt x="0" y="647700"/>
                </a:moveTo>
                <a:lnTo>
                  <a:pt x="0" y="0"/>
                </a:lnTo>
                <a:lnTo>
                  <a:pt x="13601700" y="0"/>
                </a:lnTo>
              </a:path>
            </a:pathLst>
          </a:custGeom>
          <a:noFill/>
          <a:ln>
            <a:solidFill>
              <a:srgbClr val="B2B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09" name="TextBox 2108">
            <a:extLst>
              <a:ext uri="{FF2B5EF4-FFF2-40B4-BE49-F238E27FC236}">
                <a16:creationId xmlns:a16="http://schemas.microsoft.com/office/drawing/2014/main" id="{E0C0924D-BBC6-E884-E43B-C9BED4D1CD53}"/>
              </a:ext>
            </a:extLst>
          </p:cNvPr>
          <p:cNvSpPr txBox="1"/>
          <p:nvPr/>
        </p:nvSpPr>
        <p:spPr>
          <a:xfrm>
            <a:off x="24153076" y="1373475"/>
            <a:ext cx="1531103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PROOF STRUCTURE</a:t>
            </a:r>
            <a:endParaRPr kumimoji="0" lang="en-GB" sz="3600" b="0" i="0" u="none" strike="noStrike" kern="1200" cap="none" spc="0" normalizeH="0" baseline="0" noProof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971550" marR="0" lvl="1" indent="-51435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3600" b="0" i="1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Given: …</a:t>
            </a:r>
          </a:p>
          <a:p>
            <a:pPr marL="971550" marR="0" lvl="1" indent="-51435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3600" b="0" i="1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To show: …</a:t>
            </a:r>
          </a:p>
          <a:p>
            <a:pPr marL="971550" marR="0" lvl="1" indent="-51435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36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Explicit steps. Justify each step (properties, assumptions, lemmas)</a:t>
            </a:r>
          </a:p>
          <a:p>
            <a:pPr marL="971550" marR="0" lvl="1" indent="-51435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36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Name intermediate results (</a:t>
            </a:r>
            <a:r>
              <a:rPr kumimoji="0" lang="en-GB" sz="3600" b="0" i="1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(1)</a:t>
            </a:r>
            <a:r>
              <a:rPr kumimoji="0" lang="en-GB" sz="36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GB" sz="3600" b="0" i="1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(ass1)</a:t>
            </a:r>
            <a:r>
              <a:rPr kumimoji="0" lang="en-GB" sz="36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etc)</a:t>
            </a:r>
          </a:p>
          <a:p>
            <a:pPr marL="971550" marR="0" lvl="1" indent="-51435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36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[for </a:t>
            </a:r>
            <a:r>
              <a:rPr kumimoji="0" lang="en-GB" sz="3600" b="0" i="0" u="sng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induction</a:t>
            </a:r>
            <a:r>
              <a:rPr kumimoji="0" lang="en-GB" sz="36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] say which var. you apply the induction principle on</a:t>
            </a:r>
          </a:p>
          <a:p>
            <a:pPr marL="971550" marR="0" lvl="1" indent="-51435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36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"Vary granularity of proof steps according to confidence and circumstances“</a:t>
            </a:r>
          </a:p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Stuck during induction?:</a:t>
            </a:r>
          </a:p>
          <a:p>
            <a:pPr marL="971550" marR="0" lvl="1" indent="-51435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36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Invent (and prove) the auxiliary lemma you need</a:t>
            </a:r>
          </a:p>
          <a:p>
            <a:pPr marL="971550" marR="0" lvl="1" indent="-51435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36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'Strengthen the lemma': prove a stronger property (which implies the thing you want) </a:t>
            </a:r>
            <a:r>
              <a:rPr kumimoji="0" lang="en-GB" sz="3600" b="0" i="0" u="none" strike="noStrike" kern="1200" cap="none" spc="0" normalizeH="0" baseline="0" noProof="0">
                <a:ln>
                  <a:noFill/>
                </a:ln>
                <a:solidFill>
                  <a:srgbClr val="0F77C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(get rid of 0, [], etc in the assertion &amp; replace w/ vars)</a:t>
            </a:r>
          </a:p>
          <a:p>
            <a:pPr marL="971550" marR="0" lvl="1" indent="-51435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36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(move your quantifiers around?...)</a:t>
            </a:r>
          </a:p>
        </p:txBody>
      </p:sp>
      <p:sp>
        <p:nvSpPr>
          <p:cNvPr id="2110" name="TextBox 2109">
            <a:extLst>
              <a:ext uri="{FF2B5EF4-FFF2-40B4-BE49-F238E27FC236}">
                <a16:creationId xmlns:a16="http://schemas.microsoft.com/office/drawing/2014/main" id="{41C6E61F-3572-9EA3-DD36-48BECF352D6E}"/>
              </a:ext>
            </a:extLst>
          </p:cNvPr>
          <p:cNvSpPr txBox="1"/>
          <p:nvPr/>
        </p:nvSpPr>
        <p:spPr>
          <a:xfrm>
            <a:off x="24153076" y="304153"/>
            <a:ext cx="26468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Induction</a:t>
            </a:r>
          </a:p>
        </p:txBody>
      </p:sp>
      <p:sp>
        <p:nvSpPr>
          <p:cNvPr id="2113" name="TextBox 2112">
            <a:extLst>
              <a:ext uri="{FF2B5EF4-FFF2-40B4-BE49-F238E27FC236}">
                <a16:creationId xmlns:a16="http://schemas.microsoft.com/office/drawing/2014/main" id="{79E2BEBD-F84C-2E56-F2AB-7417286F8DCD}"/>
              </a:ext>
            </a:extLst>
          </p:cNvPr>
          <p:cNvSpPr txBox="1"/>
          <p:nvPr/>
        </p:nvSpPr>
        <p:spPr>
          <a:xfrm>
            <a:off x="30617897" y="208995"/>
            <a:ext cx="727955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srgbClr val="FA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List Lemmas:</a:t>
            </a:r>
          </a:p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(A)	us++[]=us</a:t>
            </a:r>
          </a:p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(B)	[]++us=us</a:t>
            </a:r>
          </a:p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(C)	(</a:t>
            </a:r>
            <a:r>
              <a:rPr kumimoji="0" lang="en-GB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u:us</a:t>
            </a: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)++vs=u:(us++vs)</a:t>
            </a:r>
          </a:p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(D)	(us++vs)++</a:t>
            </a:r>
            <a:r>
              <a:rPr kumimoji="0" lang="en-GB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ws</a:t>
            </a: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=us++(vs++</a:t>
            </a:r>
            <a:r>
              <a:rPr kumimoji="0" lang="en-GB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ws</a:t>
            </a: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</p:txBody>
      </p:sp>
      <p:grpSp>
        <p:nvGrpSpPr>
          <p:cNvPr id="2144" name="Group 2143">
            <a:extLst>
              <a:ext uri="{FF2B5EF4-FFF2-40B4-BE49-F238E27FC236}">
                <a16:creationId xmlns:a16="http://schemas.microsoft.com/office/drawing/2014/main" id="{1F484137-E5D3-870A-0764-2021073B1936}"/>
              </a:ext>
            </a:extLst>
          </p:cNvPr>
          <p:cNvGrpSpPr/>
          <p:nvPr/>
        </p:nvGrpSpPr>
        <p:grpSpPr>
          <a:xfrm>
            <a:off x="16801899" y="9179105"/>
            <a:ext cx="14536774" cy="2733119"/>
            <a:chOff x="26204827" y="13047667"/>
            <a:chExt cx="14536774" cy="2733119"/>
          </a:xfrm>
        </p:grpSpPr>
        <p:grpSp>
          <p:nvGrpSpPr>
            <p:cNvPr id="2137" name="Group 2136">
              <a:extLst>
                <a:ext uri="{FF2B5EF4-FFF2-40B4-BE49-F238E27FC236}">
                  <a16:creationId xmlns:a16="http://schemas.microsoft.com/office/drawing/2014/main" id="{4EF1F306-8B54-7524-7583-363BBAD3EA40}"/>
                </a:ext>
              </a:extLst>
            </p:cNvPr>
            <p:cNvGrpSpPr/>
            <p:nvPr/>
          </p:nvGrpSpPr>
          <p:grpSpPr>
            <a:xfrm>
              <a:off x="28800119" y="13047667"/>
              <a:ext cx="1381104" cy="2733119"/>
              <a:chOff x="29009507" y="13047667"/>
              <a:chExt cx="1381104" cy="273311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19" name="TextBox 2118">
                    <a:extLst>
                      <a:ext uri="{FF2B5EF4-FFF2-40B4-BE49-F238E27FC236}">
                        <a16:creationId xmlns:a16="http://schemas.microsoft.com/office/drawing/2014/main" id="{18A36AA7-B946-30A6-E0EE-26F560B87071}"/>
                      </a:ext>
                    </a:extLst>
                  </p:cNvPr>
                  <p:cNvSpPr txBox="1"/>
                  <p:nvPr/>
                </p:nvSpPr>
                <p:spPr>
                  <a:xfrm>
                    <a:off x="29028571" y="13047667"/>
                    <a:ext cx="1362040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⊆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ℕ</m:t>
                          </m:r>
                        </m:oMath>
                      </m:oMathPara>
                    </a14:m>
                    <a:endPara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2119" name="TextBox 2118">
                    <a:extLst>
                      <a:ext uri="{FF2B5EF4-FFF2-40B4-BE49-F238E27FC236}">
                        <a16:creationId xmlns:a16="http://schemas.microsoft.com/office/drawing/2014/main" id="{18A36AA7-B946-30A6-E0EE-26F560B870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8571" y="13047667"/>
                    <a:ext cx="1362040" cy="584775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20" name="TextBox 2119">
                    <a:extLst>
                      <a:ext uri="{FF2B5EF4-FFF2-40B4-BE49-F238E27FC236}">
                        <a16:creationId xmlns:a16="http://schemas.microsoft.com/office/drawing/2014/main" id="{E5ECAECA-04B5-ADF6-DBA9-D40EAAF00B50}"/>
                      </a:ext>
                    </a:extLst>
                  </p:cNvPr>
                  <p:cNvSpPr txBox="1"/>
                  <p:nvPr/>
                </p:nvSpPr>
                <p:spPr>
                  <a:xfrm>
                    <a:off x="29009507" y="13953958"/>
                    <a:ext cx="1320361" cy="88024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8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>
                          <m:r>
                            <a:rPr kumimoji="0" lang="x-IV_matha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kumimoji="0" lang="x-IV_matha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⊆</m:t>
                          </m:r>
                          <m:r>
                            <a:rPr kumimoji="0" lang="x-IV_matha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ℤ</m:t>
                          </m:r>
                        </m:oMath>
                        <m:oMath>
                          <m:r>
                            <a:rPr kumimoji="0" lang="x-IV_matha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  <m:r>
                            <a:rPr kumimoji="0" lang="x-IV_matha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:</m:t>
                          </m:r>
                          <m:r>
                            <a:rPr kumimoji="0" lang="x-IV_matha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ℤ</m:t>
                          </m:r>
                        </m:oMath>
                      </m:oMathPara>
                    </a14:m>
                    <a:endParaRPr kumimoji="0" lang="x-IV_mathan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2120" name="TextBox 2119">
                    <a:extLst>
                      <a:ext uri="{FF2B5EF4-FFF2-40B4-BE49-F238E27FC236}">
                        <a16:creationId xmlns:a16="http://schemas.microsoft.com/office/drawing/2014/main" id="{E5ECAECA-04B5-ADF6-DBA9-D40EAAF00B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09507" y="13953958"/>
                    <a:ext cx="1320361" cy="880241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21" name="TextBox 2120">
                    <a:extLst>
                      <a:ext uri="{FF2B5EF4-FFF2-40B4-BE49-F238E27FC236}">
                        <a16:creationId xmlns:a16="http://schemas.microsoft.com/office/drawing/2014/main" id="{949ADA55-E675-A6AB-E0C6-29DB973AC31B}"/>
                      </a:ext>
                    </a:extLst>
                  </p:cNvPr>
                  <p:cNvSpPr txBox="1"/>
                  <p:nvPr/>
                </p:nvSpPr>
                <p:spPr>
                  <a:xfrm>
                    <a:off x="29009507" y="15196011"/>
                    <a:ext cx="1362040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>
                          <m:r>
                            <a:rPr kumimoji="0" lang="x-IV_matha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kumimoji="0" lang="x-IV_matha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⊆</m:t>
                          </m:r>
                          <m:r>
                            <a:rPr kumimoji="0" lang="x-IV_matha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ℕ</m:t>
                          </m:r>
                        </m:oMath>
                      </m:oMathPara>
                    </a14:m>
                    <a:endPara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2121" name="TextBox 2120">
                    <a:extLst>
                      <a:ext uri="{FF2B5EF4-FFF2-40B4-BE49-F238E27FC236}">
                        <a16:creationId xmlns:a16="http://schemas.microsoft.com/office/drawing/2014/main" id="{949ADA55-E675-A6AB-E0C6-29DB973AC3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09507" y="15196011"/>
                    <a:ext cx="1362040" cy="584775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38" name="Group 2137">
              <a:extLst>
                <a:ext uri="{FF2B5EF4-FFF2-40B4-BE49-F238E27FC236}">
                  <a16:creationId xmlns:a16="http://schemas.microsoft.com/office/drawing/2014/main" id="{A6BC987F-B890-FB23-9B16-181C2AFD4784}"/>
                </a:ext>
              </a:extLst>
            </p:cNvPr>
            <p:cNvGrpSpPr/>
            <p:nvPr/>
          </p:nvGrpSpPr>
          <p:grpSpPr>
            <a:xfrm>
              <a:off x="30383843" y="13047668"/>
              <a:ext cx="10357758" cy="2733118"/>
              <a:chOff x="31051499" y="13047668"/>
              <a:chExt cx="10357758" cy="273311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14" name="TextBox 2113">
                    <a:extLst>
                      <a:ext uri="{FF2B5EF4-FFF2-40B4-BE49-F238E27FC236}">
                        <a16:creationId xmlns:a16="http://schemas.microsoft.com/office/drawing/2014/main" id="{D189F252-B5BA-402E-B9AF-2540100ED973}"/>
                      </a:ext>
                    </a:extLst>
                  </p:cNvPr>
                  <p:cNvSpPr txBox="1"/>
                  <p:nvPr/>
                </p:nvSpPr>
                <p:spPr>
                  <a:xfrm>
                    <a:off x="31051499" y="13047668"/>
                    <a:ext cx="10357758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d>
                          <m:dPr>
                            <m:ctrlP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</m:e>
                        </m:d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∧∀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: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ℕ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.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</m:e>
                            </m:d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→</m:t>
                            </m:r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  <m: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+1</m:t>
                                </m:r>
                              </m:e>
                            </m:d>
                          </m:e>
                        </m:d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→∀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: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ℕ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.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oMath>
                    </a14:m>
                    <a:r>
                      <a:rPr kumimoji="0" lang="x-IV_mathan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</a:p>
                </p:txBody>
              </p:sp>
            </mc:Choice>
            <mc:Fallback>
              <p:sp>
                <p:nvSpPr>
                  <p:cNvPr id="2114" name="TextBox 2113">
                    <a:extLst>
                      <a:ext uri="{FF2B5EF4-FFF2-40B4-BE49-F238E27FC236}">
                        <a16:creationId xmlns:a16="http://schemas.microsoft.com/office/drawing/2014/main" id="{D189F252-B5BA-402E-B9AF-2540100ED9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051499" y="13047668"/>
                    <a:ext cx="10357758" cy="584775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15" name="TextBox 2114">
                    <a:extLst>
                      <a:ext uri="{FF2B5EF4-FFF2-40B4-BE49-F238E27FC236}">
                        <a16:creationId xmlns:a16="http://schemas.microsoft.com/office/drawing/2014/main" id="{4D3E3D51-CE4E-A8D8-74AA-FDEDE47E7589}"/>
                      </a:ext>
                    </a:extLst>
                  </p:cNvPr>
                  <p:cNvSpPr txBox="1"/>
                  <p:nvPr/>
                </p:nvSpPr>
                <p:spPr>
                  <a:xfrm>
                    <a:off x="31051499" y="13953958"/>
                    <a:ext cx="10357758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d>
                          <m:dPr>
                            <m:ctrlPr>
                              <a:rPr kumimoji="0" lang="x-IV_mathan" sz="32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x-IV_mathan" sz="32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</m:t>
                            </m:r>
                          </m:e>
                        </m:d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∧∀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  <m:r>
                          <a:rPr kumimoji="0" lang="x-IV_matha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≥</m:t>
                        </m:r>
                        <m:r>
                          <a:rPr kumimoji="0" lang="x-IV_matha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.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</m:e>
                            </m:d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→</m:t>
                            </m:r>
                            <m:r>
                              <a:rPr kumimoji="0" lang="x-IV_mathan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  <m:r>
                                  <a:rPr kumimoji="0" lang="x-IV_mathan" sz="3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+1</m:t>
                                </m:r>
                              </m:e>
                            </m:d>
                          </m:e>
                        </m:d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→∀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kumimoji="0" lang="x-IV_matha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≥</m:t>
                        </m:r>
                        <m:r>
                          <a:rPr kumimoji="0" lang="x-IV_matha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.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kumimoji="0" lang="x-IV_mathan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oMath>
                    </a14:m>
                    <a:r>
                      <a:rPr kumimoji="0" lang="x-IV_mathan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</a:p>
                </p:txBody>
              </p:sp>
            </mc:Choice>
            <mc:Fallback>
              <p:sp>
                <p:nvSpPr>
                  <p:cNvPr id="2115" name="TextBox 2114">
                    <a:extLst>
                      <a:ext uri="{FF2B5EF4-FFF2-40B4-BE49-F238E27FC236}">
                        <a16:creationId xmlns:a16="http://schemas.microsoft.com/office/drawing/2014/main" id="{4D3E3D51-CE4E-A8D8-74AA-FDEDE47E75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051499" y="13953958"/>
                    <a:ext cx="10357758" cy="584775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135" name="Group 2134">
                <a:extLst>
                  <a:ext uri="{FF2B5EF4-FFF2-40B4-BE49-F238E27FC236}">
                    <a16:creationId xmlns:a16="http://schemas.microsoft.com/office/drawing/2014/main" id="{C9034533-76CE-D3C1-BA3D-BA20D9A288B9}"/>
                  </a:ext>
                </a:extLst>
              </p:cNvPr>
              <p:cNvGrpSpPr/>
              <p:nvPr/>
            </p:nvGrpSpPr>
            <p:grpSpPr>
              <a:xfrm>
                <a:off x="31051499" y="14674955"/>
                <a:ext cx="10357758" cy="1105831"/>
                <a:chOff x="31051499" y="14674955"/>
                <a:chExt cx="10357758" cy="1105831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16" name="TextBox 2115">
                      <a:extLst>
                        <a:ext uri="{FF2B5EF4-FFF2-40B4-BE49-F238E27FC236}">
                          <a16:creationId xmlns:a16="http://schemas.microsoft.com/office/drawing/2014/main" id="{1CB63452-6E8C-6613-51D7-8DCD8C1AC4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51499" y="15196011"/>
                      <a:ext cx="10357758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d>
                            <m:dPr>
                              <m:ctrlP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e>
                          </m:d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∧∀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: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ℕ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x-IV_mathan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x-IV_mathan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∀</m:t>
                              </m:r>
                              <m:r>
                                <a:rPr kumimoji="0" lang="x-IV_mathan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  <m:r>
                                <a:rPr kumimoji="0" lang="x-IV_mathan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0..</m:t>
                                  </m:r>
                                  <m: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kumimoji="0" lang="x-IV_mathan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x-IV_mathan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→</m:t>
                              </m:r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  <m: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+1</m:t>
                                  </m:r>
                                </m:e>
                              </m:d>
                            </m:e>
                          </m:d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→∀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: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ℕ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oMath>
                      </a14:m>
                      <a:r>
                        <a:rPr kumimoji="0" lang="x-IV_mathan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2116" name="TextBox 2115">
                      <a:extLst>
                        <a:ext uri="{FF2B5EF4-FFF2-40B4-BE49-F238E27FC236}">
                          <a16:creationId xmlns:a16="http://schemas.microsoft.com/office/drawing/2014/main" id="{1CB63452-6E8C-6613-51D7-8DCD8C1AC40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051499" y="15196011"/>
                      <a:ext cx="10357758" cy="584775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124" name="Group 2123">
                  <a:extLst>
                    <a:ext uri="{FF2B5EF4-FFF2-40B4-BE49-F238E27FC236}">
                      <a16:creationId xmlns:a16="http://schemas.microsoft.com/office/drawing/2014/main" id="{E6824662-7BC7-6763-3340-BBD975D8F58F}"/>
                    </a:ext>
                  </a:extLst>
                </p:cNvPr>
                <p:cNvGrpSpPr/>
                <p:nvPr/>
              </p:nvGrpSpPr>
              <p:grpSpPr>
                <a:xfrm>
                  <a:off x="31051499" y="14674955"/>
                  <a:ext cx="8756062" cy="607810"/>
                  <a:chOff x="31584632" y="14891098"/>
                  <a:chExt cx="8756062" cy="607810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122" name="TextBox 2121">
                        <a:extLst>
                          <a:ext uri="{FF2B5EF4-FFF2-40B4-BE49-F238E27FC236}">
                            <a16:creationId xmlns:a16="http://schemas.microsoft.com/office/drawing/2014/main" id="{950F75BA-EE97-F4B8-987D-389F3FF8CD5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2790101" y="14891098"/>
                        <a:ext cx="7550593" cy="58477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has similar version to "technique" for 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</m:t>
                            </m:r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∈</m:t>
                            </m:r>
                            <m:r>
                              <a:rPr kumimoji="0" lang="en-GB" sz="3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ℤ</m:t>
                            </m:r>
                          </m:oMath>
                        </a14:m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122" name="TextBox 2121">
                        <a:extLst>
                          <a:ext uri="{FF2B5EF4-FFF2-40B4-BE49-F238E27FC236}">
                            <a16:creationId xmlns:a16="http://schemas.microsoft.com/office/drawing/2014/main" id="{950F75BA-EE97-F4B8-987D-389F3FF8CD5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2790101" y="14891098"/>
                        <a:ext cx="7550593" cy="584775"/>
                      </a:xfrm>
                      <a:prstGeom prst="rect">
                        <a:avLst/>
                      </a:prstGeom>
                      <a:blipFill>
                        <a:blip r:embed="rId28"/>
                        <a:stretch>
                          <a:fillRect l="-2018" t="-12500" b="-34375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123" name="Freeform: Shape 2122">
                    <a:extLst>
                      <a:ext uri="{FF2B5EF4-FFF2-40B4-BE49-F238E27FC236}">
                        <a16:creationId xmlns:a16="http://schemas.microsoft.com/office/drawing/2014/main" id="{40FD1565-C1F6-ABEA-44C3-0438AAD23BC1}"/>
                      </a:ext>
                    </a:extLst>
                  </p:cNvPr>
                  <p:cNvSpPr/>
                  <p:nvPr/>
                </p:nvSpPr>
                <p:spPr>
                  <a:xfrm flipH="1">
                    <a:off x="31584632" y="15092657"/>
                    <a:ext cx="1205469" cy="406251"/>
                  </a:xfrm>
                  <a:custGeom>
                    <a:avLst/>
                    <a:gdLst>
                      <a:gd name="connsiteX0" fmla="*/ 0 w 959536"/>
                      <a:gd name="connsiteY0" fmla="*/ 59730 h 437102"/>
                      <a:gd name="connsiteX1" fmla="*/ 870857 w 959536"/>
                      <a:gd name="connsiteY1" fmla="*/ 30702 h 437102"/>
                      <a:gd name="connsiteX2" fmla="*/ 885371 w 959536"/>
                      <a:gd name="connsiteY2" fmla="*/ 437102 h 4371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959536" h="437102">
                        <a:moveTo>
                          <a:pt x="0" y="59730"/>
                        </a:moveTo>
                        <a:cubicBezTo>
                          <a:pt x="361647" y="13768"/>
                          <a:pt x="723295" y="-32193"/>
                          <a:pt x="870857" y="30702"/>
                        </a:cubicBezTo>
                        <a:cubicBezTo>
                          <a:pt x="1018419" y="93597"/>
                          <a:pt x="951895" y="265349"/>
                          <a:pt x="885371" y="437102"/>
                        </a:cubicBezTo>
                      </a:path>
                    </a:pathLst>
                  </a:custGeom>
                  <a:noFill/>
                  <a:ln w="38100">
                    <a:solidFill>
                      <a:schemeClr val="bg2"/>
                    </a:solidFill>
                    <a:headEnd type="none" w="med" len="med"/>
                    <a:tailEnd type="arrow" w="med" len="med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2136" name="Group 2135">
              <a:extLst>
                <a:ext uri="{FF2B5EF4-FFF2-40B4-BE49-F238E27FC236}">
                  <a16:creationId xmlns:a16="http://schemas.microsoft.com/office/drawing/2014/main" id="{AA624349-741C-9BA5-01FC-4660631875FE}"/>
                </a:ext>
              </a:extLst>
            </p:cNvPr>
            <p:cNvGrpSpPr/>
            <p:nvPr/>
          </p:nvGrpSpPr>
          <p:grpSpPr>
            <a:xfrm>
              <a:off x="26204827" y="13120495"/>
              <a:ext cx="2438442" cy="2600178"/>
              <a:chOff x="23664828" y="13120495"/>
              <a:chExt cx="4381129" cy="2600178"/>
            </a:xfrm>
          </p:grpSpPr>
          <p:sp>
            <p:nvSpPr>
              <p:cNvPr id="2127" name="TextBox 2126">
                <a:extLst>
                  <a:ext uri="{FF2B5EF4-FFF2-40B4-BE49-F238E27FC236}">
                    <a16:creationId xmlns:a16="http://schemas.microsoft.com/office/drawing/2014/main" id="{0588ACE5-9383-0E8E-314C-16D7796D1896}"/>
                  </a:ext>
                </a:extLst>
              </p:cNvPr>
              <p:cNvSpPr txBox="1"/>
              <p:nvPr/>
            </p:nvSpPr>
            <p:spPr>
              <a:xfrm>
                <a:off x="23681885" y="13120495"/>
                <a:ext cx="4364072" cy="80926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x-IV_mathan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Principle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x-IV_mathan" sz="3200" b="0" i="1" u="none" strike="noStrike" kern="1200" cap="none" spc="-15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(of mthm ind.)</a:t>
                </a:r>
              </a:p>
            </p:txBody>
          </p:sp>
          <p:sp>
            <p:nvSpPr>
              <p:cNvPr id="2128" name="TextBox 2127">
                <a:extLst>
                  <a:ext uri="{FF2B5EF4-FFF2-40B4-BE49-F238E27FC236}">
                    <a16:creationId xmlns:a16="http://schemas.microsoft.com/office/drawing/2014/main" id="{DC3A7268-4C44-EBB9-AF6F-69D1E8CD5B17}"/>
                  </a:ext>
                </a:extLst>
              </p:cNvPr>
              <p:cNvSpPr txBox="1"/>
              <p:nvPr/>
            </p:nvSpPr>
            <p:spPr>
              <a:xfrm>
                <a:off x="23664828" y="14088948"/>
                <a:ext cx="4364072" cy="80926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x-IV_mathan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Technique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x-IV_mathan" sz="3200" b="0" i="1" u="none" strike="noStrike" kern="1200" cap="none" spc="-15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(of mthm ind.)</a:t>
                </a:r>
              </a:p>
            </p:txBody>
          </p:sp>
          <p:sp>
            <p:nvSpPr>
              <p:cNvPr id="2129" name="TextBox 2128">
                <a:extLst>
                  <a:ext uri="{FF2B5EF4-FFF2-40B4-BE49-F238E27FC236}">
                    <a16:creationId xmlns:a16="http://schemas.microsoft.com/office/drawing/2014/main" id="{101E6958-4292-634E-386A-248EC0E1B37C}"/>
                  </a:ext>
                </a:extLst>
              </p:cNvPr>
              <p:cNvSpPr txBox="1"/>
              <p:nvPr/>
            </p:nvSpPr>
            <p:spPr>
              <a:xfrm>
                <a:off x="23681885" y="15256122"/>
                <a:ext cx="4364072" cy="46455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x-IV_mathan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Strong </a:t>
                </a:r>
                <a:r>
                  <a:rPr kumimoji="0" lang="x-IV_mathan" sz="3200" b="0" i="1" u="none" strike="noStrike" kern="1200" cap="none" spc="-15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ind.</a:t>
                </a:r>
              </a:p>
            </p:txBody>
          </p:sp>
        </p:grpSp>
        <p:cxnSp>
          <p:nvCxnSpPr>
            <p:cNvPr id="2140" name="Straight Connector 2139">
              <a:extLst>
                <a:ext uri="{FF2B5EF4-FFF2-40B4-BE49-F238E27FC236}">
                  <a16:creationId xmlns:a16="http://schemas.microsoft.com/office/drawing/2014/main" id="{2DF55C5B-15E2-AA33-F7EF-B66C4D5A0916}"/>
                </a:ext>
              </a:extLst>
            </p:cNvPr>
            <p:cNvCxnSpPr>
              <a:cxnSpLocks/>
            </p:cNvCxnSpPr>
            <p:nvPr/>
          </p:nvCxnSpPr>
          <p:spPr>
            <a:xfrm>
              <a:off x="28689007" y="13181017"/>
              <a:ext cx="0" cy="2370921"/>
            </a:xfrm>
            <a:prstGeom prst="line">
              <a:avLst/>
            </a:prstGeom>
            <a:ln>
              <a:solidFill>
                <a:srgbClr val="B2B2B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3" name="Straight Connector 2142">
              <a:extLst>
                <a:ext uri="{FF2B5EF4-FFF2-40B4-BE49-F238E27FC236}">
                  <a16:creationId xmlns:a16="http://schemas.microsoft.com/office/drawing/2014/main" id="{0822E30C-233E-B735-351A-094984E88048}"/>
                </a:ext>
              </a:extLst>
            </p:cNvPr>
            <p:cNvCxnSpPr>
              <a:cxnSpLocks/>
            </p:cNvCxnSpPr>
            <p:nvPr/>
          </p:nvCxnSpPr>
          <p:spPr>
            <a:xfrm>
              <a:off x="30219030" y="13181017"/>
              <a:ext cx="0" cy="2370921"/>
            </a:xfrm>
            <a:prstGeom prst="line">
              <a:avLst/>
            </a:prstGeom>
            <a:ln>
              <a:solidFill>
                <a:srgbClr val="B2B2B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45" name="TextBox 2144">
            <a:extLst>
              <a:ext uri="{FF2B5EF4-FFF2-40B4-BE49-F238E27FC236}">
                <a16:creationId xmlns:a16="http://schemas.microsoft.com/office/drawing/2014/main" id="{7A94FC37-CF7E-A87F-0DAE-52ECA0EE486D}"/>
              </a:ext>
            </a:extLst>
          </p:cNvPr>
          <p:cNvSpPr txBox="1"/>
          <p:nvPr/>
        </p:nvSpPr>
        <p:spPr>
          <a:xfrm>
            <a:off x="16367006" y="8307303"/>
            <a:ext cx="109035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Mathematical induction </a:t>
            </a:r>
            <a:r>
              <a:rPr kumimoji="0" lang="en-GB" sz="4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(all are equivalent)</a:t>
            </a:r>
          </a:p>
        </p:txBody>
      </p:sp>
      <p:sp>
        <p:nvSpPr>
          <p:cNvPr id="2157" name="TextBox 2156">
            <a:extLst>
              <a:ext uri="{FF2B5EF4-FFF2-40B4-BE49-F238E27FC236}">
                <a16:creationId xmlns:a16="http://schemas.microsoft.com/office/drawing/2014/main" id="{78EBFFA1-48D1-BEB0-D81C-2430F814EEDB}"/>
              </a:ext>
            </a:extLst>
          </p:cNvPr>
          <p:cNvSpPr txBox="1"/>
          <p:nvPr/>
        </p:nvSpPr>
        <p:spPr>
          <a:xfrm>
            <a:off x="18139161" y="20479455"/>
            <a:ext cx="64874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B01DE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MUTUAL RECURSION  	 </a:t>
            </a:r>
            <a:r>
              <a:rPr kumimoji="0" lang="en-GB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(where we probably prove some sub-property holds)</a:t>
            </a:r>
            <a:endParaRPr kumimoji="0" lang="en-GB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C6FAE8-4AD0-497D-0640-1AB94AE73217}"/>
              </a:ext>
            </a:extLst>
          </p:cNvPr>
          <p:cNvGrpSpPr/>
          <p:nvPr/>
        </p:nvGrpSpPr>
        <p:grpSpPr>
          <a:xfrm>
            <a:off x="15849371" y="12187096"/>
            <a:ext cx="10379679" cy="15443347"/>
            <a:chOff x="15849371" y="12187096"/>
            <a:chExt cx="10379679" cy="1544334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D42A314-B400-3709-80BE-FD207AD66B5F}"/>
                </a:ext>
              </a:extLst>
            </p:cNvPr>
            <p:cNvGrpSpPr/>
            <p:nvPr/>
          </p:nvGrpSpPr>
          <p:grpSpPr>
            <a:xfrm>
              <a:off x="15849371" y="12187096"/>
              <a:ext cx="10379679" cy="15443347"/>
              <a:chOff x="15849371" y="12187096"/>
              <a:chExt cx="10379679" cy="15443347"/>
            </a:xfrm>
          </p:grpSpPr>
          <p:sp>
            <p:nvSpPr>
              <p:cNvPr id="2146" name="TextBox 2145">
                <a:extLst>
                  <a:ext uri="{FF2B5EF4-FFF2-40B4-BE49-F238E27FC236}">
                    <a16:creationId xmlns:a16="http://schemas.microsoft.com/office/drawing/2014/main" id="{0121D491-BBED-9A6D-1666-AC4EC75B7AB1}"/>
                  </a:ext>
                </a:extLst>
              </p:cNvPr>
              <p:cNvSpPr txBox="1"/>
              <p:nvPr/>
            </p:nvSpPr>
            <p:spPr>
              <a:xfrm>
                <a:off x="16518938" y="12187096"/>
                <a:ext cx="5331139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4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Structural induction</a:t>
                </a:r>
                <a:endParaRPr kumimoji="0" lang="en-GB" sz="4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47" name="TextBox 2146">
                    <a:extLst>
                      <a:ext uri="{FF2B5EF4-FFF2-40B4-BE49-F238E27FC236}">
                        <a16:creationId xmlns:a16="http://schemas.microsoft.com/office/drawing/2014/main" id="{1239F06E-D219-1CFE-8892-5DC15606D186}"/>
                      </a:ext>
                    </a:extLst>
                  </p:cNvPr>
                  <p:cNvSpPr txBox="1"/>
                  <p:nvPr/>
                </p:nvSpPr>
                <p:spPr>
                  <a:xfrm>
                    <a:off x="20004782" y="13291522"/>
                    <a:ext cx="6224268" cy="25545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>
                          <m:r>
                            <a:rPr kumimoji="0" lang="x-IV_matha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d>
                            <m:dPr>
                              <m:ctrlPr>
                                <a:rPr kumimoji="0" lang="x-IV_mathan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x-IV_matha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d>
                        </m:oMath>
                        <m:oMath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</m:t>
                          </m:r>
                        </m:oMath>
                        <m:oMath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∀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𝑣𝑠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: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</m:d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.∀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:</m:t>
                          </m:r>
                          <m:r>
                            <a:rPr kumimoji="0" lang="x-IV_matha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x-IV_mathan" sz="3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𝑣𝑠</m:t>
                                  </m:r>
                                </m:e>
                              </m:d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→</m:t>
                              </m:r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kumimoji="0" lang="x-IV_mathan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x-IV_mathan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𝑣</m:t>
                                  </m:r>
                                  <m:r>
                                    <a:rPr kumimoji="0" lang="x-IV_mathan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:</m:t>
                                  </m:r>
                                  <m:r>
                                    <a:rPr kumimoji="0" lang="x-IV_mathan" sz="32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𝑣𝑠</m:t>
                                  </m:r>
                                </m:e>
                              </m:d>
                            </m:e>
                          </m:d>
                        </m:oMath>
                        <m:oMath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→</m:t>
                          </m:r>
                        </m:oMath>
                        <m:oMath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∀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𝑥𝑠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: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</m:d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𝑥𝑠</m:t>
                          </m:r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oMath>
                      </m:oMathPara>
                    </a14:m>
                    <a:endParaRPr kumimoji="0" lang="x-IV_mathan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2147" name="TextBox 2146">
                    <a:extLst>
                      <a:ext uri="{FF2B5EF4-FFF2-40B4-BE49-F238E27FC236}">
                        <a16:creationId xmlns:a16="http://schemas.microsoft.com/office/drawing/2014/main" id="{1239F06E-D219-1CFE-8892-5DC15606D1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004782" y="13291522"/>
                    <a:ext cx="6224268" cy="2554545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48" name="TextBox 2147">
                <a:extLst>
                  <a:ext uri="{FF2B5EF4-FFF2-40B4-BE49-F238E27FC236}">
                    <a16:creationId xmlns:a16="http://schemas.microsoft.com/office/drawing/2014/main" id="{4DE43694-BCD6-F563-D319-CCE136E368F6}"/>
                  </a:ext>
                </a:extLst>
              </p:cNvPr>
              <p:cNvSpPr txBox="1"/>
              <p:nvPr/>
            </p:nvSpPr>
            <p:spPr>
              <a:xfrm>
                <a:off x="16367006" y="13291522"/>
                <a:ext cx="287947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List a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= []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| a : List a</a:t>
                </a:r>
              </a:p>
            </p:txBody>
          </p:sp>
          <p:sp>
            <p:nvSpPr>
              <p:cNvPr id="2149" name="TextBox 2148">
                <a:extLst>
                  <a:ext uri="{FF2B5EF4-FFF2-40B4-BE49-F238E27FC236}">
                    <a16:creationId xmlns:a16="http://schemas.microsoft.com/office/drawing/2014/main" id="{07643DA3-49C1-8DAD-F1B0-7DD27803FF6D}"/>
                  </a:ext>
                </a:extLst>
              </p:cNvPr>
              <p:cNvSpPr txBox="1"/>
              <p:nvPr/>
            </p:nvSpPr>
            <p:spPr>
              <a:xfrm>
                <a:off x="16367006" y="15981921"/>
                <a:ext cx="3779941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Bexp</a:t>
                </a:r>
                <a:endParaRPr kumimoji="0" lang="en-GB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= Tr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| Fl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| </a:t>
                </a:r>
                <a:r>
                  <a:rPr kumimoji="0" lang="en-GB" sz="28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BNt</a:t>
                </a:r>
                <a:r>
                  <a:rPr kumimoji="0" lang="en-GB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</a:t>
                </a:r>
                <a:r>
                  <a:rPr kumimoji="0" lang="en-GB" sz="28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BExp</a:t>
                </a:r>
                <a:endParaRPr kumimoji="0" lang="en-GB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| </a:t>
                </a:r>
                <a:r>
                  <a:rPr kumimoji="0" lang="en-GB" sz="28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BAnd</a:t>
                </a:r>
                <a:r>
                  <a:rPr kumimoji="0" lang="en-GB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</a:t>
                </a:r>
                <a:r>
                  <a:rPr kumimoji="0" lang="en-GB" sz="28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BExp</a:t>
                </a:r>
                <a:r>
                  <a:rPr kumimoji="0" lang="en-GB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</a:t>
                </a:r>
                <a:r>
                  <a:rPr kumimoji="0" lang="en-GB" sz="28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BExp</a:t>
                </a:r>
                <a:endParaRPr kumimoji="0" lang="en-GB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52" name="TextBox 2151">
                    <a:extLst>
                      <a:ext uri="{FF2B5EF4-FFF2-40B4-BE49-F238E27FC236}">
                        <a16:creationId xmlns:a16="http://schemas.microsoft.com/office/drawing/2014/main" id="{B73CF478-8521-9716-2347-2C12869A0CC2}"/>
                      </a:ext>
                    </a:extLst>
                  </p:cNvPr>
                  <p:cNvSpPr txBox="1"/>
                  <p:nvPr/>
                </p:nvSpPr>
                <p:spPr>
                  <a:xfrm>
                    <a:off x="18551343" y="16127002"/>
                    <a:ext cx="7645683" cy="397031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1828800" marR="0" lvl="4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d>
                          <m:dPr>
                            <m:ctrlPr>
                              <a:rPr kumimoji="0" lang="x-IV_mathan" sz="2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libri" panose="020F0502020204030204" pitchFamily="34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kumimoji="0" lang="x-IV_mathan" sz="2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libri" panose="020F0502020204030204" pitchFamily="34" charset="0"/>
                                <a:ea typeface="+mn-ea"/>
                                <a:cs typeface="+mn-cs"/>
                              </a:rPr>
                              <m:t>T</m:t>
                            </m:r>
                            <m:r>
                              <m:rPr>
                                <m:sty m:val="p"/>
                              </m:rP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r</m:t>
                            </m:r>
                          </m:e>
                        </m:d>
                      </m:oMath>
                    </a14:m>
                    <a:r>
                      <a:rPr kumimoji="0" lang="x-IV_mathan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  <a:br>
                      <a:rPr kumimoji="0" lang="x-IV_mathan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</a:br>
                    <a14:m>
                      <m:oMath xmlns:m="http://schemas.openxmlformats.org/officeDocument/2006/math"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∧</m:t>
                        </m:r>
                      </m:oMath>
                    </a14:m>
                    <a:r>
                      <a:rPr kumimoji="0" lang="x-IV_mathan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  <a:br>
                      <a:rPr kumimoji="0" lang="x-IV_mathan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</a:br>
                    <a14:m>
                      <m:oMath xmlns:m="http://schemas.openxmlformats.org/officeDocument/2006/math"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d>
                          <m:dPr>
                            <m:ctrlPr>
                              <a:rPr kumimoji="0" lang="x-IV_mathan" sz="2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0" lang="x-IV_mathan" sz="2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Fl</m:t>
                            </m:r>
                          </m:e>
                        </m:d>
                      </m:oMath>
                    </a14:m>
                    <a:r>
                      <a:rPr kumimoji="0" lang="x-IV_mathan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  <a:br>
                      <a:rPr kumimoji="0" lang="x-IV_mathan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</a:br>
                    <a:r>
                      <a:rPr kumimoji="0" lang="x-IV_mathan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∧  </a:t>
                    </a:r>
                    <a:endParaRPr kumimoji="0" lang="x-IV_mathan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endParaRPr>
                  </a:p>
                  <a:p>
                    <a:pPr marL="1828800" marR="0" lvl="4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∀</m:t>
                        </m:r>
                        <m:r>
                          <m:rPr>
                            <m:sty m:val="p"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:</m:t>
                        </m:r>
                        <m:r>
                          <m:rPr>
                            <m:nor/>
                          </m:rPr>
                          <a:rPr kumimoji="0" lang="x-IV_mathan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Exp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.[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)→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kumimoji="0" lang="x-IV_mathan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Exp</m:t>
                        </m:r>
                        <m:r>
                          <a:rPr kumimoji="0" lang="x-IV_matha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)]</m:t>
                        </m:r>
                      </m:oMath>
                    </a14:m>
                    <a:r>
                      <a:rPr kumimoji="0" lang="x-IV_mathan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 </a:t>
                    </a:r>
                  </a:p>
                  <a:p>
                    <a:pPr marL="1828800" marR="0" lvl="4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∧</m:t>
                        </m:r>
                      </m:oMath>
                    </a14:m>
                    <a:r>
                      <a:rPr kumimoji="0" lang="x-IV_mathan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∀</m:t>
                        </m:r>
                        <m:r>
                          <m:rPr>
                            <m:sty m:val="p"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m:rPr>
                            <m:nor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m:rPr>
                            <m:nor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:</m:t>
                        </m:r>
                        <m:r>
                          <m:rPr>
                            <m:nor/>
                          </m:rPr>
                          <a:rPr kumimoji="0" lang="x-IV_mathan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Exp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.[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1)∧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2)→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kumimoji="0" lang="x-IV_mathan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Exp</m:t>
                        </m:r>
                        <m:r>
                          <a:rPr kumimoji="0" lang="x-IV_matha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kumimoji="0" lang="x-IV_matha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)]</m:t>
                        </m:r>
                      </m:oMath>
                    </a14:m>
                    <a:r>
                      <a:rPr kumimoji="0" lang="x-IV_mathan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 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→</m:t>
                        </m:r>
                      </m:oMath>
                    </a14:m>
                    <a:r>
                      <a:rPr kumimoji="0" lang="x-IV_mathan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  <a:br>
                      <a:rPr kumimoji="0" lang="x-IV_mathan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</a:br>
                    <a14:m>
                      <m:oMath xmlns:m="http://schemas.openxmlformats.org/officeDocument/2006/math"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∀</m:t>
                        </m:r>
                        <m:r>
                          <m:rPr>
                            <m:sty m:val="p"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m:rPr>
                            <m:nor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:</m:t>
                        </m:r>
                        <m:r>
                          <m:rPr>
                            <m:nor/>
                          </m:rPr>
                          <a:rPr kumimoji="0" lang="x-IV_mathan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Exp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.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oMath>
                    </a14:m>
                    <a:r>
                      <a:rPr kumimoji="0" lang="x-IV_mathan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 </a:t>
                    </a:r>
                  </a:p>
                </p:txBody>
              </p:sp>
            </mc:Choice>
            <mc:Fallback>
              <p:sp>
                <p:nvSpPr>
                  <p:cNvPr id="2152" name="TextBox 2151">
                    <a:extLst>
                      <a:ext uri="{FF2B5EF4-FFF2-40B4-BE49-F238E27FC236}">
                        <a16:creationId xmlns:a16="http://schemas.microsoft.com/office/drawing/2014/main" id="{B73CF478-8521-9716-2347-2C12869A0C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51343" y="16127002"/>
                    <a:ext cx="7645683" cy="3970318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54" name="Straight Connector 2153">
                <a:extLst>
                  <a:ext uri="{FF2B5EF4-FFF2-40B4-BE49-F238E27FC236}">
                    <a16:creationId xmlns:a16="http://schemas.microsoft.com/office/drawing/2014/main" id="{43FE1229-BABB-6342-BB36-B5DF56D5F83F}"/>
                  </a:ext>
                </a:extLst>
              </p:cNvPr>
              <p:cNvCxnSpPr/>
              <p:nvPr/>
            </p:nvCxnSpPr>
            <p:spPr>
              <a:xfrm>
                <a:off x="18072902" y="15981921"/>
                <a:ext cx="5486400" cy="0"/>
              </a:xfrm>
              <a:prstGeom prst="line">
                <a:avLst/>
              </a:prstGeom>
              <a:ln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59" name="TextBox 2158">
                    <a:extLst>
                      <a:ext uri="{FF2B5EF4-FFF2-40B4-BE49-F238E27FC236}">
                        <a16:creationId xmlns:a16="http://schemas.microsoft.com/office/drawing/2014/main" id="{E582EED3-AF7B-75F4-D44D-28D76B8EFC64}"/>
                      </a:ext>
                    </a:extLst>
                  </p:cNvPr>
                  <p:cNvSpPr txBox="1"/>
                  <p:nvPr/>
                </p:nvSpPr>
                <p:spPr>
                  <a:xfrm>
                    <a:off x="15849371" y="24091013"/>
                    <a:ext cx="6959085" cy="353943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x-IV_mathan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kumimoji="0" lang="x-IV_mathan" sz="32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m:t>BaseR</m:t>
                        </m:r>
                        <m:r>
                          <a:rPr kumimoji="0" lang="x-IV_mathan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oMath>
                    </a14:m>
                    <a:r>
                      <a:rPr kumimoji="0" lang="x-IV_mathan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 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∧</m:t>
                        </m:r>
                      </m:oMath>
                    </a14:m>
                    <a:r>
                      <a:rPr kumimoji="0" lang="x-IV_mathan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x-IV_mathan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kumimoji="0" lang="x-IV_mathan" sz="32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m:t>Red </m:t>
                        </m:r>
                        <m:r>
                          <m:rPr>
                            <m:nor/>
                          </m:rPr>
                          <a:rPr kumimoji="0" lang="x-IV_mathan" sz="32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8C3A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m:t>BaseG</m:t>
                        </m:r>
                        <m:r>
                          <a:rPr kumimoji="0" lang="x-IV_mathan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oMath>
                    </a14:m>
                    <a:r>
                      <a:rPr kumimoji="0" lang="x-IV_mathan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 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∧</m:t>
                        </m:r>
                      </m:oMath>
                    </a14:m>
                    <a:r>
                      <a:rPr kumimoji="0" lang="x-IV_mathan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∀</m:t>
                        </m:r>
                        <m:r>
                          <m:rPr>
                            <m:nor/>
                          </m:rP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m:t>r</m:t>
                        </m:r>
                        <m: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:</m:t>
                        </m:r>
                        <m:r>
                          <m:rPr>
                            <m:nor/>
                          </m:rP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m:t>Reds</m:t>
                        </m:r>
                        <m: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. [</m:t>
                        </m:r>
                        <m: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m:t>r</m:t>
                        </m:r>
                        <m: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 → </m:t>
                        </m:r>
                        <m: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m:t>Red </m:t>
                        </m:r>
                        <m:r>
                          <m:rPr>
                            <m:nor/>
                          </m:rPr>
                          <a:rPr kumimoji="0" lang="x-IV_mathan" sz="32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8000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m:t>Green r</m:t>
                        </m:r>
                        <m: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)]</m:t>
                        </m:r>
                      </m:oMath>
                    </a14:m>
                    <a:r>
                      <a:rPr kumimoji="0" lang="x-IV_mathan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 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→</m:t>
                        </m:r>
                      </m:oMath>
                    </a14:m>
                    <a:r>
                      <a:rPr kumimoji="0" lang="x-IV_mathan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  <a:br>
                      <a:rPr kumimoji="0" lang="x-IV_mathan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</a:br>
                    <a14:m>
                      <m:oMath xmlns:m="http://schemas.openxmlformats.org/officeDocument/2006/math">
                        <m: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∀</m:t>
                        </m:r>
                        <m:r>
                          <m:rPr>
                            <m:nor/>
                          </m:rP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m:t>r</m:t>
                        </m:r>
                        <m: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:</m:t>
                        </m:r>
                        <m:r>
                          <m:rPr>
                            <m:nor/>
                          </m:rP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m:t>Reds</m:t>
                        </m:r>
                        <m: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. </m:t>
                        </m:r>
                        <m: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m:t>r</m:t>
                        </m:r>
                        <m:r>
                          <a:rPr kumimoji="0" lang="x-IV_mathan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oMath>
                    </a14:m>
                    <a:r>
                      <a:rPr kumimoji="0" lang="x-IV_mathan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 </a:t>
                    </a:r>
                  </a:p>
                </p:txBody>
              </p:sp>
            </mc:Choice>
            <mc:Fallback>
              <p:sp>
                <p:nvSpPr>
                  <p:cNvPr id="2159" name="TextBox 2158">
                    <a:extLst>
                      <a:ext uri="{FF2B5EF4-FFF2-40B4-BE49-F238E27FC236}">
                        <a16:creationId xmlns:a16="http://schemas.microsoft.com/office/drawing/2014/main" id="{E582EED3-AF7B-75F4-D44D-28D76B8EFC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849371" y="24091013"/>
                    <a:ext cx="6959085" cy="3539430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161" name="Group 2160">
                <a:extLst>
                  <a:ext uri="{FF2B5EF4-FFF2-40B4-BE49-F238E27FC236}">
                    <a16:creationId xmlns:a16="http://schemas.microsoft.com/office/drawing/2014/main" id="{9B9A0C64-6878-EA8D-0FA7-BA19C5A53DFB}"/>
                  </a:ext>
                </a:extLst>
              </p:cNvPr>
              <p:cNvGrpSpPr/>
              <p:nvPr/>
            </p:nvGrpSpPr>
            <p:grpSpPr>
              <a:xfrm>
                <a:off x="18411895" y="21556673"/>
                <a:ext cx="6292440" cy="1569660"/>
                <a:chOff x="19079062" y="22221417"/>
                <a:chExt cx="6292440" cy="1569660"/>
              </a:xfrm>
            </p:grpSpPr>
            <p:sp>
              <p:nvSpPr>
                <p:cNvPr id="2158" name="TextBox 2157">
                  <a:extLst>
                    <a:ext uri="{FF2B5EF4-FFF2-40B4-BE49-F238E27FC236}">
                      <a16:creationId xmlns:a16="http://schemas.microsoft.com/office/drawing/2014/main" id="{AD8A21A1-71C7-1595-855F-C0F108CAF87D}"/>
                    </a:ext>
                  </a:extLst>
                </p:cNvPr>
                <p:cNvSpPr txBox="1"/>
                <p:nvPr/>
              </p:nvSpPr>
              <p:spPr>
                <a:xfrm>
                  <a:off x="19079062" y="22221417"/>
                  <a:ext cx="2896947" cy="15696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A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+mn-cs"/>
                    </a:rPr>
                    <a:t>Reds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+mn-cs"/>
                    </a:rPr>
                    <a:t>= </a:t>
                  </a:r>
                  <a:r>
                    <a:rPr kumimoji="0" lang="en-GB" sz="32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+mn-cs"/>
                    </a:rPr>
                    <a:t>BaseR</a:t>
                  </a:r>
                  <a:endPara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+mn-cs"/>
                    </a:rPr>
                    <a:t>| Red </a:t>
                  </a: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8C3A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+mn-cs"/>
                    </a:rPr>
                    <a:t>Greens</a:t>
                  </a:r>
                  <a:endPara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60" name="TextBox 2159">
                  <a:extLst>
                    <a:ext uri="{FF2B5EF4-FFF2-40B4-BE49-F238E27FC236}">
                      <a16:creationId xmlns:a16="http://schemas.microsoft.com/office/drawing/2014/main" id="{03203109-CD16-FDAA-9437-2BD10FB0E801}"/>
                    </a:ext>
                  </a:extLst>
                </p:cNvPr>
                <p:cNvSpPr txBox="1"/>
                <p:nvPr/>
              </p:nvSpPr>
              <p:spPr>
                <a:xfrm>
                  <a:off x="22474555" y="22221417"/>
                  <a:ext cx="2896947" cy="15696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8C3A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+mn-cs"/>
                    </a:rPr>
                    <a:t>Greens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+mn-cs"/>
                    </a:rPr>
                    <a:t>= </a:t>
                  </a:r>
                  <a:r>
                    <a:rPr kumimoji="0" lang="en-GB" sz="32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+mn-cs"/>
                    </a:rPr>
                    <a:t>BaseG</a:t>
                  </a:r>
                  <a:endPara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+mn-cs"/>
                    </a:rPr>
                    <a:t>| Green </a:t>
                  </a: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A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+mn-cs"/>
                    </a:rPr>
                    <a:t>Reds</a:t>
                  </a:r>
                  <a:endPara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177" name="Group 2176">
              <a:extLst>
                <a:ext uri="{FF2B5EF4-FFF2-40B4-BE49-F238E27FC236}">
                  <a16:creationId xmlns:a16="http://schemas.microsoft.com/office/drawing/2014/main" id="{F6F32E48-7639-6E96-E46D-0A77D15528ED}"/>
                </a:ext>
              </a:extLst>
            </p:cNvPr>
            <p:cNvGrpSpPr/>
            <p:nvPr/>
          </p:nvGrpSpPr>
          <p:grpSpPr>
            <a:xfrm>
              <a:off x="18766972" y="23733113"/>
              <a:ext cx="5937364" cy="2216205"/>
              <a:chOff x="19500251" y="24258703"/>
              <a:chExt cx="5890636" cy="2216205"/>
            </a:xfrm>
          </p:grpSpPr>
          <p:sp>
            <p:nvSpPr>
              <p:cNvPr id="2164" name="TextBox 2163">
                <a:extLst>
                  <a:ext uri="{FF2B5EF4-FFF2-40B4-BE49-F238E27FC236}">
                    <a16:creationId xmlns:a16="http://schemas.microsoft.com/office/drawing/2014/main" id="{02E1A2C6-39D5-2A89-DFC6-D2FC90BFB30A}"/>
                  </a:ext>
                </a:extLst>
              </p:cNvPr>
              <p:cNvSpPr txBox="1"/>
              <p:nvPr/>
            </p:nvSpPr>
            <p:spPr>
              <a:xfrm>
                <a:off x="19649890" y="24258703"/>
                <a:ext cx="5740997" cy="1434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4572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04F8B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So we've essentially separated out what `</a:t>
                </a: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04F8B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Red Greens`</a:t>
                </a: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04F8B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means using the def. of `</a:t>
                </a:r>
                <a:r>
                  <a: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04F8B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Greens`</a:t>
                </a:r>
                <a:endParaRPr kumimoji="0" lang="en-GB" sz="3200" b="0" i="0" u="none" strike="noStrike" kern="1200" cap="none" spc="0" normalizeH="0" baseline="0" noProof="0">
                  <a:ln>
                    <a:noFill/>
                  </a:ln>
                  <a:solidFill>
                    <a:srgbClr val="004F8B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2168" name="Straight Arrow Connector 2167">
                <a:extLst>
                  <a:ext uri="{FF2B5EF4-FFF2-40B4-BE49-F238E27FC236}">
                    <a16:creationId xmlns:a16="http://schemas.microsoft.com/office/drawing/2014/main" id="{330AEE6E-BD55-DB19-DC85-4F28562D99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500251" y="25367595"/>
                <a:ext cx="1069885" cy="460768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0" name="Straight Arrow Connector 2169">
                <a:extLst>
                  <a:ext uri="{FF2B5EF4-FFF2-40B4-BE49-F238E27FC236}">
                    <a16:creationId xmlns:a16="http://schemas.microsoft.com/office/drawing/2014/main" id="{241A00E4-178B-7332-B492-A60522BC94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797864" y="25718056"/>
                <a:ext cx="389675" cy="756852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06" name="Group 2205">
            <a:extLst>
              <a:ext uri="{FF2B5EF4-FFF2-40B4-BE49-F238E27FC236}">
                <a16:creationId xmlns:a16="http://schemas.microsoft.com/office/drawing/2014/main" id="{ABD5A557-16D0-1E93-429F-961C9F14FA97}"/>
              </a:ext>
            </a:extLst>
          </p:cNvPr>
          <p:cNvGrpSpPr/>
          <p:nvPr/>
        </p:nvGrpSpPr>
        <p:grpSpPr>
          <a:xfrm>
            <a:off x="15849371" y="28540025"/>
            <a:ext cx="17030700" cy="7600229"/>
            <a:chOff x="29384073" y="20513111"/>
            <a:chExt cx="14799087" cy="6740307"/>
          </a:xfrm>
        </p:grpSpPr>
        <p:sp>
          <p:nvSpPr>
            <p:cNvPr id="2186" name="TextBox 2185">
              <a:extLst>
                <a:ext uri="{FF2B5EF4-FFF2-40B4-BE49-F238E27FC236}">
                  <a16:creationId xmlns:a16="http://schemas.microsoft.com/office/drawing/2014/main" id="{273ADBB1-0CF3-A343-3E2C-DC09CAF880F5}"/>
                </a:ext>
              </a:extLst>
            </p:cNvPr>
            <p:cNvSpPr txBox="1"/>
            <p:nvPr/>
          </p:nvSpPr>
          <p:spPr>
            <a:xfrm>
              <a:off x="29384073" y="20513111"/>
              <a:ext cx="460485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4800" b="1" i="0" u="none" strike="noStrike" kern="1200" cap="none" spc="0" normalizeH="0" baseline="0" noProof="0">
                  <a:ln>
                    <a:noFill/>
                  </a:ln>
                  <a:solidFill>
                    <a:srgbClr val="FA0000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PROOF SCHEMA</a:t>
              </a:r>
              <a:endParaRPr kumimoji="0" lang="en-GB" sz="4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grpSp>
          <p:nvGrpSpPr>
            <p:cNvPr id="2193" name="Group 2192">
              <a:extLst>
                <a:ext uri="{FF2B5EF4-FFF2-40B4-BE49-F238E27FC236}">
                  <a16:creationId xmlns:a16="http://schemas.microsoft.com/office/drawing/2014/main" id="{3B2E555D-085D-9D99-6D17-BDFB5749A09E}"/>
                </a:ext>
              </a:extLst>
            </p:cNvPr>
            <p:cNvGrpSpPr/>
            <p:nvPr/>
          </p:nvGrpSpPr>
          <p:grpSpPr>
            <a:xfrm>
              <a:off x="29539589" y="21275348"/>
              <a:ext cx="9377439" cy="3970318"/>
              <a:chOff x="33963429" y="15812646"/>
              <a:chExt cx="9377439" cy="3970318"/>
            </a:xfrm>
          </p:grpSpPr>
          <p:grpSp>
            <p:nvGrpSpPr>
              <p:cNvPr id="2192" name="Group 2191">
                <a:extLst>
                  <a:ext uri="{FF2B5EF4-FFF2-40B4-BE49-F238E27FC236}">
                    <a16:creationId xmlns:a16="http://schemas.microsoft.com/office/drawing/2014/main" id="{D38B6919-D585-C4D1-99DB-99743C34F83B}"/>
                  </a:ext>
                </a:extLst>
              </p:cNvPr>
              <p:cNvGrpSpPr/>
              <p:nvPr/>
            </p:nvGrpSpPr>
            <p:grpSpPr>
              <a:xfrm>
                <a:off x="33963429" y="15846067"/>
                <a:ext cx="7959271" cy="2543533"/>
                <a:chOff x="33963429" y="15846067"/>
                <a:chExt cx="7959271" cy="2543533"/>
              </a:xfrm>
            </p:grpSpPr>
            <p:sp>
              <p:nvSpPr>
                <p:cNvPr id="2188" name="Rectangle 2187">
                  <a:extLst>
                    <a:ext uri="{FF2B5EF4-FFF2-40B4-BE49-F238E27FC236}">
                      <a16:creationId xmlns:a16="http://schemas.microsoft.com/office/drawing/2014/main" id="{04F3DC2A-4FFC-A28A-2781-6CB083966797}"/>
                    </a:ext>
                  </a:extLst>
                </p:cNvPr>
                <p:cNvSpPr/>
                <p:nvPr/>
              </p:nvSpPr>
              <p:spPr>
                <a:xfrm>
                  <a:off x="33963429" y="15846067"/>
                  <a:ext cx="1103085" cy="551347"/>
                </a:xfrm>
                <a:prstGeom prst="rect">
                  <a:avLst/>
                </a:prstGeom>
                <a:solidFill>
                  <a:srgbClr val="FFFF00">
                    <a:alpha val="38039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189" name="Rectangle 2188">
                  <a:extLst>
                    <a:ext uri="{FF2B5EF4-FFF2-40B4-BE49-F238E27FC236}">
                      <a16:creationId xmlns:a16="http://schemas.microsoft.com/office/drawing/2014/main" id="{AB57E2A6-22EB-7BBF-384E-527E356C0520}"/>
                    </a:ext>
                  </a:extLst>
                </p:cNvPr>
                <p:cNvSpPr/>
                <p:nvPr/>
              </p:nvSpPr>
              <p:spPr>
                <a:xfrm>
                  <a:off x="35320515" y="16829631"/>
                  <a:ext cx="1545771" cy="551347"/>
                </a:xfrm>
                <a:prstGeom prst="rect">
                  <a:avLst/>
                </a:prstGeom>
                <a:solidFill>
                  <a:srgbClr val="FFFF00">
                    <a:alpha val="38039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190" name="Rectangle 2189">
                  <a:extLst>
                    <a:ext uri="{FF2B5EF4-FFF2-40B4-BE49-F238E27FC236}">
                      <a16:creationId xmlns:a16="http://schemas.microsoft.com/office/drawing/2014/main" id="{39DD2FB1-3283-8E49-6C77-1E870C1A2020}"/>
                    </a:ext>
                  </a:extLst>
                </p:cNvPr>
                <p:cNvSpPr/>
                <p:nvPr/>
              </p:nvSpPr>
              <p:spPr>
                <a:xfrm>
                  <a:off x="38478376" y="17836487"/>
                  <a:ext cx="1290767" cy="553113"/>
                </a:xfrm>
                <a:prstGeom prst="rect">
                  <a:avLst/>
                </a:prstGeom>
                <a:solidFill>
                  <a:srgbClr val="FFFF00">
                    <a:alpha val="38039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191" name="Rectangle 2190">
                  <a:extLst>
                    <a:ext uri="{FF2B5EF4-FFF2-40B4-BE49-F238E27FC236}">
                      <a16:creationId xmlns:a16="http://schemas.microsoft.com/office/drawing/2014/main" id="{37894DAB-1848-57D7-B9E0-3150391BCB92}"/>
                    </a:ext>
                  </a:extLst>
                </p:cNvPr>
                <p:cNvSpPr/>
                <p:nvPr/>
              </p:nvSpPr>
              <p:spPr>
                <a:xfrm>
                  <a:off x="40271700" y="17835604"/>
                  <a:ext cx="1651000" cy="553113"/>
                </a:xfrm>
                <a:prstGeom prst="rect">
                  <a:avLst/>
                </a:prstGeom>
                <a:solidFill>
                  <a:srgbClr val="FFFF00">
                    <a:alpha val="38039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87" name="TextBox 2186">
                    <a:extLst>
                      <a:ext uri="{FF2B5EF4-FFF2-40B4-BE49-F238E27FC236}">
                        <a16:creationId xmlns:a16="http://schemas.microsoft.com/office/drawing/2014/main" id="{D0610FAC-3203-4E27-584B-63EBEF5D01DA}"/>
                      </a:ext>
                    </a:extLst>
                  </p:cNvPr>
                  <p:cNvSpPr txBox="1"/>
                  <p:nvPr/>
                </p:nvSpPr>
                <p:spPr>
                  <a:xfrm>
                    <a:off x="33963429" y="15812646"/>
                    <a:ext cx="9377439" cy="397031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8C3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d>
                          <m:dPr>
                            <m:ctrlPr>
                              <a:rPr kumimoji="0" lang="x-IV_mathan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8C3A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x-IV_mathan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8C3A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[</m:t>
                            </m:r>
                            <m:r>
                              <a:rPr kumimoji="0" lang="x-IV_matha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8C3A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x-IV_mathan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8C3A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]</m:t>
                            </m:r>
                          </m:e>
                        </m:d>
                      </m:oMath>
                    </a14:m>
                    <a:r>
                      <a:rPr kumimoji="0" lang="x-IV_mathan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8C3A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∧</m:t>
                        </m:r>
                      </m:oMath>
                    </a14:m>
                    <a:r>
                      <a:rPr kumimoji="0" lang="x-IV_mathan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8C3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∀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8C3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8C3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∈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8C3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ℕ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8C3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.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8C3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8C3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8C3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x-IV_matha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8C3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8C3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: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0" lang="x-IV_matha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8C3A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x-IV_matha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8C3A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</m:e>
                        </m:d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8C3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oMath>
                    </a14:m>
                    <a:r>
                      <a:rPr kumimoji="0" lang="x-IV_mathan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8C3A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∧</m:t>
                        </m:r>
                      </m:oMath>
                    </a14:m>
                    <a:r>
                      <a:rPr kumimoji="0" lang="x-IV_mathan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∀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∈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ℕ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𝑗𝑠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∈</m:t>
                        </m:r>
                        <m:sSup>
                          <m:sSupPr>
                            <m:ctrlPr>
                              <a:rPr kumimoji="0" lang="x-IV_mathan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x-IV_mathan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ℕ</m:t>
                            </m:r>
                          </m:e>
                          <m:sup>
                            <m:r>
                              <a:rPr kumimoji="0" lang="x-IV_mathan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∗</m:t>
                            </m:r>
                          </m:sup>
                        </m:sSup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.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0" lang="x-IV_mathan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x-IV_mathan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kumimoji="0" lang="x-IV_mathan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≤</m:t>
                            </m:r>
                            <m:r>
                              <a:rPr kumimoji="0" lang="x-IV_mathan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</m:t>
                            </m:r>
                            <m:r>
                              <a:rPr kumimoji="0" lang="x-IV_mathan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∧</m:t>
                            </m:r>
                            <m:r>
                              <a:rPr kumimoji="0" lang="x-IV_mathan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kumimoji="0" lang="x-IV_mathan" sz="3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x-IV_mathan" sz="3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  <m:r>
                                  <a:rPr kumimoji="0" lang="x-IV_mathan" sz="3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:</m:t>
                                </m:r>
                                <m:r>
                                  <a:rPr kumimoji="0" lang="x-IV_mathan" sz="3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𝑗𝑠</m:t>
                                </m:r>
                              </m:e>
                            </m:d>
                            <m:r>
                              <a:rPr kumimoji="0" lang="x-IV_mathan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→</m:t>
                            </m:r>
                            <m:r>
                              <a:rPr kumimoji="0" lang="x-IV_mathan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kumimoji="0" lang="x-IV_mathan" sz="3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x-IV_mathan" sz="3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x-IV_mathan" sz="3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:</m:t>
                                </m:r>
                                <m:r>
                                  <a:rPr kumimoji="0" lang="x-IV_mathan" sz="3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  <m:r>
                                  <a:rPr kumimoji="0" lang="x-IV_mathan" sz="3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:</m:t>
                                </m:r>
                                <m:r>
                                  <a:rPr kumimoji="0" lang="x-IV_mathan" sz="3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𝑗𝑠</m:t>
                                </m:r>
                              </m:e>
                            </m:d>
                          </m:e>
                        </m:d>
                      </m:oMath>
                    </a14:m>
                    <a:r>
                      <a:rPr kumimoji="0" lang="x-IV_mathan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B01DE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→</m:t>
                        </m:r>
                      </m:oMath>
                    </a14:m>
                    <a:r>
                      <a:rPr kumimoji="0" lang="x-IV_mathan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∀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𝑛𝑠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∈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𝑂𝐿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.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𝑄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𝑛𝑠</m:t>
                        </m:r>
                        <m:r>
                          <a:rPr kumimoji="0" lang="x-IV_mathan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oMath>
                    </a14:m>
                    <a:r>
                      <a:rPr kumimoji="0" lang="x-IV_mathan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a:t> </a:t>
                    </a:r>
                  </a:p>
                </p:txBody>
              </p:sp>
            </mc:Choice>
            <mc:Fallback>
              <p:sp>
                <p:nvSpPr>
                  <p:cNvPr id="2187" name="TextBox 2186">
                    <a:extLst>
                      <a:ext uri="{FF2B5EF4-FFF2-40B4-BE49-F238E27FC236}">
                        <a16:creationId xmlns:a16="http://schemas.microsoft.com/office/drawing/2014/main" id="{D0610FAC-3203-4E27-584B-63EBEF5D01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963429" y="15812646"/>
                    <a:ext cx="9377439" cy="3970318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202" name="Group 2201">
              <a:extLst>
                <a:ext uri="{FF2B5EF4-FFF2-40B4-BE49-F238E27FC236}">
                  <a16:creationId xmlns:a16="http://schemas.microsoft.com/office/drawing/2014/main" id="{684DC387-997E-CB06-FE36-011497839B76}"/>
                </a:ext>
              </a:extLst>
            </p:cNvPr>
            <p:cNvGrpSpPr/>
            <p:nvPr/>
          </p:nvGrpSpPr>
          <p:grpSpPr>
            <a:xfrm>
              <a:off x="37896439" y="20513111"/>
              <a:ext cx="6286721" cy="6740307"/>
              <a:chOff x="28300331" y="15812646"/>
              <a:chExt cx="6286721" cy="6740307"/>
            </a:xfrm>
          </p:grpSpPr>
          <p:grpSp>
            <p:nvGrpSpPr>
              <p:cNvPr id="2196" name="Group 2195">
                <a:extLst>
                  <a:ext uri="{FF2B5EF4-FFF2-40B4-BE49-F238E27FC236}">
                    <a16:creationId xmlns:a16="http://schemas.microsoft.com/office/drawing/2014/main" id="{FCC7730D-82BB-D9BC-70CE-FE7C16537A89}"/>
                  </a:ext>
                </a:extLst>
              </p:cNvPr>
              <p:cNvGrpSpPr/>
              <p:nvPr/>
            </p:nvGrpSpPr>
            <p:grpSpPr>
              <a:xfrm>
                <a:off x="30253660" y="16340070"/>
                <a:ext cx="3445790" cy="4925317"/>
                <a:chOff x="35125979" y="10165623"/>
                <a:chExt cx="3445790" cy="4925317"/>
              </a:xfrm>
            </p:grpSpPr>
            <p:sp>
              <p:nvSpPr>
                <p:cNvPr id="2198" name="Rectangle 2197">
                  <a:extLst>
                    <a:ext uri="{FF2B5EF4-FFF2-40B4-BE49-F238E27FC236}">
                      <a16:creationId xmlns:a16="http://schemas.microsoft.com/office/drawing/2014/main" id="{9C0AB6AF-7BDE-E52A-21E9-4C3802BA132B}"/>
                    </a:ext>
                  </a:extLst>
                </p:cNvPr>
                <p:cNvSpPr/>
                <p:nvPr/>
              </p:nvSpPr>
              <p:spPr>
                <a:xfrm>
                  <a:off x="37230504" y="14074417"/>
                  <a:ext cx="1341265" cy="551347"/>
                </a:xfrm>
                <a:prstGeom prst="rect">
                  <a:avLst/>
                </a:prstGeom>
                <a:solidFill>
                  <a:srgbClr val="FFFF00">
                    <a:alpha val="38039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199" name="Rectangle 2198">
                  <a:extLst>
                    <a:ext uri="{FF2B5EF4-FFF2-40B4-BE49-F238E27FC236}">
                      <a16:creationId xmlns:a16="http://schemas.microsoft.com/office/drawing/2014/main" id="{61C7FCD4-C315-2301-CB67-EB3C24C3ECB4}"/>
                    </a:ext>
                  </a:extLst>
                </p:cNvPr>
                <p:cNvSpPr/>
                <p:nvPr/>
              </p:nvSpPr>
              <p:spPr>
                <a:xfrm>
                  <a:off x="35125979" y="14539593"/>
                  <a:ext cx="1674140" cy="551347"/>
                </a:xfrm>
                <a:prstGeom prst="rect">
                  <a:avLst/>
                </a:prstGeom>
                <a:solidFill>
                  <a:srgbClr val="FFFF00">
                    <a:alpha val="38039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200" name="Rectangle 2199">
                  <a:extLst>
                    <a:ext uri="{FF2B5EF4-FFF2-40B4-BE49-F238E27FC236}">
                      <a16:creationId xmlns:a16="http://schemas.microsoft.com/office/drawing/2014/main" id="{BC90A090-EFB9-A6D0-4B05-554843939802}"/>
                    </a:ext>
                  </a:extLst>
                </p:cNvPr>
                <p:cNvSpPr/>
                <p:nvPr/>
              </p:nvSpPr>
              <p:spPr>
                <a:xfrm>
                  <a:off x="35244130" y="10165623"/>
                  <a:ext cx="1155940" cy="551347"/>
                </a:xfrm>
                <a:prstGeom prst="rect">
                  <a:avLst/>
                </a:prstGeom>
                <a:solidFill>
                  <a:srgbClr val="FFFF00">
                    <a:alpha val="38039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201" name="Rectangle 2200">
                  <a:extLst>
                    <a:ext uri="{FF2B5EF4-FFF2-40B4-BE49-F238E27FC236}">
                      <a16:creationId xmlns:a16="http://schemas.microsoft.com/office/drawing/2014/main" id="{4AD45B90-548F-7E6F-23D9-4A7BE60DB71C}"/>
                    </a:ext>
                  </a:extLst>
                </p:cNvPr>
                <p:cNvSpPr/>
                <p:nvPr/>
              </p:nvSpPr>
              <p:spPr>
                <a:xfrm>
                  <a:off x="35244130" y="11631950"/>
                  <a:ext cx="2951188" cy="553113"/>
                </a:xfrm>
                <a:prstGeom prst="rect">
                  <a:avLst/>
                </a:prstGeom>
                <a:solidFill>
                  <a:srgbClr val="FFFF00">
                    <a:alpha val="38039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94" name="TextBox 2193">
                    <a:extLst>
                      <a:ext uri="{FF2B5EF4-FFF2-40B4-BE49-F238E27FC236}">
                        <a16:creationId xmlns:a16="http://schemas.microsoft.com/office/drawing/2014/main" id="{69B6540A-43A2-AD1C-65AE-3C4C6E304C4D}"/>
                      </a:ext>
                    </a:extLst>
                  </p:cNvPr>
                  <p:cNvSpPr txBox="1"/>
                  <p:nvPr/>
                </p:nvSpPr>
                <p:spPr>
                  <a:xfrm>
                    <a:off x="28300331" y="15812646"/>
                    <a:ext cx="6286721" cy="67403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4F8B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Base Case 1</a:t>
                    </a:r>
                  </a:p>
                  <a:p>
                    <a:pPr marL="34290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4F8B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To Show:</a:t>
                    </a: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  </a:t>
                    </a: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kumimoji="0" lang="en-GB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8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d>
                          <m:dPr>
                            <m:ctrlP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8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8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[</m:t>
                            </m:r>
                            <m:r>
                              <a:rPr kumimoji="0" lang="en-GB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8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8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]</m:t>
                            </m:r>
                          </m:e>
                        </m:d>
                      </m:oMath>
                    </a14:m>
                    <a:endPara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endParaRPr>
                  </a:p>
                  <a:p>
                    <a:pPr marL="34290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..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4F8B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Base Case 2</a:t>
                    </a:r>
                  </a:p>
                  <a:p>
                    <a:pPr marL="34290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4F8B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To Show:</a:t>
                    </a: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   </a:t>
                    </a:r>
                    <a14:m>
                      <m:oMath xmlns:m="http://schemas.openxmlformats.org/officeDocument/2006/math">
                        <m:r>
                          <a:rPr kumimoji="0" lang="en-GB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8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∀</m:t>
                        </m:r>
                        <m:r>
                          <a:rPr kumimoji="0" lang="en-GB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8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GB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8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∈</m:t>
                        </m:r>
                        <m:r>
                          <a:rPr kumimoji="0" lang="en-GB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8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ℕ</m:t>
                        </m:r>
                        <m:r>
                          <a:rPr kumimoji="0" lang="en-GB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8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.</m:t>
                        </m:r>
                        <m:r>
                          <a:rPr kumimoji="0" lang="en-GB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8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d>
                          <m:dPr>
                            <m:ctrlP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8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8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kumimoji="0" lang="en-GB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8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8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: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en-GB" sz="3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8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GB" sz="3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8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</m:e>
                            </m:d>
                          </m:e>
                        </m:d>
                      </m:oMath>
                    </a14:m>
                    <a:endPara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endParaRPr>
                  </a:p>
                  <a:p>
                    <a:pPr marL="34290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..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4F8B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Inductive Step</a:t>
                    </a:r>
                  </a:p>
                  <a:p>
                    <a:pPr marL="34290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Take </a:t>
                    </a:r>
                    <a14:m>
                      <m:oMath xmlns:m="http://schemas.openxmlformats.org/officeDocument/2006/math">
                        <m:r>
                          <a:rPr kumimoji="0" lang="en-GB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GB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GB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  <m:r>
                          <a:rPr kumimoji="0" lang="en-GB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∈</m:t>
                        </m:r>
                        <m:r>
                          <a:rPr kumimoji="0" lang="en-GB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ℕ</m:t>
                        </m:r>
                        <m:r>
                          <a:rPr kumimoji="0" lang="en-GB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GB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𝑗𝑠</m:t>
                        </m:r>
                        <m:r>
                          <a:rPr kumimoji="0" lang="en-GB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∈</m:t>
                        </m:r>
                        <m:sSup>
                          <m:sSupPr>
                            <m:ctrlP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ℕ</m:t>
                            </m:r>
                          </m:e>
                          <m:sup>
                            <m: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∗</m:t>
                            </m:r>
                          </m:sup>
                        </m:sSup>
                      </m:oMath>
                    </a14:m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 arbitrary.</a:t>
                    </a:r>
                  </a:p>
                  <a:p>
                    <a:pPr marL="34290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assume that </a:t>
                    </a: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B01DE7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kumimoji="0" lang="en-GB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GB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≤</m:t>
                        </m:r>
                        <m:r>
                          <a:rPr kumimoji="0" lang="en-GB" sz="3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oMath>
                    </a14:m>
                    <a:endPara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endParaRPr>
                  </a:p>
                  <a:p>
                    <a:pPr marL="34290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4F8B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Inductive Hypothesis:</a:t>
                    </a: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kumimoji="0" lang="en-GB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d>
                          <m:dPr>
                            <m:ctrlP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</m:t>
                            </m:r>
                            <m: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:</m:t>
                            </m:r>
                            <m: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𝑗𝑠</m:t>
                            </m:r>
                          </m:e>
                        </m:d>
                      </m:oMath>
                    </a14:m>
                    <a:endPara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endParaRPr>
                  </a:p>
                  <a:p>
                    <a:pPr marL="34290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4F8B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To Show:</a:t>
                    </a: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kumimoji="0" lang="en-GB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B01D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d>
                          <m:dPr>
                            <m:ctrlP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:</m:t>
                            </m:r>
                            <m: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</m:t>
                            </m:r>
                            <m: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:</m:t>
                            </m:r>
                            <m:r>
                              <a:rPr kumimoji="0" lang="en-GB" sz="3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𝑗𝑠</m:t>
                            </m:r>
                          </m:e>
                        </m:d>
                      </m:oMath>
                    </a14:m>
                    <a:endPara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endParaRPr>
                  </a:p>
                  <a:p>
                    <a:pPr marL="34290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…</a:t>
                    </a:r>
                  </a:p>
                </p:txBody>
              </p:sp>
            </mc:Choice>
            <mc:Fallback>
              <p:sp>
                <p:nvSpPr>
                  <p:cNvPr id="2194" name="TextBox 2193">
                    <a:extLst>
                      <a:ext uri="{FF2B5EF4-FFF2-40B4-BE49-F238E27FC236}">
                        <a16:creationId xmlns:a16="http://schemas.microsoft.com/office/drawing/2014/main" id="{69B6540A-43A2-AD1C-65AE-3C4C6E304C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00331" y="15812646"/>
                    <a:ext cx="6286721" cy="6740307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2612" t="-1283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04" name="TextBox 2203">
                  <a:extLst>
                    <a:ext uri="{FF2B5EF4-FFF2-40B4-BE49-F238E27FC236}">
                      <a16:creationId xmlns:a16="http://schemas.microsoft.com/office/drawing/2014/main" id="{7290D563-9F09-862B-58D1-149A0B4BF5D7}"/>
                    </a:ext>
                  </a:extLst>
                </p:cNvPr>
                <p:cNvSpPr txBox="1"/>
                <p:nvPr/>
              </p:nvSpPr>
              <p:spPr>
                <a:xfrm>
                  <a:off x="29461831" y="24869419"/>
                  <a:ext cx="9609105" cy="17543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i.e. we can convert with:</a:t>
                  </a:r>
                </a:p>
                <a:p>
                  <a:pPr marL="457200" marR="0" lvl="1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</m:oMath>
                  </a14:m>
                  <a:r>
                    <a: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 appears </a:t>
                  </a:r>
                  <a:r>
                    <a: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8C3A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once</a:t>
                  </a:r>
                  <a:r>
                    <a: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  in a line  </a:t>
                  </a:r>
                  <a:r>
                    <a:rPr kumimoji="0" lang="x-IV_mathan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+mn-ea"/>
                      <a:cs typeface="+mn-cs"/>
                    </a:rPr>
                    <a:t>⇒</a:t>
                  </a:r>
                  <a:r>
                    <a: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  </a:t>
                  </a:r>
                  <a:r>
                    <a: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8C3A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Base Case</a:t>
                  </a:r>
                  <a:r>
                    <a: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 line.</a:t>
                  </a:r>
                  <a:br>
                    <a: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</a:br>
                  <a14:m>
                    <m:oMath xmlns:m="http://schemas.openxmlformats.org/officeDocument/2006/math">
                      <m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</m:oMath>
                  </a14:m>
                  <a:r>
                    <a: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 appears </a:t>
                  </a:r>
                  <a:r>
                    <a: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B01DE7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twice</a:t>
                  </a:r>
                  <a:r>
                    <a: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 in a line  </a:t>
                  </a:r>
                  <a:r>
                    <a:rPr kumimoji="0" lang="x-IV_mathan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+mn-ea"/>
                      <a:cs typeface="+mn-cs"/>
                    </a:rPr>
                    <a:t>⇒</a:t>
                  </a:r>
                  <a:r>
                    <a: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  </a:t>
                  </a:r>
                  <a:r>
                    <a: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B01DE7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Inductive Step</a:t>
                  </a:r>
                  <a:r>
                    <a:rPr kumimoji="0" lang="en-GB" sz="3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 line.</a:t>
                  </a:r>
                </a:p>
              </p:txBody>
            </p:sp>
          </mc:Choice>
          <mc:Fallback>
            <p:sp>
              <p:nvSpPr>
                <p:cNvPr id="2204" name="TextBox 2203">
                  <a:extLst>
                    <a:ext uri="{FF2B5EF4-FFF2-40B4-BE49-F238E27FC236}">
                      <a16:creationId xmlns:a16="http://schemas.microsoft.com/office/drawing/2014/main" id="{7290D563-9F09-862B-58D1-149A0B4BF5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61831" y="24869419"/>
                  <a:ext cx="9609105" cy="1754326"/>
                </a:xfrm>
                <a:prstGeom prst="rect">
                  <a:avLst/>
                </a:prstGeom>
                <a:blipFill>
                  <a:blip r:embed="rId34"/>
                  <a:stretch>
                    <a:fillRect l="-1709" t="-493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05" name="Rectangle: Rounded Corners 2204">
              <a:extLst>
                <a:ext uri="{FF2B5EF4-FFF2-40B4-BE49-F238E27FC236}">
                  <a16:creationId xmlns:a16="http://schemas.microsoft.com/office/drawing/2014/main" id="{0E312829-6339-85BF-2D4F-0067B4D838ED}"/>
                </a:ext>
              </a:extLst>
            </p:cNvPr>
            <p:cNvSpPr/>
            <p:nvPr/>
          </p:nvSpPr>
          <p:spPr>
            <a:xfrm>
              <a:off x="29461831" y="21245394"/>
              <a:ext cx="8232355" cy="353943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0F77C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207" name="Freeform: Shape 2206">
            <a:extLst>
              <a:ext uri="{FF2B5EF4-FFF2-40B4-BE49-F238E27FC236}">
                <a16:creationId xmlns:a16="http://schemas.microsoft.com/office/drawing/2014/main" id="{ED6A3C1F-2615-B102-39DD-CF1FEA988A57}"/>
              </a:ext>
            </a:extLst>
          </p:cNvPr>
          <p:cNvSpPr/>
          <p:nvPr/>
        </p:nvSpPr>
        <p:spPr>
          <a:xfrm>
            <a:off x="16942628" y="27961657"/>
            <a:ext cx="15623946" cy="6760279"/>
          </a:xfrm>
          <a:custGeom>
            <a:avLst/>
            <a:gdLst>
              <a:gd name="connsiteX0" fmla="*/ 0 w 15201900"/>
              <a:gd name="connsiteY0" fmla="*/ 0 h 7086600"/>
              <a:gd name="connsiteX1" fmla="*/ 15201900 w 15201900"/>
              <a:gd name="connsiteY1" fmla="*/ 0 h 7086600"/>
              <a:gd name="connsiteX2" fmla="*/ 15201900 w 15201900"/>
              <a:gd name="connsiteY2" fmla="*/ 708660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01900" h="7086600">
                <a:moveTo>
                  <a:pt x="0" y="0"/>
                </a:moveTo>
                <a:lnTo>
                  <a:pt x="15201900" y="0"/>
                </a:lnTo>
                <a:lnTo>
                  <a:pt x="15201900" y="7086600"/>
                </a:lnTo>
              </a:path>
            </a:pathLst>
          </a:custGeom>
          <a:noFill/>
          <a:ln>
            <a:solidFill>
              <a:srgbClr val="B2B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08" name="TextBox 2207">
                <a:extLst>
                  <a:ext uri="{FF2B5EF4-FFF2-40B4-BE49-F238E27FC236}">
                    <a16:creationId xmlns:a16="http://schemas.microsoft.com/office/drawing/2014/main" id="{9767B100-A939-9B19-E37E-C0E70EFE3C12}"/>
                  </a:ext>
                </a:extLst>
              </p:cNvPr>
              <p:cNvSpPr txBox="1"/>
              <p:nvPr/>
            </p:nvSpPr>
            <p:spPr>
              <a:xfrm>
                <a:off x="34115320" y="31705530"/>
                <a:ext cx="15184813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600" b="0" i="0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When induction doesn't work (e.g. everything increases w/ each call, etc.)</a:t>
                </a:r>
              </a:p>
              <a:p>
                <a:pPr marL="514350" marR="0" lvl="0" indent="-514350" algn="l" defTabSz="45720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GB" sz="3600" b="0" i="1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Find something that decreases with every call (e.g. </a:t>
                </a:r>
                <a14:m>
                  <m:oMath xmlns:m="http://schemas.openxmlformats.org/officeDocument/2006/math">
                    <m:r>
                      <a:rPr kumimoji="0" lang="en-GB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GB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GB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</m:oMath>
                </a14:m>
                <a:r>
                  <a:rPr kumimoji="0" lang="en-GB" sz="3600" b="0" i="1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)</a:t>
                </a:r>
              </a:p>
              <a:p>
                <a:pPr marL="457200" marR="0" lvl="1" indent="0" algn="l" defTabSz="45720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600" b="0" i="1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x-IV_mathan" sz="3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kumimoji="0" lang="en-GB" sz="3600" b="0" i="1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mathematical induction</a:t>
                </a:r>
              </a:p>
              <a:p>
                <a:pPr marL="514350" marR="0" lvl="0" indent="-514350" algn="l" defTabSz="45720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GB" sz="3600" b="0" i="1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Define a function that decreases with every call (e.g. 'number of steps left’)</a:t>
                </a:r>
              </a:p>
              <a:p>
                <a:pPr marL="457200" marR="0" lvl="1" indent="0" algn="l" defTabSz="45720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x-IV_mathan" sz="3600" b="0" i="1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x-IV_mathan" sz="3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96969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kumimoji="0" lang="en-GB" sz="3600" b="0" i="1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mathematical induction</a:t>
                </a:r>
              </a:p>
              <a:p>
                <a:pPr marL="514350" marR="0" lvl="0" indent="-514350" algn="l" defTabSz="45720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GB" sz="3600" b="0" i="1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Generalised induction</a:t>
                </a:r>
              </a:p>
            </p:txBody>
          </p:sp>
        </mc:Choice>
        <mc:Fallback>
          <p:sp>
            <p:nvSpPr>
              <p:cNvPr id="2208" name="TextBox 2207">
                <a:extLst>
                  <a:ext uri="{FF2B5EF4-FFF2-40B4-BE49-F238E27FC236}">
                    <a16:creationId xmlns:a16="http://schemas.microsoft.com/office/drawing/2014/main" id="{9767B100-A939-9B19-E37E-C0E70EFE3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5320" y="31705530"/>
                <a:ext cx="15184813" cy="3416320"/>
              </a:xfrm>
              <a:prstGeom prst="rect">
                <a:avLst/>
              </a:prstGeom>
              <a:blipFill>
                <a:blip r:embed="rId35"/>
                <a:stretch>
                  <a:fillRect l="-1244" t="-2679" b="-60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42" name="Group 2241">
            <a:extLst>
              <a:ext uri="{FF2B5EF4-FFF2-40B4-BE49-F238E27FC236}">
                <a16:creationId xmlns:a16="http://schemas.microsoft.com/office/drawing/2014/main" id="{5DFAD79B-A64F-1F6F-763A-B8786CE000A7}"/>
              </a:ext>
            </a:extLst>
          </p:cNvPr>
          <p:cNvGrpSpPr/>
          <p:nvPr/>
        </p:nvGrpSpPr>
        <p:grpSpPr>
          <a:xfrm>
            <a:off x="32821494" y="21254717"/>
            <a:ext cx="17772463" cy="10799274"/>
            <a:chOff x="32799326" y="20084112"/>
            <a:chExt cx="17772463" cy="10799274"/>
          </a:xfrm>
        </p:grpSpPr>
        <p:grpSp>
          <p:nvGrpSpPr>
            <p:cNvPr id="2236" name="Group 2235">
              <a:extLst>
                <a:ext uri="{FF2B5EF4-FFF2-40B4-BE49-F238E27FC236}">
                  <a16:creationId xmlns:a16="http://schemas.microsoft.com/office/drawing/2014/main" id="{85FAF46D-BEBC-00E7-AFD2-C3CAD7E438B6}"/>
                </a:ext>
              </a:extLst>
            </p:cNvPr>
            <p:cNvGrpSpPr/>
            <p:nvPr/>
          </p:nvGrpSpPr>
          <p:grpSpPr>
            <a:xfrm>
              <a:off x="33663099" y="20084112"/>
              <a:ext cx="16908690" cy="9392928"/>
              <a:chOff x="27805738" y="12774595"/>
              <a:chExt cx="16908690" cy="9392928"/>
            </a:xfrm>
          </p:grpSpPr>
          <p:grpSp>
            <p:nvGrpSpPr>
              <p:cNvPr id="2231" name="Group 2230">
                <a:extLst>
                  <a:ext uri="{FF2B5EF4-FFF2-40B4-BE49-F238E27FC236}">
                    <a16:creationId xmlns:a16="http://schemas.microsoft.com/office/drawing/2014/main" id="{F54434F3-8945-A35B-1AD0-10F614103CE4}"/>
                  </a:ext>
                </a:extLst>
              </p:cNvPr>
              <p:cNvGrpSpPr/>
              <p:nvPr/>
            </p:nvGrpSpPr>
            <p:grpSpPr>
              <a:xfrm>
                <a:off x="27805738" y="12774595"/>
                <a:ext cx="16835435" cy="3108543"/>
                <a:chOff x="27805738" y="12774595"/>
                <a:chExt cx="16835435" cy="3108543"/>
              </a:xfrm>
            </p:grpSpPr>
            <p:grpSp>
              <p:nvGrpSpPr>
                <p:cNvPr id="2226" name="Group 2225">
                  <a:extLst>
                    <a:ext uri="{FF2B5EF4-FFF2-40B4-BE49-F238E27FC236}">
                      <a16:creationId xmlns:a16="http://schemas.microsoft.com/office/drawing/2014/main" id="{946A587C-BB5D-E403-C308-D40C1781DF65}"/>
                    </a:ext>
                  </a:extLst>
                </p:cNvPr>
                <p:cNvGrpSpPr/>
                <p:nvPr/>
              </p:nvGrpSpPr>
              <p:grpSpPr>
                <a:xfrm>
                  <a:off x="27805738" y="13232380"/>
                  <a:ext cx="9227615" cy="2192973"/>
                  <a:chOff x="27805738" y="12774595"/>
                  <a:chExt cx="9227615" cy="2192973"/>
                </a:xfrm>
              </p:grpSpPr>
              <p:sp>
                <p:nvSpPr>
                  <p:cNvPr id="2209" name="TextBox 2208">
                    <a:extLst>
                      <a:ext uri="{FF2B5EF4-FFF2-40B4-BE49-F238E27FC236}">
                        <a16:creationId xmlns:a16="http://schemas.microsoft.com/office/drawing/2014/main" id="{D0DBD972-C2A5-D8D0-C84E-5F7C1E9F2E00}"/>
                      </a:ext>
                    </a:extLst>
                  </p:cNvPr>
                  <p:cNvSpPr txBox="1"/>
                  <p:nvPr/>
                </p:nvSpPr>
                <p:spPr>
                  <a:xfrm>
                    <a:off x="27805738" y="12774595"/>
                    <a:ext cx="1891331" cy="4961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8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rPr>
                      <a:t>Set</a:t>
                    </a: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212" name="TextBox 2211">
                        <a:extLst>
                          <a:ext uri="{FF2B5EF4-FFF2-40B4-BE49-F238E27FC236}">
                            <a16:creationId xmlns:a16="http://schemas.microsoft.com/office/drawing/2014/main" id="{334BA3CD-4E8C-D02E-9693-F738B1FD636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041347" y="13165425"/>
                        <a:ext cx="2694520" cy="150810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(from </a:t>
                        </a:r>
                        <a:r>
                          <a:rPr kumimoji="0" lang="en-GB" sz="2800" b="0" i="0" u="none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defn</a:t>
                        </a:r>
                        <a:r>
                          <a:rPr kumimoji="0" lang="en-GB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)</a:t>
                        </a: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Replace  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…∈</m:t>
                            </m:r>
                            <m:r>
                              <a:rPr kumimoji="0" lang="en-GB" sz="32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𝐒</m:t>
                            </m:r>
                          </m:oMath>
                        </a14:m>
                        <a:endParaRPr kumimoji="0" lang="en-GB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endParaRP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With       </a:t>
                        </a:r>
                        <a14:m>
                          <m:oMath xmlns:m="http://schemas.openxmlformats.org/officeDocument/2006/math">
                            <m:r>
                              <a:rPr kumimoji="0" lang="en-GB" sz="32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B01DE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𝑷</m:t>
                            </m:r>
                            <m:d>
                              <m:dPr>
                                <m:ctrlPr>
                                  <a:rPr kumimoji="0" lang="en-GB" sz="32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GB" sz="32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B01DE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e>
                            </m:d>
                          </m:oMath>
                        </a14:m>
                        <a:endParaRPr kumimoji="0" lang="en-GB" sz="32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212" name="TextBox 2211">
                        <a:extLst>
                          <a:ext uri="{FF2B5EF4-FFF2-40B4-BE49-F238E27FC236}">
                            <a16:creationId xmlns:a16="http://schemas.microsoft.com/office/drawing/2014/main" id="{334BA3CD-4E8C-D02E-9693-F738B1FD636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041347" y="13165425"/>
                        <a:ext cx="2694520" cy="1508105"/>
                      </a:xfrm>
                      <a:prstGeom prst="rect">
                        <a:avLst/>
                      </a:prstGeom>
                      <a:blipFill>
                        <a:blip r:embed="rId36"/>
                        <a:stretch>
                          <a:fillRect l="-5656" t="-4049" b="-12955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215" name="TextBox 2214">
                        <a:extLst>
                          <a:ext uri="{FF2B5EF4-FFF2-40B4-BE49-F238E27FC236}">
                            <a16:creationId xmlns:a16="http://schemas.microsoft.com/office/drawing/2014/main" id="{5C9DD0DC-4843-1290-5A3B-4EE536B07CB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1331053" y="12774595"/>
                        <a:ext cx="5702300" cy="219297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a:t>(ordered set of </a:t>
                        </a:r>
                        <a14:m>
                          <m:oMath xmlns:m="http://schemas.openxmlformats.org/officeDocument/2006/math"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96969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ℕ</m:t>
                            </m:r>
                          </m:oMath>
                        </a14:m>
                        <a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a:t>)</a:t>
                        </a: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 xmlns:m="http://schemas.openxmlformats.org/officeDocument/2006/math"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x-IV_mathan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F77C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x-IV_mathan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F77C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</m:e>
                            </m:d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∈</m:t>
                            </m:r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𝑂𝐿</m:t>
                            </m:r>
                          </m:oMath>
                        </a14:m>
                        <a:r>
                          <a:rPr kumimoji="0" lang="en-GB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a:t> </a:t>
                        </a: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 xmlns:m="http://schemas.openxmlformats.org/officeDocument/2006/math"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∀</m:t>
                            </m:r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∈</m:t>
                            </m:r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ℕ</m:t>
                            </m:r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.</m:t>
                            </m:r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kumimoji="0" lang="x-IV_mathan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: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x-IV_mathan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F77C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x-IV_mathan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F77C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</m:e>
                            </m:d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∈</m:t>
                            </m:r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F77C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𝑂𝐿</m:t>
                            </m:r>
                          </m:oMath>
                        </a14:m>
                        <a: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77C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a:t> </a:t>
                        </a:r>
                        <a:br>
                          <a:rPr kumimoji="0" lang="x-IV_matha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a:br>
                        <a14:m>
                          <m:oMath xmlns:m="http://schemas.openxmlformats.org/officeDocument/2006/math"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∀</m:t>
                            </m:r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</m:t>
                            </m:r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∈</m:t>
                            </m:r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ℕ</m:t>
                            </m:r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𝑗𝑠</m:t>
                            </m:r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kumimoji="0" lang="x-IV_mathan" sz="28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x-IV_mathan" sz="28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ℕ</m:t>
                                </m:r>
                              </m:e>
                              <m:sup>
                                <m:r>
                                  <a:rPr kumimoji="0" lang="x-IV_mathan" sz="28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kumimoji="0" lang="x-IV_matha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.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x-IV_mathan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kumimoji="0" lang="x-IV_mathan" sz="2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0" lang="x-IV_mathan" sz="2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  <m:r>
                                      <a:rPr kumimoji="0" lang="x-IV_mathan" sz="2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≤</m:t>
                                    </m:r>
                                    <m:r>
                                      <a:rPr kumimoji="0" lang="x-IV_mathan" sz="2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𝑗</m:t>
                                    </m:r>
                                    <m:r>
                                      <a:rPr kumimoji="0" lang="x-IV_mathan" sz="2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∧</m:t>
                                    </m:r>
                                    <m:r>
                                      <a:rPr kumimoji="0" lang="x-IV_mathan" sz="2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F77C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𝑗</m:t>
                                    </m:r>
                                    <m:r>
                                      <a:rPr kumimoji="0" lang="x-IV_mathan" sz="2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F77C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:</m:t>
                                    </m:r>
                                    <m:r>
                                      <a:rPr kumimoji="0" lang="x-IV_mathan" sz="2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F77C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𝑗𝑠</m:t>
                                    </m:r>
                                    <m:r>
                                      <a:rPr kumimoji="0" lang="x-IV_mathan" sz="2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F77C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∈</m:t>
                                    </m:r>
                                    <m:r>
                                      <a:rPr kumimoji="0" lang="x-IV_mathan" sz="2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F77C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𝑂𝐿</m:t>
                                    </m:r>
                                  </m:e>
                                  <m:e>
                                    <m:r>
                                      <a:rPr kumimoji="0" lang="x-IV_mathan" sz="2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→</m:t>
                                    </m:r>
                                    <m:r>
                                      <a:rPr kumimoji="0" lang="x-IV_mathan" sz="2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F77C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  <m:r>
                                      <a:rPr kumimoji="0" lang="x-IV_mathan" sz="2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F77C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:</m:t>
                                    </m:r>
                                    <m:r>
                                      <a:rPr kumimoji="0" lang="x-IV_mathan" sz="2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F77C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𝑗</m:t>
                                    </m:r>
                                    <m:r>
                                      <a:rPr kumimoji="0" lang="x-IV_mathan" sz="2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F77C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:</m:t>
                                    </m:r>
                                    <m:r>
                                      <a:rPr kumimoji="0" lang="x-IV_mathan" sz="2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F77C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𝑗𝑠</m:t>
                                    </m:r>
                                    <m:r>
                                      <a:rPr kumimoji="0" lang="x-IV_mathan" sz="2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F77C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∈</m:t>
                                    </m:r>
                                    <m:r>
                                      <a:rPr kumimoji="0" lang="x-IV_mathan" sz="2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F77C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𝑂𝐿</m:t>
                                    </m:r>
                                  </m:e>
                                </m:eqArr>
                              </m:e>
                            </m:d>
                          </m:oMath>
                        </a14:m>
                        <a:r>
                          <a:rPr kumimoji="0" lang="en-GB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a:t>  </a:t>
                        </a:r>
                        <a:endParaRPr kumimoji="0" lang="x-IV_matha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215" name="TextBox 2214">
                        <a:extLst>
                          <a:ext uri="{FF2B5EF4-FFF2-40B4-BE49-F238E27FC236}">
                            <a16:creationId xmlns:a16="http://schemas.microsoft.com/office/drawing/2014/main" id="{5C9DD0DC-4843-1290-5A3B-4EE536B07CB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331053" y="12774595"/>
                        <a:ext cx="5702300" cy="2192973"/>
                      </a:xfrm>
                      <a:prstGeom prst="rect">
                        <a:avLst/>
                      </a:prstGeom>
                      <a:blipFill>
                        <a:blip r:embed="rId37"/>
                        <a:stretch>
                          <a:fillRect l="-2137" t="-30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16" name="TextBox 2215">
                      <a:extLst>
                        <a:ext uri="{FF2B5EF4-FFF2-40B4-BE49-F238E27FC236}">
                          <a16:creationId xmlns:a16="http://schemas.microsoft.com/office/drawing/2014/main" id="{073D030C-7EC1-3D1F-7AA8-E948F6B592E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304164" y="12774595"/>
                      <a:ext cx="7337009" cy="31085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x-IV_mathan" sz="2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d>
                            <m:dPr>
                              <m:ctrlPr>
                                <a:rPr kumimoji="0" lang="x-IV_matha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x-IV_matha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[</m:t>
                              </m:r>
                              <m:r>
                                <a:rPr kumimoji="0" lang="x-IV_mathan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x-IV_matha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]</m:t>
                              </m:r>
                            </m:e>
                          </m:d>
                        </m:oMath>
                      </a14:m>
                      <a:r>
                        <a:rPr kumimoji="0" lang="x-IV_matha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01DE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</m:t>
                          </m:r>
                        </m:oMath>
                      </a14:m>
                      <a:r>
                        <a:rPr kumimoji="0" lang="x-IV_matha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∀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ℕ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kumimoji="0" lang="x-IV_mathan" sz="2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kumimoji="0" lang="x-IV_mathan" sz="2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x-IV_mathan" sz="2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x-IV_matha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: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x-IV_mathan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x-IV_mathan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</m:e>
                          </m:d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oMath>
                      </a14:m>
                      <a:r>
                        <a:rPr kumimoji="0" lang="x-IV_matha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01DE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  <a:endParaRPr kumimoji="0" lang="x-IV_mathan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</m:t>
                          </m:r>
                        </m:oMath>
                      </a14:m>
                      <a:r>
                        <a:rPr kumimoji="0" lang="x-IV_matha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∀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ℕ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𝑗𝑠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</m:t>
                          </m:r>
                          <m:sSup>
                            <m:sSupPr>
                              <m:ctrlPr>
                                <a:rPr kumimoji="0" lang="x-IV_matha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x-IV_matha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ℕ</m:t>
                              </m:r>
                            </m:e>
                            <m:sup>
                              <m:r>
                                <a:rPr kumimoji="0" lang="x-IV_matha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∗</m:t>
                              </m:r>
                            </m:sup>
                          </m:sSup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x-IV_matha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x-IV_matha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  <m:r>
                                <a:rPr kumimoji="0" lang="x-IV_matha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≤</m:t>
                              </m:r>
                              <m:r>
                                <a:rPr kumimoji="0" lang="x-IV_matha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  <m:r>
                                <a:rPr kumimoji="0" lang="x-IV_matha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∧</m:t>
                              </m:r>
                              <m:r>
                                <a:rPr kumimoji="0" lang="x-IV_mathan" sz="2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kumimoji="0" lang="x-IV_mathan" sz="2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x-IV_mathan" sz="2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  <m:r>
                                    <a:rPr kumimoji="0" lang="x-IV_mathan" sz="2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:</m:t>
                                  </m:r>
                                  <m:r>
                                    <a:rPr kumimoji="0" lang="x-IV_mathan" sz="2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𝑗𝑠</m:t>
                                  </m:r>
                                </m:e>
                              </m:d>
                              <m:r>
                                <a:rPr kumimoji="0" lang="x-IV_matha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→</m:t>
                              </m:r>
                              <m:r>
                                <a:rPr kumimoji="0" lang="x-IV_mathan" sz="2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kumimoji="0" lang="x-IV_mathan" sz="2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x-IV_mathan" sz="2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r>
                                    <a:rPr kumimoji="0" lang="x-IV_mathan" sz="2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:</m:t>
                                  </m:r>
                                  <m:r>
                                    <a:rPr kumimoji="0" lang="x-IV_mathan" sz="2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  <m:r>
                                    <a:rPr kumimoji="0" lang="x-IV_mathan" sz="2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:</m:t>
                                  </m:r>
                                  <m:r>
                                    <a:rPr kumimoji="0" lang="x-IV_mathan" sz="2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𝑗𝑠</m:t>
                                  </m:r>
                                </m:e>
                              </m:d>
                            </m:e>
                          </m:d>
                        </m:oMath>
                      </a14:m>
                      <a:r>
                        <a:rPr kumimoji="0" lang="x-IV_matha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→</m:t>
                          </m:r>
                        </m:oMath>
                      </a14:m>
                      <a:r>
                        <a:rPr kumimoji="0" lang="x-IV_matha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∀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𝑛𝑠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𝑂𝐿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𝑛𝑠</m:t>
                          </m:r>
                          <m:r>
                            <a:rPr kumimoji="0" lang="x-IV_matha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oMath>
                      </a14:m>
                      <a:r>
                        <a:rPr kumimoji="0" lang="x-IV_matha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2216" name="TextBox 2215">
                      <a:extLst>
                        <a:ext uri="{FF2B5EF4-FFF2-40B4-BE49-F238E27FC236}">
                          <a16:creationId xmlns:a16="http://schemas.microsoft.com/office/drawing/2014/main" id="{073D030C-7EC1-3D1F-7AA8-E948F6B592E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304164" y="12774595"/>
                      <a:ext cx="7337009" cy="3108543"/>
                    </a:xfrm>
                    <a:prstGeom prst="rect">
                      <a:avLst/>
                    </a:prstGeom>
                    <a:blipFill>
                      <a:blip r:embed="rId3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230" name="Group 2229">
                <a:extLst>
                  <a:ext uri="{FF2B5EF4-FFF2-40B4-BE49-F238E27FC236}">
                    <a16:creationId xmlns:a16="http://schemas.microsoft.com/office/drawing/2014/main" id="{1D93BB1C-8C28-97EB-DAF4-48A76CB50B3F}"/>
                  </a:ext>
                </a:extLst>
              </p:cNvPr>
              <p:cNvGrpSpPr/>
              <p:nvPr/>
            </p:nvGrpSpPr>
            <p:grpSpPr>
              <a:xfrm>
                <a:off x="27805738" y="16291990"/>
                <a:ext cx="16908690" cy="2246769"/>
                <a:chOff x="27805738" y="16306775"/>
                <a:chExt cx="16908690" cy="2246769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17" name="TextBox 2216">
                      <a:extLst>
                        <a:ext uri="{FF2B5EF4-FFF2-40B4-BE49-F238E27FC236}">
                          <a16:creationId xmlns:a16="http://schemas.microsoft.com/office/drawing/2014/main" id="{EFA5FEB1-8D47-5158-32BE-3C5090D45E7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132964" y="16306775"/>
                      <a:ext cx="5581464" cy="224676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x-IV_matha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d>
                            <m:dPr>
                              <m:ctrlPr>
                                <a:rPr kumimoji="0" lang="en-GB" sz="2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kumimoji="0" lang="en-GB" sz="2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Zero</m:t>
                              </m:r>
                            </m:e>
                          </m:d>
                        </m:oMath>
                      </a14:m>
                      <a:r>
                        <a:rPr kumimoji="0" lang="x-IV_mathan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  <a:endParaRPr kumimoji="0" lang="x-IV_mathan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B01DE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x-IV_matha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</m:t>
                          </m:r>
                        </m:oMath>
                      </a14:m>
                      <a:r>
                        <a:rPr kumimoji="0" lang="x-IV_mathan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x-IV_matha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∀</m:t>
                          </m:r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x-IV_matha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</m:t>
                          </m:r>
                          <m:sSub>
                            <m:sSubPr>
                              <m:ctrlP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0" lang="x-IV_mathan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ℕ</m:t>
                              </m:r>
                            </m:sub>
                          </m:sSub>
                          <m:r>
                            <a:rPr kumimoji="0" lang="x-IV_matha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[</m:t>
                          </m:r>
                          <m:r>
                            <a:rPr kumimoji="0" lang="x-IV_matha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d>
                            <m:dPr>
                              <m:ctrlP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e>
                          </m:d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→</m:t>
                          </m:r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d>
                            <m:dPr>
                              <m:endChr m:val="]"/>
                              <m:ctrlP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𝑆𝑢𝑐𝑐</m:t>
                              </m:r>
                              <m:d>
                                <m:d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𝑆𝑢𝑐𝑐</m:t>
                                  </m:r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</m:oMath>
                      </a14:m>
                      <a:r>
                        <a:rPr kumimoji="0" lang="x-IV_mathan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x-IV_matha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→</m:t>
                          </m:r>
                        </m:oMath>
                      </a14:m>
                      <a:r>
                        <a:rPr kumimoji="0" lang="x-IV_mathan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x-IV_matha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∀</m:t>
                          </m:r>
                          <m:r>
                            <a:rPr kumimoji="0" lang="x-IV_matha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𝑛𝑠</m:t>
                          </m:r>
                          <m:r>
                            <a:rPr kumimoji="0" lang="x-IV_matha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</m:t>
                          </m:r>
                          <m:sSub>
                            <m:sSubPr>
                              <m:ctrlPr>
                                <a:rPr kumimoji="0" lang="en-GB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0" lang="x-IV_mathan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ℕ</m:t>
                              </m:r>
                            </m:sub>
                          </m:sSub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𝐸𝑣𝑒𝑛</m:t>
                              </m:r>
                              <m:d>
                                <m:d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→</m:t>
                              </m:r>
                              <m: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</m:oMath>
                      </a14:m>
                      <a:r>
                        <a:rPr kumimoji="0" lang="x-IV_mathan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2217" name="TextBox 2216">
                      <a:extLst>
                        <a:ext uri="{FF2B5EF4-FFF2-40B4-BE49-F238E27FC236}">
                          <a16:creationId xmlns:a16="http://schemas.microsoft.com/office/drawing/2014/main" id="{EFA5FEB1-8D47-5158-32BE-3C5090D45E7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132964" y="16306775"/>
                      <a:ext cx="5581464" cy="2246769"/>
                    </a:xfrm>
                    <a:prstGeom prst="rect">
                      <a:avLst/>
                    </a:prstGeom>
                    <a:blipFill>
                      <a:blip r:embed="rId3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10" name="TextBox 2209">
                  <a:extLst>
                    <a:ext uri="{FF2B5EF4-FFF2-40B4-BE49-F238E27FC236}">
                      <a16:creationId xmlns:a16="http://schemas.microsoft.com/office/drawing/2014/main" id="{C8891B25-F753-FB7B-C08E-99B4DE34BFE7}"/>
                    </a:ext>
                  </a:extLst>
                </p:cNvPr>
                <p:cNvSpPr txBox="1"/>
                <p:nvPr/>
              </p:nvSpPr>
              <p:spPr>
                <a:xfrm>
                  <a:off x="27805738" y="16473679"/>
                  <a:ext cx="1891331" cy="8901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Relation / Predicate</a:t>
                  </a: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13" name="TextBox 2212">
                      <a:extLst>
                        <a:ext uri="{FF2B5EF4-FFF2-40B4-BE49-F238E27FC236}">
                          <a16:creationId xmlns:a16="http://schemas.microsoft.com/office/drawing/2014/main" id="{9937E86D-3578-D64B-4B3D-492A2EE2893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859949" y="16473679"/>
                      <a:ext cx="2706831" cy="150810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(from </a:t>
                      </a:r>
                      <a:r>
                        <a:rPr kumimoji="0" lang="en-GB" sz="2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defn</a:t>
                      </a:r>
                      <a:r>
                        <a:rPr kumimoji="0" lang="en-GB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Replace  </a:t>
                      </a:r>
                      <a14:m>
                        <m:oMath xmlns:m="http://schemas.openxmlformats.org/officeDocument/2006/math">
                          <m:r>
                            <a:rPr kumimoji="0" lang="en-GB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77C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  <m:d>
                            <m:dPr>
                              <m:ctrlPr>
                                <a:rPr kumimoji="0" lang="en-GB" sz="32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F77C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32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F77C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…</m:t>
                              </m:r>
                            </m:e>
                          </m:d>
                        </m:oMath>
                      </a14:m>
                      <a:endParaRPr kumimoji="0" lang="en-GB" sz="3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With       </a:t>
                      </a:r>
                      <a14:m>
                        <m:oMath xmlns:m="http://schemas.openxmlformats.org/officeDocument/2006/math">
                          <m:r>
                            <a:rPr kumimoji="0" lang="en-GB" sz="32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𝐏</m:t>
                          </m:r>
                          <m:d>
                            <m:dPr>
                              <m:ctrlPr>
                                <a:rPr kumimoji="0" lang="en-GB" sz="3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3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…</m:t>
                              </m:r>
                            </m:e>
                          </m:d>
                        </m:oMath>
                      </a14:m>
                      <a:endParaRPr kumimoji="0" lang="en-GB" sz="3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p:txBody>
                </p:sp>
              </mc:Choice>
              <mc:Fallback>
                <p:sp>
                  <p:nvSpPr>
                    <p:cNvPr id="2213" name="TextBox 2212">
                      <a:extLst>
                        <a:ext uri="{FF2B5EF4-FFF2-40B4-BE49-F238E27FC236}">
                          <a16:creationId xmlns:a16="http://schemas.microsoft.com/office/drawing/2014/main" id="{9937E86D-3578-D64B-4B3D-492A2EE289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859949" y="16473679"/>
                      <a:ext cx="2706831" cy="1508105"/>
                    </a:xfrm>
                    <a:prstGeom prst="rect">
                      <a:avLst/>
                    </a:prstGeom>
                    <a:blipFill>
                      <a:blip r:embed="rId40"/>
                      <a:stretch>
                        <a:fillRect l="-5856" t="-3644" b="-129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18" name="TextBox 2217">
                      <a:extLst>
                        <a:ext uri="{FF2B5EF4-FFF2-40B4-BE49-F238E27FC236}">
                          <a16:creationId xmlns:a16="http://schemas.microsoft.com/office/drawing/2014/main" id="{B670CEE8-7554-EA1B-0AF6-394C14A971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310745" y="16473679"/>
                      <a:ext cx="5400517" cy="191296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x-IV_matha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(even numbers)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77C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𝐸𝑣𝑒𝑛</m:t>
                          </m:r>
                          <m:d>
                            <m:dPr>
                              <m:ctrlPr>
                                <a:rPr kumimoji="0" lang="en-GB" sz="2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kumimoji="0" lang="en-GB" sz="2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Zero</m:t>
                              </m:r>
                            </m:e>
                          </m:d>
                        </m:oMath>
                      </a14:m>
                      <a:r>
                        <a:rPr kumimoji="0" lang="en-GB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x-IV_matha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∀</m:t>
                          </m:r>
                          <m:r>
                            <a:rPr kumimoji="0" lang="en-GB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x-IV_matha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</m:t>
                          </m:r>
                          <m:sSub>
                            <m:sSubPr>
                              <m:ctrlPr>
                                <a:rPr kumimoji="0" lang="en-GB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0" lang="x-IV_mathan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ℕ</m:t>
                              </m:r>
                            </m:sub>
                          </m:sSub>
                          <m:r>
                            <a:rPr kumimoji="0" lang="x-IV_matha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F77C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F77C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eqArrPr>
                                <m:e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F77C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𝐸𝑣𝑒𝑛</m:t>
                                  </m:r>
                                  <m:d>
                                    <m:dPr>
                                      <m:ctrlPr>
                                        <a:rPr kumimoji="0" lang="en-GB" sz="2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GB" sz="2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→</m:t>
                                  </m:r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F77C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𝐸𝑣𝑒𝑛</m:t>
                                  </m:r>
                                  <m:d>
                                    <m:dPr>
                                      <m:ctrlPr>
                                        <a:rPr kumimoji="0" lang="en-GB" sz="2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GB" sz="2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𝑆</m:t>
                                      </m:r>
                                      <m:r>
                                        <a:rPr kumimoji="0" lang="en-GB" sz="2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𝑢𝑐𝑐</m:t>
                                      </m:r>
                                      <m:d>
                                        <m:dPr>
                                          <m:ctrlPr>
                                            <a:rPr kumimoji="0" lang="en-GB" sz="2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GB" sz="2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𝑆𝑢𝑐𝑐</m:t>
                                          </m:r>
                                          <m:r>
                                            <a:rPr kumimoji="0" lang="en-GB" sz="2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 </m:t>
                                          </m:r>
                                          <m:r>
                                            <a:rPr kumimoji="0" lang="en-GB" sz="2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eqArr>
                            </m:e>
                          </m:d>
                        </m:oMath>
                      </a14:m>
                      <a:r>
                        <a:rPr kumimoji="0" lang="x-IV_matha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2218" name="TextBox 2217">
                      <a:extLst>
                        <a:ext uri="{FF2B5EF4-FFF2-40B4-BE49-F238E27FC236}">
                          <a16:creationId xmlns:a16="http://schemas.microsoft.com/office/drawing/2014/main" id="{B670CEE8-7554-EA1B-0AF6-394C14A971D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310745" y="16473679"/>
                      <a:ext cx="5400517" cy="1912960"/>
                    </a:xfrm>
                    <a:prstGeom prst="rect">
                      <a:avLst/>
                    </a:prstGeom>
                    <a:blipFill>
                      <a:blip r:embed="rId41"/>
                      <a:stretch>
                        <a:fillRect l="-2370" t="-31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229" name="Group 2228">
                <a:extLst>
                  <a:ext uri="{FF2B5EF4-FFF2-40B4-BE49-F238E27FC236}">
                    <a16:creationId xmlns:a16="http://schemas.microsoft.com/office/drawing/2014/main" id="{0D826739-F08A-2582-6E88-A95F983F2447}"/>
                  </a:ext>
                </a:extLst>
              </p:cNvPr>
              <p:cNvGrpSpPr/>
              <p:nvPr/>
            </p:nvGrpSpPr>
            <p:grpSpPr>
              <a:xfrm>
                <a:off x="27805738" y="18947610"/>
                <a:ext cx="16200868" cy="3219913"/>
                <a:chOff x="27805738" y="18947610"/>
                <a:chExt cx="16200868" cy="3219913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19" name="TextBox 2218">
                      <a:extLst>
                        <a:ext uri="{FF2B5EF4-FFF2-40B4-BE49-F238E27FC236}">
                          <a16:creationId xmlns:a16="http://schemas.microsoft.com/office/drawing/2014/main" id="{171EA5D1-DAAF-D111-98A2-FEE82491E1B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132964" y="19218898"/>
                      <a:ext cx="4873642" cy="267733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𝑄</m:t>
                          </m:r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B01DE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(0,0)</m:t>
                          </m:r>
                        </m:oMath>
                      </a14:m>
                      <a:r>
                        <a:rPr kumimoji="0" lang="x-IV_mathan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  <a:endParaRPr kumimoji="0" lang="x-IV_mathan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B01DE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x-IV_matha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</m:t>
                          </m:r>
                        </m:oMath>
                      </a14:m>
                      <a:r>
                        <a:rPr kumimoji="0" lang="x-IV_mathan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en-GB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∀</m:t>
                          </m:r>
                          <m:r>
                            <a:rPr kumimoji="0" lang="en-GB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  <m:r>
                            <a:rPr kumimoji="0" lang="en-GB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GB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  <m:r>
                            <a:rPr kumimoji="0" lang="en-GB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:</m:t>
                          </m:r>
                          <m:r>
                            <a:rPr kumimoji="0" lang="en-GB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𝑍</m:t>
                          </m:r>
                          <m:r>
                            <a:rPr kumimoji="0" lang="en-GB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en-GB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kumimoji="0" lang="en-GB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eqArrPr>
                                <m:e>
                                  <m:r>
                                    <a:rPr kumimoji="0" lang="en-GB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a:rPr kumimoji="0" lang="en-GB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  <m:r>
                                    <a:rPr kumimoji="0" lang="en-GB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≠0∧</m:t>
                                  </m:r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kumimoji="0" lang="en-GB" sz="2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B01DE7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GB" sz="2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B01DE7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  <m:r>
                                        <a:rPr kumimoji="0" lang="en-GB" sz="2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B01DE7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−3,</m:t>
                                      </m:r>
                                      <m:r>
                                        <a:rPr kumimoji="0" lang="en-GB" sz="2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B01DE7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kumimoji="0" lang="en-GB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→</m:t>
                                  </m:r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B01DE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kumimoji="0" lang="en-GB" sz="2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B01DE7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GB" sz="2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B01DE7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  <m:r>
                                        <a:rPr kumimoji="0" lang="en-GB" sz="2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B01DE7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,1+</m:t>
                                      </m:r>
                                      <m:r>
                                        <a:rPr kumimoji="0" lang="en-GB" sz="2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B01DE7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eqArr>
                            </m:e>
                          </m:d>
                        </m:oMath>
                      </a14:m>
                      <a:r>
                        <a:rPr kumimoji="0" lang="x-IV_matha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→</m:t>
                          </m:r>
                        </m:oMath>
                      </a14:m>
                      <a:r>
                        <a:rPr kumimoji="0" lang="en-GB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∀</m:t>
                          </m:r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</m:t>
                          </m:r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𝑍</m:t>
                          </m:r>
                          <m:r>
                            <a:rPr kumimoji="0" lang="en-GB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  <m: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→</m:t>
                              </m:r>
                              <m:r>
                                <a:rPr kumimoji="0" lang="en-GB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,</m:t>
                                  </m:r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</m:oMath>
                      </a14:m>
                      <a:r>
                        <a:rPr kumimoji="0" lang="en-GB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2219" name="TextBox 2218">
                      <a:extLst>
                        <a:ext uri="{FF2B5EF4-FFF2-40B4-BE49-F238E27FC236}">
                          <a16:creationId xmlns:a16="http://schemas.microsoft.com/office/drawing/2014/main" id="{171EA5D1-DAAF-D111-98A2-FEE82491E1B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132964" y="19218898"/>
                      <a:ext cx="4873642" cy="2677336"/>
                    </a:xfrm>
                    <a:prstGeom prst="rect">
                      <a:avLst/>
                    </a:prstGeom>
                    <a:blipFill>
                      <a:blip r:embed="rId42"/>
                      <a:stretch>
                        <a:fillRect b="-9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228" name="Group 2227">
                  <a:extLst>
                    <a:ext uri="{FF2B5EF4-FFF2-40B4-BE49-F238E27FC236}">
                      <a16:creationId xmlns:a16="http://schemas.microsoft.com/office/drawing/2014/main" id="{0A290CB3-251E-BDF9-3FE2-38A12685604D}"/>
                    </a:ext>
                  </a:extLst>
                </p:cNvPr>
                <p:cNvGrpSpPr/>
                <p:nvPr/>
              </p:nvGrpSpPr>
              <p:grpSpPr>
                <a:xfrm>
                  <a:off x="27805738" y="18947610"/>
                  <a:ext cx="10603586" cy="3219913"/>
                  <a:chOff x="27805738" y="18947610"/>
                  <a:chExt cx="10603586" cy="3219913"/>
                </a:xfrm>
              </p:grpSpPr>
              <p:grpSp>
                <p:nvGrpSpPr>
                  <p:cNvPr id="2225" name="Group 2224">
                    <a:extLst>
                      <a:ext uri="{FF2B5EF4-FFF2-40B4-BE49-F238E27FC236}">
                        <a16:creationId xmlns:a16="http://schemas.microsoft.com/office/drawing/2014/main" id="{F8EE8817-468F-BF31-F752-ACBABEC8E686}"/>
                      </a:ext>
                    </a:extLst>
                  </p:cNvPr>
                  <p:cNvGrpSpPr/>
                  <p:nvPr/>
                </p:nvGrpSpPr>
                <p:grpSpPr>
                  <a:xfrm>
                    <a:off x="27805738" y="18947610"/>
                    <a:ext cx="4133738" cy="2578164"/>
                    <a:chOff x="27282097" y="18736621"/>
                    <a:chExt cx="4133738" cy="2578164"/>
                  </a:xfrm>
                </p:grpSpPr>
                <p:sp>
                  <p:nvSpPr>
                    <p:cNvPr id="2211" name="TextBox 2210">
                      <a:extLst>
                        <a:ext uri="{FF2B5EF4-FFF2-40B4-BE49-F238E27FC236}">
                          <a16:creationId xmlns:a16="http://schemas.microsoft.com/office/drawing/2014/main" id="{60B28133-20F9-AE10-97F8-9A6D56B097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82097" y="18736621"/>
                      <a:ext cx="1891331" cy="4961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Function</a:t>
                      </a:r>
                    </a:p>
                  </p:txBody>
                </p: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2214" name="TextBox 2213">
                          <a:extLst>
                            <a:ext uri="{FF2B5EF4-FFF2-40B4-BE49-F238E27FC236}">
                              <a16:creationId xmlns:a16="http://schemas.microsoft.com/office/drawing/2014/main" id="{3CCD2103-49AC-0907-5045-F604128C09A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7561382" y="19314237"/>
                          <a:ext cx="3854453" cy="200054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(from </a:t>
                          </a:r>
                          <a:r>
                            <a:rPr kumimoji="0" lang="en-GB" sz="2800" b="0" i="0" u="none" strike="noStrike" kern="1200" cap="none" spc="0" normalizeH="0" baseline="0" noProof="0" err="1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defn</a:t>
                          </a:r>
                          <a:r>
                            <a:rPr kumimoji="0" lang="en-GB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careful w/ guards!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Replace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3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F77C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𝑭</m:t>
                              </m:r>
                              <m:d>
                                <m:dPr>
                                  <m:ctrlPr>
                                    <a:rPr kumimoji="0" lang="en-GB" sz="32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F77C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GB" sz="32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F77C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𝒙</m:t>
                                  </m:r>
                                  <m:r>
                                    <a:rPr kumimoji="0" lang="en-GB" sz="32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F77C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,…</m:t>
                                  </m:r>
                                </m:e>
                              </m:d>
                              <m:r>
                                <a:rPr kumimoji="0" lang="en-GB" sz="3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F77C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GB" sz="3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F77C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𝒚</m:t>
                              </m:r>
                            </m:oMath>
                          </a14:m>
                          <a:endParaRPr kumimoji="0" lang="en-GB" sz="3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With   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3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𝑸</m:t>
                              </m:r>
                              <m:r>
                                <a:rPr kumimoji="0" lang="en-GB" sz="3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en-GB" sz="3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𝒙</m:t>
                              </m:r>
                              <m:r>
                                <a:rPr kumimoji="0" lang="en-GB" sz="3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,…,</m:t>
                              </m:r>
                              <m:r>
                                <a:rPr kumimoji="0" lang="en-GB" sz="3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𝒚</m:t>
                              </m:r>
                              <m:r>
                                <a:rPr kumimoji="0" lang="en-GB" sz="3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B01DE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oMath>
                          </a14:m>
                          <a:endParaRPr kumimoji="0" lang="en-GB" sz="32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2214" name="TextBox 2213">
                          <a:extLst>
                            <a:ext uri="{FF2B5EF4-FFF2-40B4-BE49-F238E27FC236}">
                              <a16:creationId xmlns:a16="http://schemas.microsoft.com/office/drawing/2014/main" id="{3CCD2103-49AC-0907-5045-F604128C09A8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7561382" y="19314237"/>
                          <a:ext cx="3854453" cy="2000548"/>
                        </a:xfrm>
                        <a:prstGeom prst="rect">
                          <a:avLst/>
                        </a:prstGeom>
                        <a:blipFill>
                          <a:blip r:embed="rId43"/>
                          <a:stretch>
                            <a:fillRect l="-4114" t="-2744" b="-9451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2224" name="Group 2223">
                    <a:extLst>
                      <a:ext uri="{FF2B5EF4-FFF2-40B4-BE49-F238E27FC236}">
                        <a16:creationId xmlns:a16="http://schemas.microsoft.com/office/drawing/2014/main" id="{9DD4734F-999C-A6E1-2864-E0FA431DABB6}"/>
                      </a:ext>
                    </a:extLst>
                  </p:cNvPr>
                  <p:cNvGrpSpPr/>
                  <p:nvPr/>
                </p:nvGrpSpPr>
                <p:grpSpPr>
                  <a:xfrm>
                    <a:off x="33008807" y="18947610"/>
                    <a:ext cx="5400517" cy="3219913"/>
                    <a:chOff x="32182004" y="18967137"/>
                    <a:chExt cx="5400517" cy="3219913"/>
                  </a:xfrm>
                </p:grpSpPr>
                <p:grpSp>
                  <p:nvGrpSpPr>
                    <p:cNvPr id="2223" name="Group 2222">
                      <a:extLst>
                        <a:ext uri="{FF2B5EF4-FFF2-40B4-BE49-F238E27FC236}">
                          <a16:creationId xmlns:a16="http://schemas.microsoft.com/office/drawing/2014/main" id="{F2DCD699-E113-620C-08E9-295991B8217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182004" y="18967137"/>
                      <a:ext cx="3813352" cy="1569660"/>
                      <a:chOff x="33774240" y="18713970"/>
                      <a:chExt cx="3813352" cy="1569660"/>
                    </a:xfrm>
                  </p:grpSpPr>
                  <p:sp>
                    <p:nvSpPr>
                      <p:cNvPr id="2222" name="Rectangle: Rounded Corners 2221">
                        <a:extLst>
                          <a:ext uri="{FF2B5EF4-FFF2-40B4-BE49-F238E27FC236}">
                            <a16:creationId xmlns:a16="http://schemas.microsoft.com/office/drawing/2014/main" id="{F328083C-C51E-BA2E-2BD6-D0D475BD4F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3774240" y="18713970"/>
                        <a:ext cx="3813352" cy="1569660"/>
                      </a:xfrm>
                      <a:prstGeom prst="roundRect">
                        <a:avLst/>
                      </a:prstGeom>
                      <a:solidFill>
                        <a:srgbClr val="FFFBF7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220" name="TextBox 2219">
                        <a:extLst>
                          <a:ext uri="{FF2B5EF4-FFF2-40B4-BE49-F238E27FC236}">
                            <a16:creationId xmlns:a16="http://schemas.microsoft.com/office/drawing/2014/main" id="{98A27B22-A895-080D-9AFB-784163ADF4A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3786551" y="18713970"/>
                        <a:ext cx="3801041" cy="156966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969696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F :: Int-&gt; Int</a:t>
                        </a: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F 0 = 0</a:t>
                        </a:r>
                      </a:p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F </a:t>
                        </a:r>
                        <a:r>
                          <a:rPr kumimoji="0" lang="en-GB" sz="3200" b="0" i="0" u="none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i</a:t>
                        </a:r>
                        <a:r>
                          <a:rPr kumimoji="0" lang="en-GB" sz="3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rPr>
                          <a:t> = 1 + F(i-3)</a:t>
                        </a:r>
                      </a:p>
                    </p:txBody>
                  </p:sp>
                </p:grp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2221" name="TextBox 2220">
                          <a:extLst>
                            <a:ext uri="{FF2B5EF4-FFF2-40B4-BE49-F238E27FC236}">
                              <a16:creationId xmlns:a16="http://schemas.microsoft.com/office/drawing/2014/main" id="{BBD9AFDF-398C-0F66-9A43-17983C8C69A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2182004" y="20617710"/>
                          <a:ext cx="5400517" cy="156934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x-IV_mathan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F77C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𝐹</m:t>
                              </m:r>
                              <m:r>
                                <a:rPr kumimoji="0" lang="x-IV_mathan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F77C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(0)=0</m:t>
                              </m:r>
                            </m:oMath>
                          </a14:m>
                          <a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77C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∀</m:t>
                              </m:r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:</m:t>
                              </m:r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ℤ</m:t>
                              </m:r>
                              <m:r>
                                <a:rPr kumimoji="0" lang="x-IV_mathan" sz="3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x-IV_mathan" sz="32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kumimoji="0" lang="x-IV_mathan" sz="3200" b="0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kumimoji="0" lang="x-IV_mathan" sz="3200" b="0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  <m:r>
                                        <a:rPr kumimoji="0" lang="x-IV_mathan" sz="3200" b="0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≠0∧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F77C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𝐹</m:t>
                                      </m:r>
                                      <m:d>
                                        <m:dPr>
                                          <m:ctrlP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F77C2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F77C2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𝑗</m:t>
                                          </m:r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F77C2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−3</m:t>
                                          </m:r>
                                        </m:e>
                                      </m:d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F77C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=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F77C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𝑘</m:t>
                                      </m:r>
                                    </m:e>
                                    <m:e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→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F77C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𝐹</m:t>
                                      </m:r>
                                      <m:d>
                                        <m:dPr>
                                          <m:ctrlP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F77C2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x-IV_mathan" sz="32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F77C2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F77C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=1+</m:t>
                                      </m:r>
                                      <m:r>
                                        <a:rPr kumimoji="0" lang="x-IV_mathan" sz="3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F77C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𝑘</m:t>
                                      </m:r>
                                    </m:e>
                                  </m:eqArr>
                                </m:e>
                              </m:d>
                            </m:oMath>
                          </a14:m>
                          <a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</p:txBody>
                    </p:sp>
                  </mc:Choice>
                  <mc:Fallback>
                    <p:sp>
                      <p:nvSpPr>
                        <p:cNvPr id="2221" name="TextBox 2220">
                          <a:extLst>
                            <a:ext uri="{FF2B5EF4-FFF2-40B4-BE49-F238E27FC236}">
                              <a16:creationId xmlns:a16="http://schemas.microsoft.com/office/drawing/2014/main" id="{BBD9AFDF-398C-0F66-9A43-17983C8C69AF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2182004" y="20617710"/>
                          <a:ext cx="5400517" cy="1569340"/>
                        </a:xfrm>
                        <a:prstGeom prst="rect">
                          <a:avLst/>
                        </a:prstGeom>
                        <a:blipFill>
                          <a:blip r:embed="rId44"/>
                          <a:stretch>
                            <a:fillRect b="-3488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</p:grpSp>
          <p:cxnSp>
            <p:nvCxnSpPr>
              <p:cNvPr id="2233" name="Straight Connector 2232">
                <a:extLst>
                  <a:ext uri="{FF2B5EF4-FFF2-40B4-BE49-F238E27FC236}">
                    <a16:creationId xmlns:a16="http://schemas.microsoft.com/office/drawing/2014/main" id="{69929631-CB6D-A9F8-A77C-38D043EDD9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462184" y="18743185"/>
                <a:ext cx="15311030" cy="0"/>
              </a:xfrm>
              <a:prstGeom prst="line">
                <a:avLst/>
              </a:prstGeom>
              <a:ln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5" name="Straight Connector 2234">
                <a:extLst>
                  <a:ext uri="{FF2B5EF4-FFF2-40B4-BE49-F238E27FC236}">
                    <a16:creationId xmlns:a16="http://schemas.microsoft.com/office/drawing/2014/main" id="{2B5D76B5-B85F-8ACF-CC95-B10996DF23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462184" y="16087564"/>
                <a:ext cx="15311030" cy="0"/>
              </a:xfrm>
              <a:prstGeom prst="line">
                <a:avLst/>
              </a:prstGeom>
              <a:ln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38" name="TextBox 2237">
              <a:extLst>
                <a:ext uri="{FF2B5EF4-FFF2-40B4-BE49-F238E27FC236}">
                  <a16:creationId xmlns:a16="http://schemas.microsoft.com/office/drawing/2014/main" id="{0935445A-86FF-EF2C-6CC1-0FFFC8869516}"/>
                </a:ext>
              </a:extLst>
            </p:cNvPr>
            <p:cNvSpPr txBox="1"/>
            <p:nvPr/>
          </p:nvSpPr>
          <p:spPr>
            <a:xfrm>
              <a:off x="32799326" y="29806168"/>
              <a:ext cx="1442211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>
                  <a:ln>
                    <a:noFill/>
                  </a:ln>
                  <a:solidFill>
                    <a:srgbClr val="B01DE7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Termination </a:t>
              </a:r>
              <a:r>
                <a:rPr kumimoji="0" lang="en-GB" sz="3200" b="1" i="0" u="none" strike="noStrike" kern="1200" cap="none" spc="0" normalizeH="0" baseline="0" noProof="0">
                  <a:ln>
                    <a:noFill/>
                  </a:ln>
                  <a:solidFill>
                    <a:srgbClr val="B01DE7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cannot</a:t>
              </a:r>
              <a:r>
                <a:rPr kumimoji="0" lang="en-GB" sz="3200" b="0" i="0" u="none" strike="noStrike" kern="1200" cap="none" spc="0" normalizeH="0" baseline="0" noProof="0">
                  <a:ln>
                    <a:noFill/>
                  </a:ln>
                  <a:solidFill>
                    <a:srgbClr val="B01DE7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be proven using induction over </a:t>
              </a:r>
              <a:r>
                <a:rPr kumimoji="0" lang="en-GB" sz="3200" b="0" i="1" u="none" strike="noStrike" kern="1200" cap="none" spc="0" normalizeH="0" baseline="0" noProof="0">
                  <a:ln>
                    <a:noFill/>
                  </a:ln>
                  <a:solidFill>
                    <a:srgbClr val="B01DE7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the function definition</a:t>
              </a:r>
              <a:endPara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B01DE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  <a:p>
              <a:pPr marL="6858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>
                  <a:ln>
                    <a:noFill/>
                  </a:ln>
                  <a:solidFill>
                    <a:srgbClr val="B01DE7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Instead, induct over </a:t>
              </a:r>
              <a:r>
                <a:rPr kumimoji="0" lang="en-GB" sz="3200" b="0" i="1" u="none" strike="noStrike" kern="1200" cap="none" spc="0" normalizeH="0" baseline="0" noProof="0">
                  <a:ln>
                    <a:noFill/>
                  </a:ln>
                  <a:solidFill>
                    <a:srgbClr val="B01DE7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the argument(s) of the function</a:t>
              </a:r>
              <a:endPara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B01DE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41" name="TextBox 2240">
                  <a:extLst>
                    <a:ext uri="{FF2B5EF4-FFF2-40B4-BE49-F238E27FC236}">
                      <a16:creationId xmlns:a16="http://schemas.microsoft.com/office/drawing/2014/main" id="{AAEA5758-48E0-4981-7385-C369ED03EF18}"/>
                    </a:ext>
                  </a:extLst>
                </p:cNvPr>
                <p:cNvSpPr txBox="1"/>
                <p:nvPr/>
              </p:nvSpPr>
              <p:spPr>
                <a:xfrm>
                  <a:off x="45886007" y="29806168"/>
                  <a:ext cx="4513943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NB: </a:t>
                  </a:r>
                  <a14:m>
                    <m:oMath xmlns:m="http://schemas.openxmlformats.org/officeDocument/2006/math"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𝑘</m:t>
                      </m:r>
                    </m:oMath>
                  </a14:m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 implies that </a:t>
                  </a:r>
                  <a14:m>
                    <m:oMath xmlns:m="http://schemas.openxmlformats.org/officeDocument/2006/math"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</m:oMath>
                  </a14:m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96969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 terminates w/ input </a:t>
                  </a:r>
                  <a14:m>
                    <m:oMath xmlns:m="http://schemas.openxmlformats.org/officeDocument/2006/math"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a14:m>
                  <a:endPara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2241" name="TextBox 2240">
                  <a:extLst>
                    <a:ext uri="{FF2B5EF4-FFF2-40B4-BE49-F238E27FC236}">
                      <a16:creationId xmlns:a16="http://schemas.microsoft.com/office/drawing/2014/main" id="{AAEA5758-48E0-4981-7385-C369ED03EF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86007" y="29806168"/>
                  <a:ext cx="4513943" cy="1077218"/>
                </a:xfrm>
                <a:prstGeom prst="rect">
                  <a:avLst/>
                </a:prstGeom>
                <a:blipFill>
                  <a:blip r:embed="rId45"/>
                  <a:stretch>
                    <a:fillRect l="-3514" t="-6780" r="-5270" b="-1751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52" name="Group 2251">
            <a:extLst>
              <a:ext uri="{FF2B5EF4-FFF2-40B4-BE49-F238E27FC236}">
                <a16:creationId xmlns:a16="http://schemas.microsoft.com/office/drawing/2014/main" id="{66089BD8-E2F8-889F-0267-AAD71B109C9E}"/>
              </a:ext>
            </a:extLst>
          </p:cNvPr>
          <p:cNvGrpSpPr/>
          <p:nvPr/>
        </p:nvGrpSpPr>
        <p:grpSpPr>
          <a:xfrm>
            <a:off x="28082312" y="25219132"/>
            <a:ext cx="7350688" cy="2402314"/>
            <a:chOff x="28082312" y="25219132"/>
            <a:chExt cx="7350688" cy="240231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46" name="TextBox 2245">
                  <a:extLst>
                    <a:ext uri="{FF2B5EF4-FFF2-40B4-BE49-F238E27FC236}">
                      <a16:creationId xmlns:a16="http://schemas.microsoft.com/office/drawing/2014/main" id="{0F70E1DC-BC80-2CB8-62D0-D6337D9185E5}"/>
                    </a:ext>
                  </a:extLst>
                </p:cNvPr>
                <p:cNvSpPr txBox="1"/>
                <p:nvPr/>
              </p:nvSpPr>
              <p:spPr>
                <a:xfrm flipH="1">
                  <a:off x="28082312" y="25559343"/>
                  <a:ext cx="5071170" cy="2062103"/>
                </a:xfrm>
                <a:prstGeom prst="rect">
                  <a:avLst/>
                </a:prstGeom>
                <a:noFill/>
                <a:ln>
                  <a:solidFill>
                    <a:srgbClr val="0F77C2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1" u="none" strike="noStrike" kern="1200" cap="none" spc="0" normalizeH="0" baseline="0" noProof="0">
                      <a:ln>
                        <a:noFill/>
                      </a:ln>
                      <a:solidFill>
                        <a:srgbClr val="004F8B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(if </a:t>
                  </a:r>
                  <a14:m>
                    <m:oMath xmlns:m="http://schemas.openxmlformats.org/officeDocument/2006/math"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4F8B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4F8B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4F8B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4F8B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 </m:t>
                      </m:r>
                    </m:oMath>
                  </a14:m>
                  <a:r>
                    <a:rPr kumimoji="0" lang="en-GB" sz="3200" b="0" i="1" u="none" strike="noStrike" kern="1200" cap="none" spc="0" normalizeH="0" baseline="0" noProof="0">
                      <a:ln>
                        <a:noFill/>
                      </a:ln>
                      <a:solidFill>
                        <a:srgbClr val="004F8B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doesn't hold for all </a:t>
                  </a:r>
                  <a14:m>
                    <m:oMath xmlns:m="http://schemas.openxmlformats.org/officeDocument/2006/math"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4F8B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a14:m>
                  <a:r>
                    <a:rPr kumimoji="0" lang="en-GB" sz="3200" b="0" i="1" u="none" strike="noStrike" kern="1200" cap="none" spc="0" normalizeH="0" baseline="0" noProof="0">
                      <a:ln>
                        <a:noFill/>
                      </a:ln>
                      <a:solidFill>
                        <a:srgbClr val="004F8B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)</a:t>
                  </a:r>
                  <a:endParaRPr kumimoji="0" lang="en-GB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04F8B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4F8B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we may need to define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4F8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4F8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p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4F8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4F8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4F8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x-IV_mathan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4F8B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≜</m:t>
                      </m:r>
                      <m:r>
                        <a:rPr kumimoji="0" lang="x-IV_mathan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4F8B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𝐸𝑣𝑒𝑛</m:t>
                      </m:r>
                      <m:d>
                        <m:dPr>
                          <m:ctrlP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4F8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4F8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x-IV_mathan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4F8B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∧</m:t>
                      </m:r>
                      <m:r>
                        <a:rPr kumimoji="0" lang="x-IV_mathan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4F8B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4F8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x-IV_mathan" sz="3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4F8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kumimoji="0" lang="x-IV_mathan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4F8B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+mn-ea"/>
                      <a:cs typeface="+mn-cs"/>
                    </a:rPr>
                    <a:t> 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4F8B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then </a:t>
                  </a:r>
                  <a14:m>
                    <m:oMath xmlns:m="http://schemas.openxmlformats.org/officeDocument/2006/math"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4F8B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4F8B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′</m:t>
                      </m:r>
                    </m:oMath>
                  </a14:m>
                  <a:r>
                    <a:rPr kumimoji="0" lang="en-GB" sz="3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4F8B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+mn-cs"/>
                    </a:rPr>
                    <a:t> via induction instead</a:t>
                  </a:r>
                </a:p>
              </p:txBody>
            </p:sp>
          </mc:Choice>
          <mc:Fallback>
            <p:sp>
              <p:nvSpPr>
                <p:cNvPr id="2246" name="TextBox 2245">
                  <a:extLst>
                    <a:ext uri="{FF2B5EF4-FFF2-40B4-BE49-F238E27FC236}">
                      <a16:creationId xmlns:a16="http://schemas.microsoft.com/office/drawing/2014/main" id="{0F70E1DC-BC80-2CB8-62D0-D6337D9185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8082312" y="25559343"/>
                  <a:ext cx="5071170" cy="2062103"/>
                </a:xfrm>
                <a:prstGeom prst="rect">
                  <a:avLst/>
                </a:prstGeom>
                <a:blipFill>
                  <a:blip r:embed="rId46"/>
                  <a:stretch>
                    <a:fillRect l="-2998" t="-3235" r="-2158" b="-8824"/>
                  </a:stretch>
                </a:blipFill>
                <a:ln>
                  <a:solidFill>
                    <a:srgbClr val="0F77C2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48" name="Straight Arrow Connector 2247">
              <a:extLst>
                <a:ext uri="{FF2B5EF4-FFF2-40B4-BE49-F238E27FC236}">
                  <a16:creationId xmlns:a16="http://schemas.microsoft.com/office/drawing/2014/main" id="{E4350E18-D773-4369-BF33-37E2688E64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53482" y="25219132"/>
              <a:ext cx="2279518" cy="435117"/>
            </a:xfrm>
            <a:prstGeom prst="straightConnector1">
              <a:avLst/>
            </a:prstGeom>
            <a:ln>
              <a:solidFill>
                <a:srgbClr val="0F77C2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485B8AB-15D1-6E63-6860-5ED78072A439}"/>
              </a:ext>
            </a:extLst>
          </p:cNvPr>
          <p:cNvGrpSpPr/>
          <p:nvPr/>
        </p:nvGrpSpPr>
        <p:grpSpPr>
          <a:xfrm>
            <a:off x="37846439" y="8283369"/>
            <a:ext cx="12355169" cy="6042692"/>
            <a:chOff x="39571060" y="1575524"/>
            <a:chExt cx="12355169" cy="604269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0BBF1589-2003-4C40-0EB9-5E27B54410B4}"/>
                    </a:ext>
                  </a:extLst>
                </p:cNvPr>
                <p:cNvSpPr txBox="1"/>
                <p:nvPr/>
              </p:nvSpPr>
              <p:spPr>
                <a:xfrm>
                  <a:off x="39571060" y="1575524"/>
                  <a:ext cx="11233203" cy="15696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The set 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en-GB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GB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∧,∨, ¬</m:t>
                          </m:r>
                        </m:e>
                      </m:d>
                    </m:oMath>
                  </a14:m>
                  <a:r>
                    <a:rPr kumimoji="0" lang="en-GB" sz="32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is functionally complete.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Using truth tables, show that 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en-GB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GB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∨,¬</m:t>
                          </m:r>
                        </m:e>
                      </m:d>
                    </m:oMath>
                  </a14:m>
                  <a:r>
                    <a:rPr kumimoji="0" lang="en-GB" sz="32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is functionally complete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2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zz</a:t>
                  </a:r>
                  <a:endParaRPr kumimoji="0" lang="en-GB" sz="3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0BBF1589-2003-4C40-0EB9-5E27B5441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71060" y="1575524"/>
                  <a:ext cx="11233203" cy="1569660"/>
                </a:xfrm>
                <a:prstGeom prst="rect">
                  <a:avLst/>
                </a:prstGeom>
                <a:blipFill>
                  <a:blip r:embed="rId47"/>
                  <a:stretch>
                    <a:fillRect l="-1356" t="-4669" r="-543" b="-124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82" name="Picture 1081">
              <a:extLst>
                <a:ext uri="{FF2B5EF4-FFF2-40B4-BE49-F238E27FC236}">
                  <a16:creationId xmlns:a16="http://schemas.microsoft.com/office/drawing/2014/main" id="{F74E82C5-FEA4-0B34-773B-E033F55E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39589320" y="2636114"/>
              <a:ext cx="12336909" cy="4982102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0A4D843C-93F5-AB46-6C38-5368648833F2}"/>
              </a:ext>
            </a:extLst>
          </p:cNvPr>
          <p:cNvPicPr>
            <a:picLocks noChangeAspect="1"/>
          </p:cNvPicPr>
          <p:nvPr/>
        </p:nvPicPr>
        <p:blipFill>
          <a:blip r:embed="rId49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078741" y="24602841"/>
            <a:ext cx="2649664" cy="3018605"/>
          </a:xfrm>
          <a:prstGeom prst="rect">
            <a:avLst/>
          </a:prstGeom>
          <a:ln>
            <a:noFill/>
          </a:ln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D51080F2-89A4-3BAE-E149-68EFFCD5F479}"/>
              </a:ext>
            </a:extLst>
          </p:cNvPr>
          <p:cNvGrpSpPr/>
          <p:nvPr/>
        </p:nvGrpSpPr>
        <p:grpSpPr>
          <a:xfrm>
            <a:off x="40366634" y="170994"/>
            <a:ext cx="9790349" cy="7937100"/>
            <a:chOff x="40579497" y="64574"/>
            <a:chExt cx="9790349" cy="793710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DB1FD9C-59B0-0DB4-1DBB-FEE2EF7C4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40768925" y="64574"/>
              <a:ext cx="9600921" cy="6171298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0E748F9-B0B7-7B32-9878-30A2457D9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rcRect l="216"/>
            <a:stretch/>
          </p:blipFill>
          <p:spPr>
            <a:xfrm>
              <a:off x="40579497" y="6473853"/>
              <a:ext cx="9790349" cy="1527821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371F5D1-FEE5-3E1F-1737-F0372C242154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1319460" y="13794365"/>
            <a:ext cx="4443254" cy="5529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4EA032C-A3D8-F784-E10F-C0640E54B4B9}"/>
              </a:ext>
            </a:extLst>
          </p:cNvPr>
          <p:cNvSpPr txBox="1"/>
          <p:nvPr/>
        </p:nvSpPr>
        <p:spPr>
          <a:xfrm>
            <a:off x="1253104" y="23057486"/>
            <a:ext cx="16314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2"/>
                </a:solidFill>
              </a:rPr>
              <a:t>e.g. if </a:t>
            </a:r>
            <a:r>
              <a:rPr lang="en-US" sz="2400" err="1">
                <a:solidFill>
                  <a:schemeClr val="bg2"/>
                </a:solidFill>
              </a:rPr>
              <a:t>func</a:t>
            </a:r>
            <a:r>
              <a:rPr lang="en-US" sz="2400">
                <a:solidFill>
                  <a:schemeClr val="bg2"/>
                </a:solidFill>
              </a:rPr>
              <a:t> is stored in x: (</a:t>
            </a:r>
            <a:r>
              <a:rPr lang="en-US" sz="2400" err="1">
                <a:solidFill>
                  <a:schemeClr val="bg2"/>
                </a:solidFill>
              </a:rPr>
              <a:t>x</a:t>
            </a:r>
            <a:r>
              <a:rPr lang="en-US" sz="2400" baseline="-25000" err="1">
                <a:solidFill>
                  <a:schemeClr val="bg2"/>
                </a:solidFill>
              </a:rPr>
              <a:t>old</a:t>
            </a:r>
            <a:r>
              <a:rPr lang="en-US" sz="2400">
                <a:solidFill>
                  <a:schemeClr val="bg2"/>
                </a:solidFill>
              </a:rPr>
              <a:t> = </a:t>
            </a:r>
            <a:r>
              <a:rPr lang="en-US" sz="2400" err="1">
                <a:solidFill>
                  <a:schemeClr val="bg2"/>
                </a:solidFill>
              </a:rPr>
              <a:t>x</a:t>
            </a:r>
            <a:r>
              <a:rPr lang="en-US" sz="2400" baseline="-25000" err="1">
                <a:solidFill>
                  <a:schemeClr val="bg2"/>
                </a:solidFill>
              </a:rPr>
              <a:t>pre</a:t>
            </a:r>
            <a:r>
              <a:rPr lang="en-US" sz="2400" baseline="-25000">
                <a:solidFill>
                  <a:schemeClr val="bg2"/>
                </a:solidFill>
              </a:rPr>
              <a:t> </a:t>
            </a:r>
            <a:r>
              <a:rPr lang="en-US" sz="2400">
                <a:solidFill>
                  <a:schemeClr val="bg2"/>
                </a:solidFill>
              </a:rPr>
              <a:t>)^ (r = </a:t>
            </a:r>
            <a:r>
              <a:rPr lang="en-US" sz="2400" err="1">
                <a:solidFill>
                  <a:schemeClr val="bg2"/>
                </a:solidFill>
              </a:rPr>
              <a:t>x</a:t>
            </a:r>
            <a:r>
              <a:rPr lang="en-US" sz="2400" baseline="-25000" err="1">
                <a:solidFill>
                  <a:schemeClr val="bg2"/>
                </a:solidFill>
              </a:rPr>
              <a:t>old</a:t>
            </a:r>
            <a:r>
              <a:rPr lang="en-US" sz="2400" baseline="-25000">
                <a:solidFill>
                  <a:schemeClr val="bg2"/>
                </a:solidFill>
              </a:rPr>
              <a:t> </a:t>
            </a:r>
            <a:r>
              <a:rPr lang="en-US" sz="2400">
                <a:solidFill>
                  <a:schemeClr val="bg2"/>
                </a:solidFill>
              </a:rPr>
              <a:t>+1) ^ (x = r) -&gt; x = </a:t>
            </a:r>
            <a:r>
              <a:rPr lang="en-US" sz="2400" err="1">
                <a:solidFill>
                  <a:schemeClr val="bg2"/>
                </a:solidFill>
              </a:rPr>
              <a:t>x</a:t>
            </a:r>
            <a:r>
              <a:rPr lang="en-US" sz="2400" baseline="-25000" err="1">
                <a:solidFill>
                  <a:schemeClr val="bg2"/>
                </a:solidFill>
              </a:rPr>
              <a:t>pre</a:t>
            </a:r>
            <a:r>
              <a:rPr lang="en-US" sz="2400">
                <a:solidFill>
                  <a:schemeClr val="bg2"/>
                </a:solidFill>
              </a:rPr>
              <a:t> + 1	e.g. return k translates to r = k, since r should be in Q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C82408C-FBC9-799E-189C-1321F7AAAA84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5245951" y="19611152"/>
            <a:ext cx="7131013" cy="488299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A06D948-D7C9-3CDC-4795-5BD607296F3C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26411133" y="14401101"/>
            <a:ext cx="9372035" cy="489069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F349D71-B067-E1C7-0619-6138102DAD7C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9464107" y="14267591"/>
            <a:ext cx="10321706" cy="698712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E2F5B3-AF99-4BE0-92ED-55C121F966DC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1129918" y="8636831"/>
            <a:ext cx="6326645" cy="145422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10D077B-03C3-6C40-FA81-119EAF4571EF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1273105" y="9895624"/>
            <a:ext cx="6454649" cy="385403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2E39D05-A7D2-7B47-2745-F55DABB19787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 rot="16200000">
            <a:off x="34122303" y="16360228"/>
            <a:ext cx="7125942" cy="349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73015"/>
      </p:ext>
    </p:extLst>
  </p:cSld>
  <p:clrMapOvr>
    <a:masterClrMapping/>
  </p:clrMapOvr>
</p:sld>
</file>

<file path=ppt/theme/theme1.xml><?xml version="1.0" encoding="utf-8"?>
<a:theme xmlns:a="http://schemas.openxmlformats.org/drawingml/2006/main" name="Onenote">
  <a:themeElements>
    <a:clrScheme name="Onenote">
      <a:dk1>
        <a:sysClr val="windowText" lastClr="000000"/>
      </a:dk1>
      <a:lt1>
        <a:sysClr val="window" lastClr="FFFFFF"/>
      </a:lt1>
      <a:dk2>
        <a:srgbClr val="0E2841"/>
      </a:dk2>
      <a:lt2>
        <a:srgbClr val="969696"/>
      </a:lt2>
      <a:accent1>
        <a:srgbClr val="0F77C2"/>
      </a:accent1>
      <a:accent2>
        <a:srgbClr val="FFC000"/>
      </a:accent2>
      <a:accent3>
        <a:srgbClr val="196B24"/>
      </a:accent3>
      <a:accent4>
        <a:srgbClr val="0F9ED5"/>
      </a:accent4>
      <a:accent5>
        <a:srgbClr val="B01DE7"/>
      </a:accent5>
      <a:accent6>
        <a:srgbClr val="008000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nenote" id="{C95A58B9-58CD-4527-B10C-2EE13AD0EEC9}" vid="{E6394A6E-33A1-4B07-AA02-EF2A1E379D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Onenote</Template>
  <TotalTime>0</TotalTime>
  <Words>2179</Words>
  <Application>Microsoft Office PowerPoint</Application>
  <PresentationFormat>Custom</PresentationFormat>
  <Paragraphs>299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Aptos Display</vt:lpstr>
      <vt:lpstr>Cascadia Code</vt:lpstr>
      <vt:lpstr>Arial</vt:lpstr>
      <vt:lpstr>Cambria Math</vt:lpstr>
      <vt:lpstr>Aptos</vt:lpstr>
      <vt:lpstr>Courier New</vt:lpstr>
      <vt:lpstr>Calibri</vt:lpstr>
      <vt:lpstr>Consolas</vt:lpstr>
      <vt:lpstr>Onenote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Kaner, Felicity</dc:creator>
  <cp:lastModifiedBy>Katie Wan</cp:lastModifiedBy>
  <cp:revision>1</cp:revision>
  <cp:lastPrinted>2026-05-08T10:26:53Z</cp:lastPrinted>
  <dcterms:created xsi:type="dcterms:W3CDTF">2025-05-24T14:10:17Z</dcterms:created>
  <dcterms:modified xsi:type="dcterms:W3CDTF">2026-08-27T12:54:15Z</dcterms:modified>
</cp:coreProperties>
</file>